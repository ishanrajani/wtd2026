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385" r:id="rId2"/>
    <p:sldId id="391" r:id="rId3"/>
    <p:sldId id="399" r:id="rId4"/>
    <p:sldId id="386" r:id="rId5"/>
    <p:sldId id="395" r:id="rId6"/>
    <p:sldId id="398" r:id="rId7"/>
    <p:sldId id="387" r:id="rId8"/>
    <p:sldId id="402" r:id="rId9"/>
    <p:sldId id="388" r:id="rId10"/>
    <p:sldId id="397" r:id="rId11"/>
    <p:sldId id="392" r:id="rId12"/>
    <p:sldId id="393" r:id="rId13"/>
    <p:sldId id="3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08BE"/>
    <a:srgbClr val="3AF4DE"/>
    <a:srgbClr val="00579F"/>
    <a:srgbClr val="F38804"/>
    <a:srgbClr val="F088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7" autoAdjust="0"/>
    <p:restoredTop sz="91765" autoAdjust="0"/>
  </p:normalViewPr>
  <p:slideViewPr>
    <p:cSldViewPr snapToGrid="0">
      <p:cViewPr varScale="1">
        <p:scale>
          <a:sx n="79" d="100"/>
          <a:sy n="79" d="100"/>
        </p:scale>
        <p:origin x="1212" y="90"/>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47B6EB-0BB1-C32C-3B34-752451026B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Title of the Lecture</a:t>
            </a:r>
          </a:p>
        </p:txBody>
      </p:sp>
      <p:sp>
        <p:nvSpPr>
          <p:cNvPr id="3" name="Date Placeholder 2">
            <a:extLst>
              <a:ext uri="{FF2B5EF4-FFF2-40B4-BE49-F238E27FC236}">
                <a16:creationId xmlns:a16="http://schemas.microsoft.com/office/drawing/2014/main" id="{CF448683-8521-6073-2C81-F8520864A5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3BFDA0E-5E6C-4306-8AB2-29F8FCF3C958}" type="datetime1">
              <a:rPr lang="en-IN" smtClean="0"/>
              <a:t>02-05-2026</a:t>
            </a:fld>
            <a:endParaRPr lang="en-IN"/>
          </a:p>
        </p:txBody>
      </p:sp>
      <p:sp>
        <p:nvSpPr>
          <p:cNvPr id="4" name="Footer Placeholder 3">
            <a:extLst>
              <a:ext uri="{FF2B5EF4-FFF2-40B4-BE49-F238E27FC236}">
                <a16:creationId xmlns:a16="http://schemas.microsoft.com/office/drawing/2014/main" id="{042F20D1-16B4-9F7A-BB85-080E110D09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Name of the Faculty</a:t>
            </a:r>
          </a:p>
        </p:txBody>
      </p:sp>
      <p:sp>
        <p:nvSpPr>
          <p:cNvPr id="5" name="Slide Number Placeholder 4">
            <a:extLst>
              <a:ext uri="{FF2B5EF4-FFF2-40B4-BE49-F238E27FC236}">
                <a16:creationId xmlns:a16="http://schemas.microsoft.com/office/drawing/2014/main" id="{E1EAAA16-EDF6-9DF1-8EB7-35D30CF089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C3E807-71D2-486E-AE16-CD1CC0E5495D}" type="slidenum">
              <a:rPr lang="en-IN" smtClean="0"/>
              <a:t>‹#›</a:t>
            </a:fld>
            <a:endParaRPr lang="en-IN"/>
          </a:p>
        </p:txBody>
      </p:sp>
    </p:spTree>
    <p:extLst>
      <p:ext uri="{BB962C8B-B14F-4D97-AF65-F5344CB8AC3E}">
        <p14:creationId xmlns:p14="http://schemas.microsoft.com/office/powerpoint/2010/main" val="211257366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Title of the Lecture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D3B07-1EF9-4F31-BBF9-B441EA500D2B}" type="datetime1">
              <a:rPr lang="en-IN" smtClean="0"/>
              <a:t>02-05-2026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Name of the Faculty</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69606-77D1-4BD4-A656-2B410C8A8572}" type="slidenum">
              <a:rPr lang="en-IN" smtClean="0"/>
              <a:t>‹#›</a:t>
            </a:fld>
            <a:endParaRPr lang="en-IN"/>
          </a:p>
        </p:txBody>
      </p:sp>
    </p:spTree>
    <p:extLst>
      <p:ext uri="{BB962C8B-B14F-4D97-AF65-F5344CB8AC3E}">
        <p14:creationId xmlns:p14="http://schemas.microsoft.com/office/powerpoint/2010/main" val="2293218291"/>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24CB7-D9CB-D7BC-38C5-22835B6B6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202A9-CFBD-392A-C6FC-67244359A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F8034-DE1C-9354-4BA6-A58DEE95A53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358762-1C39-7258-269A-53FB50055C16}"/>
              </a:ext>
            </a:extLst>
          </p:cNvPr>
          <p:cNvSpPr>
            <a:spLocks noGrp="1"/>
          </p:cNvSpPr>
          <p:nvPr>
            <p:ph type="sldNum" sz="quarter" idx="5"/>
          </p:nvPr>
        </p:nvSpPr>
        <p:spPr/>
        <p:txBody>
          <a:bodyPr/>
          <a:lstStyle/>
          <a:p>
            <a:fld id="{05769606-77D1-4BD4-A656-2B410C8A8572}" type="slidenum">
              <a:rPr lang="en-IN" smtClean="0"/>
              <a:t>1</a:t>
            </a:fld>
            <a:endParaRPr lang="en-IN"/>
          </a:p>
        </p:txBody>
      </p:sp>
      <p:sp>
        <p:nvSpPr>
          <p:cNvPr id="5" name="Date Placeholder 4">
            <a:extLst>
              <a:ext uri="{FF2B5EF4-FFF2-40B4-BE49-F238E27FC236}">
                <a16:creationId xmlns:a16="http://schemas.microsoft.com/office/drawing/2014/main" id="{88B6E8E4-77C3-303A-A331-63071D59DD98}"/>
              </a:ext>
            </a:extLst>
          </p:cNvPr>
          <p:cNvSpPr>
            <a:spLocks noGrp="1"/>
          </p:cNvSpPr>
          <p:nvPr>
            <p:ph type="dt" idx="1"/>
          </p:nvPr>
        </p:nvSpPr>
        <p:spPr/>
        <p:txBody>
          <a:bodyPr/>
          <a:lstStyle/>
          <a:p>
            <a:fld id="{A5DBC76F-BDC4-44EB-8BD4-FD1F3D45BCB7}" type="datetime1">
              <a:rPr lang="en-IN" smtClean="0"/>
              <a:t>02-05-2026</a:t>
            </a:fld>
            <a:endParaRPr lang="en-IN"/>
          </a:p>
        </p:txBody>
      </p:sp>
      <p:sp>
        <p:nvSpPr>
          <p:cNvPr id="6" name="Footer Placeholder 5">
            <a:extLst>
              <a:ext uri="{FF2B5EF4-FFF2-40B4-BE49-F238E27FC236}">
                <a16:creationId xmlns:a16="http://schemas.microsoft.com/office/drawing/2014/main" id="{9D07C3AE-2686-EC32-20B5-0EA9F476499B}"/>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6EAC641E-5B23-4E69-10A1-43521E504C5E}"/>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3119930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2</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02-05-2026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3</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02-05-2026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4</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02-05-2026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5</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02-05-2026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6</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02-05-2026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7</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02-05-2026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12D6F-8B66-212F-EE58-3B919E1D0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01060-9CB3-3C8A-AC3A-385E1E070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771BB-E80B-9201-DF47-30A445EEC1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84F4439-5A42-2EE8-A3FD-A239B60BB44D}"/>
              </a:ext>
            </a:extLst>
          </p:cNvPr>
          <p:cNvSpPr>
            <a:spLocks noGrp="1"/>
          </p:cNvSpPr>
          <p:nvPr>
            <p:ph type="sldNum" sz="quarter" idx="5"/>
          </p:nvPr>
        </p:nvSpPr>
        <p:spPr/>
        <p:txBody>
          <a:bodyPr/>
          <a:lstStyle/>
          <a:p>
            <a:fld id="{05769606-77D1-4BD4-A656-2B410C8A8572}" type="slidenum">
              <a:rPr lang="en-IN" smtClean="0"/>
              <a:t>8</a:t>
            </a:fld>
            <a:endParaRPr lang="en-IN"/>
          </a:p>
        </p:txBody>
      </p:sp>
      <p:sp>
        <p:nvSpPr>
          <p:cNvPr id="5" name="Date Placeholder 4">
            <a:extLst>
              <a:ext uri="{FF2B5EF4-FFF2-40B4-BE49-F238E27FC236}">
                <a16:creationId xmlns:a16="http://schemas.microsoft.com/office/drawing/2014/main" id="{5CCC4500-DE8F-CDBF-6F71-F0841CD73AFC}"/>
              </a:ext>
            </a:extLst>
          </p:cNvPr>
          <p:cNvSpPr>
            <a:spLocks noGrp="1"/>
          </p:cNvSpPr>
          <p:nvPr>
            <p:ph type="dt" idx="1"/>
          </p:nvPr>
        </p:nvSpPr>
        <p:spPr/>
        <p:txBody>
          <a:bodyPr/>
          <a:lstStyle/>
          <a:p>
            <a:fld id="{120FF5B3-6374-45C5-9057-01B8466348F7}" type="datetime1">
              <a:rPr lang="en-IN" smtClean="0"/>
              <a:t>02-05-2026</a:t>
            </a:fld>
            <a:endParaRPr lang="en-IN"/>
          </a:p>
        </p:txBody>
      </p:sp>
      <p:sp>
        <p:nvSpPr>
          <p:cNvPr id="6" name="Footer Placeholder 5">
            <a:extLst>
              <a:ext uri="{FF2B5EF4-FFF2-40B4-BE49-F238E27FC236}">
                <a16:creationId xmlns:a16="http://schemas.microsoft.com/office/drawing/2014/main" id="{BF5EB6D6-FFC3-5626-1BB5-B921F7AF8440}"/>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C0CEAA4A-018E-73D7-24BB-F7471A90AE2A}"/>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2379286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9</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02-05-2026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10</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02-05-2026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11</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02-05-2026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12</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02-05-2026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7F88F-62E7-993B-CFCD-A8C938839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CDC8C-6ED8-1518-1EAE-6118A5049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7A9FB8-A9E2-D872-BE7C-59873880140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8A8BF31-DBA9-BF45-F5FB-597B7D6973D3}"/>
              </a:ext>
            </a:extLst>
          </p:cNvPr>
          <p:cNvSpPr>
            <a:spLocks noGrp="1"/>
          </p:cNvSpPr>
          <p:nvPr>
            <p:ph type="sldNum" sz="quarter" idx="5"/>
          </p:nvPr>
        </p:nvSpPr>
        <p:spPr/>
        <p:txBody>
          <a:bodyPr/>
          <a:lstStyle/>
          <a:p>
            <a:fld id="{05769606-77D1-4BD4-A656-2B410C8A8572}" type="slidenum">
              <a:rPr lang="en-IN" smtClean="0"/>
              <a:t>13</a:t>
            </a:fld>
            <a:endParaRPr lang="en-IN"/>
          </a:p>
        </p:txBody>
      </p:sp>
      <p:sp>
        <p:nvSpPr>
          <p:cNvPr id="5" name="Date Placeholder 4">
            <a:extLst>
              <a:ext uri="{FF2B5EF4-FFF2-40B4-BE49-F238E27FC236}">
                <a16:creationId xmlns:a16="http://schemas.microsoft.com/office/drawing/2014/main" id="{453A1DC6-60B9-69E4-B1F1-29CB6993AFE1}"/>
              </a:ext>
            </a:extLst>
          </p:cNvPr>
          <p:cNvSpPr>
            <a:spLocks noGrp="1"/>
          </p:cNvSpPr>
          <p:nvPr>
            <p:ph type="dt" idx="1"/>
          </p:nvPr>
        </p:nvSpPr>
        <p:spPr/>
        <p:txBody>
          <a:bodyPr/>
          <a:lstStyle/>
          <a:p>
            <a:fld id="{2C133B7E-50E6-4784-A0B7-BF133C708F0B}" type="datetime1">
              <a:rPr lang="en-IN" smtClean="0"/>
              <a:t>02-05-2026</a:t>
            </a:fld>
            <a:endParaRPr lang="en-IN"/>
          </a:p>
        </p:txBody>
      </p:sp>
      <p:sp>
        <p:nvSpPr>
          <p:cNvPr id="6" name="Footer Placeholder 5">
            <a:extLst>
              <a:ext uri="{FF2B5EF4-FFF2-40B4-BE49-F238E27FC236}">
                <a16:creationId xmlns:a16="http://schemas.microsoft.com/office/drawing/2014/main" id="{020289E0-996E-38BE-B832-B1C3B7DBE140}"/>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BE124C92-91A2-E6BB-48C2-116B8FD18B62}"/>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881999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44DAE-F5C6-454D-AFDC-AAF396BA0E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46AA990-3EAF-4FF9-9555-29B5741C92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831E3E-4FE5-4F01-AAF8-CB61459487C0}"/>
              </a:ext>
            </a:extLst>
          </p:cNvPr>
          <p:cNvSpPr>
            <a:spLocks noGrp="1"/>
          </p:cNvSpPr>
          <p:nvPr>
            <p:ph type="dt" sz="half" idx="10"/>
          </p:nvPr>
        </p:nvSpPr>
        <p:spPr/>
        <p:txBody>
          <a:bodyPr/>
          <a:lstStyle/>
          <a:p>
            <a:fld id="{AAC131B0-C9FB-4DD5-97EC-21EFEC10F4F4}" type="datetime1">
              <a:rPr lang="en-IN" smtClean="0"/>
              <a:t>02-05-2026</a:t>
            </a:fld>
            <a:endParaRPr lang="en-IN"/>
          </a:p>
        </p:txBody>
      </p:sp>
      <p:sp>
        <p:nvSpPr>
          <p:cNvPr id="5" name="Footer Placeholder 4">
            <a:extLst>
              <a:ext uri="{FF2B5EF4-FFF2-40B4-BE49-F238E27FC236}">
                <a16:creationId xmlns:a16="http://schemas.microsoft.com/office/drawing/2014/main" id="{ACFC3453-1038-4076-9DED-D28773942501}"/>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BD74E3F0-76B7-4C43-9D85-E2E06EFFEE6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786917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30E89-2983-4E1E-8AD3-4F82F0A428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D2E7C4-B740-401D-A25D-37F187F646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21E203-F203-4711-B7A2-8F797C161933}"/>
              </a:ext>
            </a:extLst>
          </p:cNvPr>
          <p:cNvSpPr>
            <a:spLocks noGrp="1"/>
          </p:cNvSpPr>
          <p:nvPr>
            <p:ph type="dt" sz="half" idx="10"/>
          </p:nvPr>
        </p:nvSpPr>
        <p:spPr/>
        <p:txBody>
          <a:bodyPr/>
          <a:lstStyle/>
          <a:p>
            <a:fld id="{618FFF8D-38DE-44ED-8E8F-F4480F209472}" type="datetime1">
              <a:rPr lang="en-IN" smtClean="0"/>
              <a:t>02-05-2026</a:t>
            </a:fld>
            <a:endParaRPr lang="en-IN"/>
          </a:p>
        </p:txBody>
      </p:sp>
      <p:sp>
        <p:nvSpPr>
          <p:cNvPr id="5" name="Footer Placeholder 4">
            <a:extLst>
              <a:ext uri="{FF2B5EF4-FFF2-40B4-BE49-F238E27FC236}">
                <a16:creationId xmlns:a16="http://schemas.microsoft.com/office/drawing/2014/main" id="{FC26852F-1A31-4CB3-B952-13DAB07C348B}"/>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4697B306-A7A3-4335-A04F-7541869DAA38}"/>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3535998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7A19F-7442-4B68-B955-56F6B084B1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40CD2C-A48F-4775-B189-0793522271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D68908-A714-4228-A602-E7A357FF66D6}"/>
              </a:ext>
            </a:extLst>
          </p:cNvPr>
          <p:cNvSpPr>
            <a:spLocks noGrp="1"/>
          </p:cNvSpPr>
          <p:nvPr>
            <p:ph type="dt" sz="half" idx="10"/>
          </p:nvPr>
        </p:nvSpPr>
        <p:spPr/>
        <p:txBody>
          <a:bodyPr/>
          <a:lstStyle/>
          <a:p>
            <a:fld id="{17460553-21AA-46C9-AB52-F50F6EEE2E62}" type="datetime1">
              <a:rPr lang="en-IN" smtClean="0"/>
              <a:t>02-05-2026</a:t>
            </a:fld>
            <a:endParaRPr lang="en-IN"/>
          </a:p>
        </p:txBody>
      </p:sp>
      <p:sp>
        <p:nvSpPr>
          <p:cNvPr id="5" name="Footer Placeholder 4">
            <a:extLst>
              <a:ext uri="{FF2B5EF4-FFF2-40B4-BE49-F238E27FC236}">
                <a16:creationId xmlns:a16="http://schemas.microsoft.com/office/drawing/2014/main" id="{9CF1287E-6268-4689-BFC0-A3E44DAFEB56}"/>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53BCC483-A732-4FFA-8636-9E5E03751C44}"/>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55339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93186-7A7F-4819-B879-6631220F6A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B7BA3E-E296-4A2F-BD81-158C0CA6B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120B82-4066-4E7E-A47A-797F200D6D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1A081E-F28F-448A-9D06-E308DE0BB69E}"/>
              </a:ext>
            </a:extLst>
          </p:cNvPr>
          <p:cNvSpPr>
            <a:spLocks noGrp="1"/>
          </p:cNvSpPr>
          <p:nvPr>
            <p:ph type="dt" sz="half" idx="10"/>
          </p:nvPr>
        </p:nvSpPr>
        <p:spPr/>
        <p:txBody>
          <a:bodyPr/>
          <a:lstStyle/>
          <a:p>
            <a:fld id="{2C0909CD-D9E1-4E31-9980-5F3A894C2608}" type="datetime1">
              <a:rPr lang="en-IN" smtClean="0"/>
              <a:t>02-05-2026</a:t>
            </a:fld>
            <a:endParaRPr lang="en-IN"/>
          </a:p>
        </p:txBody>
      </p:sp>
      <p:sp>
        <p:nvSpPr>
          <p:cNvPr id="6" name="Footer Placeholder 5">
            <a:extLst>
              <a:ext uri="{FF2B5EF4-FFF2-40B4-BE49-F238E27FC236}">
                <a16:creationId xmlns:a16="http://schemas.microsoft.com/office/drawing/2014/main" id="{5576A227-6F7B-4D0A-AC3F-0817DBE67B34}"/>
              </a:ext>
            </a:extLst>
          </p:cNvPr>
          <p:cNvSpPr>
            <a:spLocks noGrp="1"/>
          </p:cNvSpPr>
          <p:nvPr>
            <p:ph type="ftr" sz="quarter" idx="11"/>
          </p:nvPr>
        </p:nvSpPr>
        <p:spPr/>
        <p:txBody>
          <a:bodyPr/>
          <a:lstStyle/>
          <a:p>
            <a:r>
              <a:rPr lang="en-US"/>
              <a:t>Name of the Presenter &amp; Department</a:t>
            </a:r>
            <a:endParaRPr lang="en-IN"/>
          </a:p>
        </p:txBody>
      </p:sp>
      <p:sp>
        <p:nvSpPr>
          <p:cNvPr id="7" name="Slide Number Placeholder 6">
            <a:extLst>
              <a:ext uri="{FF2B5EF4-FFF2-40B4-BE49-F238E27FC236}">
                <a16:creationId xmlns:a16="http://schemas.microsoft.com/office/drawing/2014/main" id="{D96FDA79-7B9F-4F23-8932-9C89272C327D}"/>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8975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7A54A-6C69-4D14-8EE5-067692CEE6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22E6B3-A4FD-4B3B-ABFE-A0841309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D66EDD-FB5D-431C-850B-8141C73681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05FADE-8590-49B1-AF6E-1522EF4F11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B82C5F-682A-4819-9789-3345121747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E08900-84F2-442F-9178-183865D96DE4}"/>
              </a:ext>
            </a:extLst>
          </p:cNvPr>
          <p:cNvSpPr>
            <a:spLocks noGrp="1"/>
          </p:cNvSpPr>
          <p:nvPr>
            <p:ph type="dt" sz="half" idx="10"/>
          </p:nvPr>
        </p:nvSpPr>
        <p:spPr/>
        <p:txBody>
          <a:bodyPr/>
          <a:lstStyle/>
          <a:p>
            <a:fld id="{31129F84-13A4-42C3-84B9-F21DB80BB174}" type="datetime1">
              <a:rPr lang="en-IN" smtClean="0"/>
              <a:t>02-05-2026</a:t>
            </a:fld>
            <a:endParaRPr lang="en-IN"/>
          </a:p>
        </p:txBody>
      </p:sp>
      <p:sp>
        <p:nvSpPr>
          <p:cNvPr id="8" name="Footer Placeholder 7">
            <a:extLst>
              <a:ext uri="{FF2B5EF4-FFF2-40B4-BE49-F238E27FC236}">
                <a16:creationId xmlns:a16="http://schemas.microsoft.com/office/drawing/2014/main" id="{C2830A47-A763-487C-8B06-98BAF442F43F}"/>
              </a:ext>
            </a:extLst>
          </p:cNvPr>
          <p:cNvSpPr>
            <a:spLocks noGrp="1"/>
          </p:cNvSpPr>
          <p:nvPr>
            <p:ph type="ftr" sz="quarter" idx="11"/>
          </p:nvPr>
        </p:nvSpPr>
        <p:spPr/>
        <p:txBody>
          <a:bodyPr/>
          <a:lstStyle/>
          <a:p>
            <a:r>
              <a:rPr lang="en-US"/>
              <a:t>Name of the Presenter &amp; Department</a:t>
            </a:r>
            <a:endParaRPr lang="en-IN"/>
          </a:p>
        </p:txBody>
      </p:sp>
      <p:sp>
        <p:nvSpPr>
          <p:cNvPr id="9" name="Slide Number Placeholder 8">
            <a:extLst>
              <a:ext uri="{FF2B5EF4-FFF2-40B4-BE49-F238E27FC236}">
                <a16:creationId xmlns:a16="http://schemas.microsoft.com/office/drawing/2014/main" id="{F0BD71BF-9A8B-41EA-A32A-76A5A05F99E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619630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FBD9F-1469-41A5-9202-A0BA0296C63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915A793-C7DE-407E-8328-496ADD262135}"/>
              </a:ext>
            </a:extLst>
          </p:cNvPr>
          <p:cNvSpPr>
            <a:spLocks noGrp="1"/>
          </p:cNvSpPr>
          <p:nvPr>
            <p:ph type="dt" sz="half" idx="10"/>
          </p:nvPr>
        </p:nvSpPr>
        <p:spPr/>
        <p:txBody>
          <a:bodyPr/>
          <a:lstStyle/>
          <a:p>
            <a:fld id="{160D810A-866C-4043-9CBB-5ABA3F831B2D}" type="datetime1">
              <a:rPr lang="en-IN" smtClean="0"/>
              <a:t>02-05-2026</a:t>
            </a:fld>
            <a:endParaRPr lang="en-IN"/>
          </a:p>
        </p:txBody>
      </p:sp>
      <p:sp>
        <p:nvSpPr>
          <p:cNvPr id="4" name="Footer Placeholder 3">
            <a:extLst>
              <a:ext uri="{FF2B5EF4-FFF2-40B4-BE49-F238E27FC236}">
                <a16:creationId xmlns:a16="http://schemas.microsoft.com/office/drawing/2014/main" id="{DCF00BE9-EEA0-4A26-9F1E-E7F9D17984E2}"/>
              </a:ext>
            </a:extLst>
          </p:cNvPr>
          <p:cNvSpPr>
            <a:spLocks noGrp="1"/>
          </p:cNvSpPr>
          <p:nvPr>
            <p:ph type="ftr" sz="quarter" idx="11"/>
          </p:nvPr>
        </p:nvSpPr>
        <p:spPr/>
        <p:txBody>
          <a:bodyPr/>
          <a:lstStyle/>
          <a:p>
            <a:r>
              <a:rPr lang="en-US"/>
              <a:t>Name of the Presenter &amp; Department</a:t>
            </a:r>
            <a:endParaRPr lang="en-IN"/>
          </a:p>
        </p:txBody>
      </p:sp>
      <p:sp>
        <p:nvSpPr>
          <p:cNvPr id="5" name="Slide Number Placeholder 4">
            <a:extLst>
              <a:ext uri="{FF2B5EF4-FFF2-40B4-BE49-F238E27FC236}">
                <a16:creationId xmlns:a16="http://schemas.microsoft.com/office/drawing/2014/main" id="{EA13D293-0ADA-48A5-B648-30CFFAEA9494}"/>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644412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D89F29-E588-4C2A-8A95-62F572D187B2}"/>
              </a:ext>
            </a:extLst>
          </p:cNvPr>
          <p:cNvSpPr>
            <a:spLocks noGrp="1"/>
          </p:cNvSpPr>
          <p:nvPr>
            <p:ph type="dt" sz="half" idx="10"/>
          </p:nvPr>
        </p:nvSpPr>
        <p:spPr/>
        <p:txBody>
          <a:bodyPr/>
          <a:lstStyle/>
          <a:p>
            <a:fld id="{BBEBE989-A332-410D-A8A6-532B1C75E2C4}" type="datetime1">
              <a:rPr lang="en-IN" smtClean="0"/>
              <a:t>02-05-2026</a:t>
            </a:fld>
            <a:endParaRPr lang="en-IN"/>
          </a:p>
        </p:txBody>
      </p:sp>
      <p:sp>
        <p:nvSpPr>
          <p:cNvPr id="3" name="Footer Placeholder 2">
            <a:extLst>
              <a:ext uri="{FF2B5EF4-FFF2-40B4-BE49-F238E27FC236}">
                <a16:creationId xmlns:a16="http://schemas.microsoft.com/office/drawing/2014/main" id="{0EA7526D-A567-4605-A7A9-135F95B01820}"/>
              </a:ext>
            </a:extLst>
          </p:cNvPr>
          <p:cNvSpPr>
            <a:spLocks noGrp="1"/>
          </p:cNvSpPr>
          <p:nvPr>
            <p:ph type="ftr" sz="quarter" idx="11"/>
          </p:nvPr>
        </p:nvSpPr>
        <p:spPr/>
        <p:txBody>
          <a:bodyPr/>
          <a:lstStyle/>
          <a:p>
            <a:r>
              <a:rPr lang="en-US"/>
              <a:t>Name of the Presenter &amp; Department</a:t>
            </a:r>
            <a:endParaRPr lang="en-IN"/>
          </a:p>
        </p:txBody>
      </p:sp>
      <p:sp>
        <p:nvSpPr>
          <p:cNvPr id="4" name="Slide Number Placeholder 3">
            <a:extLst>
              <a:ext uri="{FF2B5EF4-FFF2-40B4-BE49-F238E27FC236}">
                <a16:creationId xmlns:a16="http://schemas.microsoft.com/office/drawing/2014/main" id="{FC71C8A3-0862-4EB5-AABC-A30859267123}"/>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3923759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4CB5-FA1C-4FC0-AD9B-86A482EC79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1AD36A-F712-4B95-A05A-260123906D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6AD72EF-041F-42BF-9D8B-6654A53889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E05025-346C-4E8E-8D28-42B0844CDECC}"/>
              </a:ext>
            </a:extLst>
          </p:cNvPr>
          <p:cNvSpPr>
            <a:spLocks noGrp="1"/>
          </p:cNvSpPr>
          <p:nvPr>
            <p:ph type="dt" sz="half" idx="10"/>
          </p:nvPr>
        </p:nvSpPr>
        <p:spPr/>
        <p:txBody>
          <a:bodyPr/>
          <a:lstStyle/>
          <a:p>
            <a:fld id="{8C6B5F36-35FA-4268-A441-E6463EAA5FA4}" type="datetime1">
              <a:rPr lang="en-IN" smtClean="0"/>
              <a:t>02-05-2026</a:t>
            </a:fld>
            <a:endParaRPr lang="en-IN"/>
          </a:p>
        </p:txBody>
      </p:sp>
      <p:sp>
        <p:nvSpPr>
          <p:cNvPr id="6" name="Footer Placeholder 5">
            <a:extLst>
              <a:ext uri="{FF2B5EF4-FFF2-40B4-BE49-F238E27FC236}">
                <a16:creationId xmlns:a16="http://schemas.microsoft.com/office/drawing/2014/main" id="{439BFF5B-58F9-427F-A2F5-A3D54513E7A5}"/>
              </a:ext>
            </a:extLst>
          </p:cNvPr>
          <p:cNvSpPr>
            <a:spLocks noGrp="1"/>
          </p:cNvSpPr>
          <p:nvPr>
            <p:ph type="ftr" sz="quarter" idx="11"/>
          </p:nvPr>
        </p:nvSpPr>
        <p:spPr/>
        <p:txBody>
          <a:bodyPr/>
          <a:lstStyle/>
          <a:p>
            <a:r>
              <a:rPr lang="en-US"/>
              <a:t>Name of the Presenter &amp; Department</a:t>
            </a:r>
            <a:endParaRPr lang="en-IN"/>
          </a:p>
        </p:txBody>
      </p:sp>
      <p:sp>
        <p:nvSpPr>
          <p:cNvPr id="7" name="Slide Number Placeholder 6">
            <a:extLst>
              <a:ext uri="{FF2B5EF4-FFF2-40B4-BE49-F238E27FC236}">
                <a16:creationId xmlns:a16="http://schemas.microsoft.com/office/drawing/2014/main" id="{CA99F69D-DD1A-402C-944E-141267614F6B}"/>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21378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B2E9C-65CE-4BA4-85E8-BAEB5B1012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D281C8-208E-4C02-9EF2-F49A49B50C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721BD1-5B7F-4CBB-B585-DA93A56F8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87DE2-AE53-4247-A661-AD19B8921C4F}"/>
              </a:ext>
            </a:extLst>
          </p:cNvPr>
          <p:cNvSpPr>
            <a:spLocks noGrp="1"/>
          </p:cNvSpPr>
          <p:nvPr>
            <p:ph type="dt" sz="half" idx="10"/>
          </p:nvPr>
        </p:nvSpPr>
        <p:spPr/>
        <p:txBody>
          <a:bodyPr/>
          <a:lstStyle/>
          <a:p>
            <a:fld id="{30B31E1C-51D0-4C9B-85B0-695D92FD0D00}" type="datetime1">
              <a:rPr lang="en-IN" smtClean="0"/>
              <a:t>02-05-2026</a:t>
            </a:fld>
            <a:endParaRPr lang="en-IN"/>
          </a:p>
        </p:txBody>
      </p:sp>
      <p:sp>
        <p:nvSpPr>
          <p:cNvPr id="6" name="Footer Placeholder 5">
            <a:extLst>
              <a:ext uri="{FF2B5EF4-FFF2-40B4-BE49-F238E27FC236}">
                <a16:creationId xmlns:a16="http://schemas.microsoft.com/office/drawing/2014/main" id="{8099459F-FB23-4534-A47C-E0AB046D48DD}"/>
              </a:ext>
            </a:extLst>
          </p:cNvPr>
          <p:cNvSpPr>
            <a:spLocks noGrp="1"/>
          </p:cNvSpPr>
          <p:nvPr>
            <p:ph type="ftr" sz="quarter" idx="11"/>
          </p:nvPr>
        </p:nvSpPr>
        <p:spPr/>
        <p:txBody>
          <a:bodyPr/>
          <a:lstStyle/>
          <a:p>
            <a:r>
              <a:rPr lang="en-US"/>
              <a:t>Name of the Presenter &amp; Department</a:t>
            </a:r>
            <a:endParaRPr lang="en-IN"/>
          </a:p>
        </p:txBody>
      </p:sp>
      <p:sp>
        <p:nvSpPr>
          <p:cNvPr id="7" name="Slide Number Placeholder 6">
            <a:extLst>
              <a:ext uri="{FF2B5EF4-FFF2-40B4-BE49-F238E27FC236}">
                <a16:creationId xmlns:a16="http://schemas.microsoft.com/office/drawing/2014/main" id="{307EF753-176A-4D74-A4D1-51910F5DDF6F}"/>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72150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DDD4F-88D8-4F72-B540-C533966AFA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F0F988-6313-4F2F-843A-B5A3826504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943F66-5829-46CF-B0B8-7641FB225D81}"/>
              </a:ext>
            </a:extLst>
          </p:cNvPr>
          <p:cNvSpPr>
            <a:spLocks noGrp="1"/>
          </p:cNvSpPr>
          <p:nvPr>
            <p:ph type="dt" sz="half" idx="10"/>
          </p:nvPr>
        </p:nvSpPr>
        <p:spPr/>
        <p:txBody>
          <a:bodyPr/>
          <a:lstStyle/>
          <a:p>
            <a:fld id="{8928E016-816A-462E-AFD6-EE852EADA12C}" type="datetime1">
              <a:rPr lang="en-IN" smtClean="0"/>
              <a:t>02-05-2026</a:t>
            </a:fld>
            <a:endParaRPr lang="en-IN"/>
          </a:p>
        </p:txBody>
      </p:sp>
      <p:sp>
        <p:nvSpPr>
          <p:cNvPr id="5" name="Footer Placeholder 4">
            <a:extLst>
              <a:ext uri="{FF2B5EF4-FFF2-40B4-BE49-F238E27FC236}">
                <a16:creationId xmlns:a16="http://schemas.microsoft.com/office/drawing/2014/main" id="{5A6B28BB-7E22-4B05-A645-7481DC1649BF}"/>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D6ACA330-8AB6-49E9-862A-112EE7C3C06B}"/>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050615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47E5E0-A998-46A6-BCA4-83F3D11523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9A3B42-B542-4BAA-92C4-925210EF2D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529750-7E8E-4B6F-AFCF-BEAD1874BAE9}"/>
              </a:ext>
            </a:extLst>
          </p:cNvPr>
          <p:cNvSpPr>
            <a:spLocks noGrp="1"/>
          </p:cNvSpPr>
          <p:nvPr>
            <p:ph type="dt" sz="half" idx="10"/>
          </p:nvPr>
        </p:nvSpPr>
        <p:spPr/>
        <p:txBody>
          <a:bodyPr/>
          <a:lstStyle/>
          <a:p>
            <a:fld id="{D1FC357D-D3AE-45A1-AF16-9951E4A1A6C0}" type="datetime1">
              <a:rPr lang="en-IN" smtClean="0"/>
              <a:t>02-05-2026</a:t>
            </a:fld>
            <a:endParaRPr lang="en-IN"/>
          </a:p>
        </p:txBody>
      </p:sp>
      <p:sp>
        <p:nvSpPr>
          <p:cNvPr id="5" name="Footer Placeholder 4">
            <a:extLst>
              <a:ext uri="{FF2B5EF4-FFF2-40B4-BE49-F238E27FC236}">
                <a16:creationId xmlns:a16="http://schemas.microsoft.com/office/drawing/2014/main" id="{35F52F66-CAB7-4CAC-8C40-BE6B877E771C}"/>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F0D6B8D6-A138-46E5-B006-AB4D1E3A893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011957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BFB23A-58CF-456B-AB08-73729B667C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C0A73A-70C8-4162-B8EF-D65B849D07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0B0888-81FA-465A-90E7-E59D17F1CC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1F3E9B-DCF6-460C-A298-894BB8D79EEF}" type="datetime1">
              <a:rPr lang="en-IN" smtClean="0"/>
              <a:t>02-05-2026</a:t>
            </a:fld>
            <a:endParaRPr lang="en-IN"/>
          </a:p>
        </p:txBody>
      </p:sp>
      <p:sp>
        <p:nvSpPr>
          <p:cNvPr id="5" name="Footer Placeholder 4">
            <a:extLst>
              <a:ext uri="{FF2B5EF4-FFF2-40B4-BE49-F238E27FC236}">
                <a16:creationId xmlns:a16="http://schemas.microsoft.com/office/drawing/2014/main" id="{D12B48A1-228A-48E5-955E-3CBA79661C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245395B7-BD3B-4473-B16F-5A7A3505BC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ED798-B2B7-453D-A02A-83F1CBF01642}" type="slidenum">
              <a:rPr lang="en-IN" smtClean="0"/>
              <a:t>‹#›</a:t>
            </a:fld>
            <a:endParaRPr lang="en-IN"/>
          </a:p>
        </p:txBody>
      </p:sp>
    </p:spTree>
    <p:extLst>
      <p:ext uri="{BB962C8B-B14F-4D97-AF65-F5344CB8AC3E}">
        <p14:creationId xmlns:p14="http://schemas.microsoft.com/office/powerpoint/2010/main" val="229485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mailto:srishtidewangan03@gmail.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ACEAD-96D3-A032-A33C-97C7C6389C2C}"/>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3EDCE6FD-5F7E-8664-8ED3-31E895D52E72}"/>
              </a:ext>
            </a:extLst>
          </p:cNvPr>
          <p:cNvGrpSpPr/>
          <p:nvPr/>
        </p:nvGrpSpPr>
        <p:grpSpPr>
          <a:xfrm>
            <a:off x="0" y="6347341"/>
            <a:ext cx="12192000" cy="510659"/>
            <a:chOff x="0" y="6347341"/>
            <a:chExt cx="12192000" cy="510659"/>
          </a:xfrm>
        </p:grpSpPr>
        <p:sp>
          <p:nvSpPr>
            <p:cNvPr id="6" name="Rectangle 5">
              <a:extLst>
                <a:ext uri="{FF2B5EF4-FFF2-40B4-BE49-F238E27FC236}">
                  <a16:creationId xmlns:a16="http://schemas.microsoft.com/office/drawing/2014/main" id="{32B962B7-0060-92BF-D80F-8CA6E48E339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48589A71-20A6-497A-C266-A3AC590AC7BB}"/>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Slide Number Placeholder 8">
            <a:extLst>
              <a:ext uri="{FF2B5EF4-FFF2-40B4-BE49-F238E27FC236}">
                <a16:creationId xmlns:a16="http://schemas.microsoft.com/office/drawing/2014/main" id="{A9C0AFB6-FDBE-77A2-D576-D59FFAF6D1D5}"/>
              </a:ext>
            </a:extLst>
          </p:cNvPr>
          <p:cNvSpPr>
            <a:spLocks noGrp="1"/>
          </p:cNvSpPr>
          <p:nvPr>
            <p:ph type="sldNum" sz="quarter" idx="12"/>
          </p:nvPr>
        </p:nvSpPr>
        <p:spPr/>
        <p:txBody>
          <a:bodyPr/>
          <a:lstStyle/>
          <a:p>
            <a:fld id="{C9EED798-B2B7-453D-A02A-83F1CBF01642}" type="slidenum">
              <a:rPr lang="en-IN" smtClean="0"/>
              <a:t>1</a:t>
            </a:fld>
            <a:endParaRPr lang="en-IN"/>
          </a:p>
        </p:txBody>
      </p:sp>
      <p:grpSp>
        <p:nvGrpSpPr>
          <p:cNvPr id="18" name="Group 17">
            <a:extLst>
              <a:ext uri="{FF2B5EF4-FFF2-40B4-BE49-F238E27FC236}">
                <a16:creationId xmlns:a16="http://schemas.microsoft.com/office/drawing/2014/main" id="{0118D69F-ABE1-3E32-47BB-EE57D5B92537}"/>
              </a:ext>
            </a:extLst>
          </p:cNvPr>
          <p:cNvGrpSpPr/>
          <p:nvPr/>
        </p:nvGrpSpPr>
        <p:grpSpPr>
          <a:xfrm>
            <a:off x="529337" y="896634"/>
            <a:ext cx="10824463" cy="891025"/>
            <a:chOff x="529337" y="896634"/>
            <a:chExt cx="10824463" cy="891025"/>
          </a:xfrm>
        </p:grpSpPr>
        <p:pic>
          <p:nvPicPr>
            <p:cNvPr id="2" name="Picture 1">
              <a:extLst>
                <a:ext uri="{FF2B5EF4-FFF2-40B4-BE49-F238E27FC236}">
                  <a16:creationId xmlns:a16="http://schemas.microsoft.com/office/drawing/2014/main" id="{7FFD4D94-F232-ACC0-A2EC-5563B02B328F}"/>
                </a:ext>
              </a:extLst>
            </p:cNvPr>
            <p:cNvPicPr>
              <a:picLocks noChangeAspect="1"/>
            </p:cNvPicPr>
            <p:nvPr/>
          </p:nvPicPr>
          <p:blipFill rotWithShape="1">
            <a:blip r:embed="rId3"/>
            <a:srcRect t="27019" b="26058"/>
            <a:stretch/>
          </p:blipFill>
          <p:spPr>
            <a:xfrm>
              <a:off x="529337" y="896634"/>
              <a:ext cx="1898904" cy="891025"/>
            </a:xfrm>
            <a:prstGeom prst="rect">
              <a:avLst/>
            </a:prstGeom>
          </p:spPr>
        </p:pic>
        <p:grpSp>
          <p:nvGrpSpPr>
            <p:cNvPr id="15" name="Group 14">
              <a:extLst>
                <a:ext uri="{FF2B5EF4-FFF2-40B4-BE49-F238E27FC236}">
                  <a16:creationId xmlns:a16="http://schemas.microsoft.com/office/drawing/2014/main" id="{2CFC04D3-2649-B0B2-7F38-D5F9325C1352}"/>
                </a:ext>
              </a:extLst>
            </p:cNvPr>
            <p:cNvGrpSpPr/>
            <p:nvPr/>
          </p:nvGrpSpPr>
          <p:grpSpPr>
            <a:xfrm>
              <a:off x="11015286" y="1236138"/>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F47F37F5-DC62-D5EC-D8A9-D6ECF2CE1ACF}"/>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DBEBAC3F-D050-3CB2-1635-06DD7FCB6AF4}"/>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4" name="Rectangle 3"/>
          <p:cNvSpPr/>
          <p:nvPr/>
        </p:nvSpPr>
        <p:spPr>
          <a:xfrm>
            <a:off x="2653067" y="288643"/>
            <a:ext cx="7090403" cy="523220"/>
          </a:xfrm>
          <a:prstGeom prst="rect">
            <a:avLst/>
          </a:prstGeom>
        </p:spPr>
        <p:txBody>
          <a:bodyPr wrap="none">
            <a:spAutoFit/>
          </a:bodyPr>
          <a:lstStyle/>
          <a:p>
            <a:r>
              <a:rPr lang="en-IN" sz="2800" b="1" dirty="0">
                <a:latin typeface="Verdana" pitchFamily="34" charset="0"/>
                <a:ea typeface="Verdana" pitchFamily="34" charset="0"/>
              </a:rPr>
              <a:t>Tinkering &amp; Mentoring - VACC 201</a:t>
            </a:r>
          </a:p>
        </p:txBody>
      </p:sp>
      <p:sp>
        <p:nvSpPr>
          <p:cNvPr id="20" name="Rectangle 19"/>
          <p:cNvSpPr/>
          <p:nvPr/>
        </p:nvSpPr>
        <p:spPr>
          <a:xfrm>
            <a:off x="2805467" y="1186543"/>
            <a:ext cx="5993949" cy="954107"/>
          </a:xfrm>
          <a:prstGeom prst="rect">
            <a:avLst/>
          </a:prstGeom>
        </p:spPr>
        <p:txBody>
          <a:bodyPr wrap="none">
            <a:spAutoFit/>
          </a:bodyPr>
          <a:lstStyle/>
          <a:p>
            <a:pPr algn="ctr"/>
            <a:r>
              <a:rPr lang="en-IN" sz="2800" b="1" dirty="0">
                <a:latin typeface="Verdana" pitchFamily="34" charset="0"/>
                <a:ea typeface="Verdana" pitchFamily="34" charset="0"/>
              </a:rPr>
              <a:t>Final Project Presentation &amp; </a:t>
            </a:r>
          </a:p>
          <a:p>
            <a:pPr algn="ctr"/>
            <a:r>
              <a:rPr lang="en-IN" sz="2800" b="1" dirty="0">
                <a:latin typeface="Verdana" pitchFamily="34" charset="0"/>
                <a:ea typeface="Verdana" pitchFamily="34" charset="0"/>
              </a:rPr>
              <a:t>Demonstration</a:t>
            </a:r>
          </a:p>
        </p:txBody>
      </p:sp>
      <p:grpSp>
        <p:nvGrpSpPr>
          <p:cNvPr id="21" name="Group 20">
            <a:extLst>
              <a:ext uri="{FF2B5EF4-FFF2-40B4-BE49-F238E27FC236}">
                <a16:creationId xmlns:a16="http://schemas.microsoft.com/office/drawing/2014/main" id="{FE78DED0-2A03-65AD-7E05-0CCEFCAE696C}"/>
              </a:ext>
            </a:extLst>
          </p:cNvPr>
          <p:cNvGrpSpPr/>
          <p:nvPr/>
        </p:nvGrpSpPr>
        <p:grpSpPr>
          <a:xfrm>
            <a:off x="750265" y="2827692"/>
            <a:ext cx="10351387" cy="3456141"/>
            <a:chOff x="447039" y="2656957"/>
            <a:chExt cx="6816790" cy="3695725"/>
          </a:xfrm>
        </p:grpSpPr>
        <p:sp>
          <p:nvSpPr>
            <p:cNvPr id="22" name="TextBox 21">
              <a:extLst>
                <a:ext uri="{FF2B5EF4-FFF2-40B4-BE49-F238E27FC236}">
                  <a16:creationId xmlns:a16="http://schemas.microsoft.com/office/drawing/2014/main" id="{71DF62CC-1549-34C5-2BC7-8B32AAFDA013}"/>
                </a:ext>
              </a:extLst>
            </p:cNvPr>
            <p:cNvSpPr txBox="1"/>
            <p:nvPr/>
          </p:nvSpPr>
          <p:spPr>
            <a:xfrm>
              <a:off x="447039" y="2656957"/>
              <a:ext cx="6816790" cy="1086070"/>
            </a:xfrm>
            <a:prstGeom prst="rect">
              <a:avLst/>
            </a:prstGeom>
            <a:noFill/>
          </p:spPr>
          <p:txBody>
            <a:bodyPr wrap="square" rtlCol="0">
              <a:spAutoFit/>
            </a:bodyPr>
            <a:lstStyle/>
            <a:p>
              <a:r>
                <a:rPr lang="en-IN" sz="6000" b="1" dirty="0">
                  <a:latin typeface="Verdana" panose="020B0604030504040204" pitchFamily="34" charset="0"/>
                  <a:ea typeface="Verdana" panose="020B0604030504040204" pitchFamily="34" charset="0"/>
                </a:rPr>
                <a:t>Ash Candles</a:t>
              </a:r>
            </a:p>
          </p:txBody>
        </p:sp>
        <p:sp>
          <p:nvSpPr>
            <p:cNvPr id="23" name="TextBox 22">
              <a:extLst>
                <a:ext uri="{FF2B5EF4-FFF2-40B4-BE49-F238E27FC236}">
                  <a16:creationId xmlns:a16="http://schemas.microsoft.com/office/drawing/2014/main" id="{506FB617-A5E9-F51C-410F-70C063DC0BB1}"/>
                </a:ext>
              </a:extLst>
            </p:cNvPr>
            <p:cNvSpPr txBox="1"/>
            <p:nvPr/>
          </p:nvSpPr>
          <p:spPr>
            <a:xfrm>
              <a:off x="501235" y="4332483"/>
              <a:ext cx="3592475" cy="2020199"/>
            </a:xfrm>
            <a:prstGeom prst="rect">
              <a:avLst/>
            </a:prstGeom>
            <a:noFill/>
          </p:spPr>
          <p:txBody>
            <a:bodyPr wrap="square" rtlCol="0">
              <a:spAutoFit/>
            </a:bodyPr>
            <a:lstStyle/>
            <a:p>
              <a:pPr>
                <a:lnSpc>
                  <a:spcPct val="150000"/>
                </a:lnSpc>
              </a:pPr>
              <a:r>
                <a:rPr lang="en-US" sz="1600" dirty="0">
                  <a:latin typeface="Verdana" panose="020B0604030504040204" pitchFamily="34" charset="0"/>
                  <a:ea typeface="Verdana" panose="020B0604030504040204" pitchFamily="34" charset="0"/>
                </a:rPr>
                <a:t>Date (19/04/2026)</a:t>
              </a:r>
            </a:p>
            <a:p>
              <a:pPr>
                <a:lnSpc>
                  <a:spcPct val="150000"/>
                </a:lnSpc>
              </a:pPr>
              <a:r>
                <a:rPr lang="en-US" sz="1600" dirty="0">
                  <a:latin typeface="Verdana" panose="020B0604030504040204" pitchFamily="34" charset="0"/>
                  <a:ea typeface="Verdana" panose="020B0604030504040204" pitchFamily="34" charset="0"/>
                </a:rPr>
                <a:t>Name of the Presenter: Srishti </a:t>
              </a:r>
              <a:r>
                <a:rPr lang="en-US" sz="1600" dirty="0" err="1">
                  <a:latin typeface="Verdana" panose="020B0604030504040204" pitchFamily="34" charset="0"/>
                  <a:ea typeface="Verdana" panose="020B0604030504040204" pitchFamily="34" charset="0"/>
                </a:rPr>
                <a:t>Dewangana</a:t>
              </a:r>
              <a:endParaRPr lang="en-US" sz="1600" dirty="0">
                <a:latin typeface="Verdana" panose="020B0604030504040204" pitchFamily="34" charset="0"/>
                <a:ea typeface="Verdana" panose="020B0604030504040204" pitchFamily="34" charset="0"/>
              </a:endParaRPr>
            </a:p>
            <a:p>
              <a:pPr>
                <a:lnSpc>
                  <a:spcPct val="150000"/>
                </a:lnSpc>
              </a:pPr>
              <a:r>
                <a:rPr lang="en-US" sz="1600" dirty="0">
                  <a:latin typeface="Verdana" panose="020B0604030504040204" pitchFamily="34" charset="0"/>
                  <a:ea typeface="Verdana" panose="020B0604030504040204" pitchFamily="34" charset="0"/>
                </a:rPr>
                <a:t>Email Id: </a:t>
              </a:r>
              <a:r>
                <a:rPr lang="en-US" sz="1600" dirty="0">
                  <a:latin typeface="Verdana" panose="020B0604030504040204" pitchFamily="34" charset="0"/>
                  <a:ea typeface="Verdana" panose="020B0604030504040204" pitchFamily="34" charset="0"/>
                  <a:hlinkClick r:id="rId4"/>
                </a:rPr>
                <a:t>srishtidewangan03@gmail.com</a:t>
              </a:r>
              <a:r>
                <a:rPr lang="en-US" sz="1600" dirty="0">
                  <a:latin typeface="Verdana" panose="020B0604030504040204" pitchFamily="34" charset="0"/>
                  <a:ea typeface="Verdana" panose="020B0604030504040204" pitchFamily="34" charset="0"/>
                </a:rPr>
                <a:t> </a:t>
              </a:r>
            </a:p>
            <a:p>
              <a:pPr>
                <a:lnSpc>
                  <a:spcPct val="150000"/>
                </a:lnSpc>
              </a:pPr>
              <a:r>
                <a:rPr lang="en-US" sz="1600" dirty="0">
                  <a:latin typeface="Verdana" panose="020B0604030504040204" pitchFamily="34" charset="0"/>
                  <a:ea typeface="Verdana" panose="020B0604030504040204" pitchFamily="34" charset="0"/>
                </a:rPr>
                <a:t>Mobile No.: 9601593070</a:t>
              </a:r>
            </a:p>
            <a:p>
              <a:pPr>
                <a:lnSpc>
                  <a:spcPct val="150000"/>
                </a:lnSpc>
              </a:pPr>
              <a:r>
                <a:rPr lang="en-US" sz="1600" dirty="0">
                  <a:latin typeface="Verdana" panose="020B0604030504040204" pitchFamily="34" charset="0"/>
                  <a:ea typeface="Verdana" panose="020B0604030504040204" pitchFamily="34" charset="0"/>
                </a:rPr>
                <a:t>Faculty Mentor Name: Ms. Khushbu Verma </a:t>
              </a:r>
            </a:p>
          </p:txBody>
        </p:sp>
      </p:grpSp>
      <p:sp>
        <p:nvSpPr>
          <p:cNvPr id="24" name="TextBox 23">
            <a:extLst>
              <a:ext uri="{FF2B5EF4-FFF2-40B4-BE49-F238E27FC236}">
                <a16:creationId xmlns:a16="http://schemas.microsoft.com/office/drawing/2014/main" id="{506FB617-A5E9-F51C-410F-70C063DC0BB1}"/>
              </a:ext>
            </a:extLst>
          </p:cNvPr>
          <p:cNvSpPr txBox="1"/>
          <p:nvPr/>
        </p:nvSpPr>
        <p:spPr>
          <a:xfrm>
            <a:off x="6512458" y="4454068"/>
            <a:ext cx="4841341" cy="1569660"/>
          </a:xfrm>
          <a:prstGeom prst="rect">
            <a:avLst/>
          </a:prstGeom>
          <a:noFill/>
        </p:spPr>
        <p:txBody>
          <a:bodyPr wrap="square" rtlCol="0">
            <a:spAutoFit/>
          </a:bodyPr>
          <a:lstStyle/>
          <a:p>
            <a:pPr>
              <a:lnSpc>
                <a:spcPct val="150000"/>
              </a:lnSpc>
            </a:pPr>
            <a:r>
              <a:rPr lang="en-US" sz="1600" dirty="0">
                <a:latin typeface="Verdana" panose="020B0604030504040204" pitchFamily="34" charset="0"/>
                <a:ea typeface="Verdana" panose="020B0604030504040204" pitchFamily="34" charset="0"/>
              </a:rPr>
              <a:t>Team No.: 14</a:t>
            </a:r>
          </a:p>
          <a:p>
            <a:pPr>
              <a:lnSpc>
                <a:spcPct val="150000"/>
              </a:lnSpc>
            </a:pPr>
            <a:r>
              <a:rPr lang="en-US" sz="1600" dirty="0">
                <a:latin typeface="Verdana" panose="020B0604030504040204" pitchFamily="34" charset="0"/>
                <a:ea typeface="Verdana" panose="020B0604030504040204" pitchFamily="34" charset="0"/>
              </a:rPr>
              <a:t>Semester: 2nd</a:t>
            </a:r>
          </a:p>
          <a:p>
            <a:pPr>
              <a:lnSpc>
                <a:spcPct val="150000"/>
              </a:lnSpc>
            </a:pPr>
            <a:r>
              <a:rPr lang="en-US" sz="1600" dirty="0">
                <a:latin typeface="Verdana" panose="020B0604030504040204" pitchFamily="34" charset="0"/>
                <a:ea typeface="Verdana" panose="020B0604030504040204" pitchFamily="34" charset="0"/>
              </a:rPr>
              <a:t>Program: Biotechnology </a:t>
            </a:r>
          </a:p>
          <a:p>
            <a:pPr>
              <a:lnSpc>
                <a:spcPct val="150000"/>
              </a:lnSpc>
            </a:pPr>
            <a:r>
              <a:rPr lang="en-US" sz="1600" dirty="0">
                <a:latin typeface="Verdana" panose="020B0604030504040204" pitchFamily="34" charset="0"/>
                <a:ea typeface="Verdana" panose="020B0604030504040204" pitchFamily="34" charset="0"/>
              </a:rPr>
              <a:t>School: School of Science </a:t>
            </a:r>
          </a:p>
        </p:txBody>
      </p:sp>
      <p:pic>
        <p:nvPicPr>
          <p:cNvPr id="3" name="Picture 2">
            <a:extLst>
              <a:ext uri="{FF2B5EF4-FFF2-40B4-BE49-F238E27FC236}">
                <a16:creationId xmlns:a16="http://schemas.microsoft.com/office/drawing/2014/main" id="{83AD9F4B-F6AA-84EB-A1F3-840CD2C6EC90}"/>
              </a:ext>
            </a:extLst>
          </p:cNvPr>
          <p:cNvPicPr>
            <a:picLocks noChangeAspect="1"/>
          </p:cNvPicPr>
          <p:nvPr/>
        </p:nvPicPr>
        <p:blipFill>
          <a:blip r:embed="rId5"/>
          <a:srcRect l="25200" t="13684" r="26800" b="14787"/>
          <a:stretch/>
        </p:blipFill>
        <p:spPr>
          <a:xfrm>
            <a:off x="8562701" y="1408361"/>
            <a:ext cx="2452585" cy="2434994"/>
          </a:xfrm>
          <a:prstGeom prst="rect">
            <a:avLst/>
          </a:prstGeom>
        </p:spPr>
      </p:pic>
      <p:sp>
        <p:nvSpPr>
          <p:cNvPr id="10" name="TextBox 9">
            <a:extLst>
              <a:ext uri="{FF2B5EF4-FFF2-40B4-BE49-F238E27FC236}">
                <a16:creationId xmlns:a16="http://schemas.microsoft.com/office/drawing/2014/main" id="{861BF355-1C5F-7D2C-CDC2-CA4BC8D23FA2}"/>
              </a:ext>
            </a:extLst>
          </p:cNvPr>
          <p:cNvSpPr txBox="1"/>
          <p:nvPr/>
        </p:nvSpPr>
        <p:spPr>
          <a:xfrm>
            <a:off x="832562" y="3729603"/>
            <a:ext cx="6092890" cy="400110"/>
          </a:xfrm>
          <a:prstGeom prst="rect">
            <a:avLst/>
          </a:prstGeom>
          <a:noFill/>
        </p:spPr>
        <p:txBody>
          <a:bodyPr wrap="square">
            <a:spAutoFit/>
          </a:bodyPr>
          <a:lstStyle/>
          <a:p>
            <a:r>
              <a:rPr lang="fi-FI" sz="1800" b="1" dirty="0">
                <a:solidFill>
                  <a:schemeClr val="accent1">
                    <a:lumMod val="75000"/>
                  </a:schemeClr>
                </a:solidFill>
                <a:latin typeface="Verdana" panose="020B0604030504040204" pitchFamily="34" charset="0"/>
                <a:ea typeface="Verdana" panose="020B0604030504040204" pitchFamily="34" charset="0"/>
              </a:rPr>
              <a:t>Raakh ka kamaal, roshni bemisaal</a:t>
            </a:r>
            <a:r>
              <a:rPr lang="fi-FI" sz="2000" b="1" dirty="0">
                <a:solidFill>
                  <a:schemeClr val="accent1">
                    <a:lumMod val="75000"/>
                  </a:schemeClr>
                </a:solidFill>
                <a:latin typeface="Verdana" panose="020B0604030504040204" pitchFamily="34" charset="0"/>
                <a:ea typeface="Verdana" panose="020B0604030504040204" pitchFamily="34" charset="0"/>
              </a:rPr>
              <a:t>!</a:t>
            </a:r>
            <a:endParaRPr lang="en-IN" sz="2000" b="1" dirty="0">
              <a:solidFill>
                <a:schemeClr val="accent1">
                  <a:lumMod val="75000"/>
                </a:schemeClr>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126585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02-05-2026</a:t>
            </a:fld>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IN" dirty="0">
                <a:solidFill>
                  <a:schemeClr val="tx1"/>
                </a:solidFill>
              </a:rPr>
              <a:t>Srishti Dewangan, life science </a:t>
            </a: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2</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solidFill>
                  <a:latin typeface="Verdana" pitchFamily="34" charset="0"/>
                  <a:ea typeface="Verdana" pitchFamily="34" charset="0"/>
                </a:rPr>
                <a:t>Ash Candle </a:t>
              </a: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Student Team</a:t>
            </a:r>
            <a:endParaRPr lang="en-IN" sz="2400" b="1" dirty="0">
              <a:latin typeface="Verdana" panose="020B0604030504040204" pitchFamily="34" charset="0"/>
              <a:ea typeface="Verdana" panose="020B0604030504040204" pitchFamily="34" charset="0"/>
            </a:endParaRPr>
          </a:p>
        </p:txBody>
      </p:sp>
      <p:graphicFrame>
        <p:nvGraphicFramePr>
          <p:cNvPr id="19" name="Content Placeholder 3"/>
          <p:cNvGraphicFramePr>
            <a:graphicFrameLocks/>
          </p:cNvGraphicFramePr>
          <p:nvPr>
            <p:extLst>
              <p:ext uri="{D42A27DB-BD31-4B8C-83A1-F6EECF244321}">
                <p14:modId xmlns:p14="http://schemas.microsoft.com/office/powerpoint/2010/main" val="185040004"/>
              </p:ext>
            </p:extLst>
          </p:nvPr>
        </p:nvGraphicFramePr>
        <p:xfrm>
          <a:off x="457199" y="1600200"/>
          <a:ext cx="10805304" cy="4038600"/>
        </p:xfrm>
        <a:graphic>
          <a:graphicData uri="http://schemas.openxmlformats.org/drawingml/2006/table">
            <a:tbl>
              <a:tblPr firstRow="1" bandRow="1">
                <a:tableStyleId>{5FD0F851-EC5A-4D38-B0AD-8093EC10F338}</a:tableStyleId>
              </a:tblPr>
              <a:tblGrid>
                <a:gridCol w="4536041">
                  <a:extLst>
                    <a:ext uri="{9D8B030D-6E8A-4147-A177-3AD203B41FA5}">
                      <a16:colId xmlns:a16="http://schemas.microsoft.com/office/drawing/2014/main" val="20000"/>
                    </a:ext>
                  </a:extLst>
                </a:gridCol>
                <a:gridCol w="2448885">
                  <a:extLst>
                    <a:ext uri="{9D8B030D-6E8A-4147-A177-3AD203B41FA5}">
                      <a16:colId xmlns:a16="http://schemas.microsoft.com/office/drawing/2014/main" val="20001"/>
                    </a:ext>
                  </a:extLst>
                </a:gridCol>
                <a:gridCol w="3820378">
                  <a:extLst>
                    <a:ext uri="{9D8B030D-6E8A-4147-A177-3AD203B41FA5}">
                      <a16:colId xmlns:a16="http://schemas.microsoft.com/office/drawing/2014/main" val="20002"/>
                    </a:ext>
                  </a:extLst>
                </a:gridCol>
              </a:tblGrid>
              <a:tr h="362164">
                <a:tc>
                  <a:txBody>
                    <a:bodyPr/>
                    <a:lstStyle/>
                    <a:p>
                      <a:r>
                        <a:rPr lang="en-US" sz="1800" b="1" dirty="0">
                          <a:solidFill>
                            <a:schemeClr val="tx1"/>
                          </a:solidFill>
                          <a:effectLst/>
                          <a:latin typeface="Verdana" panose="020B0604030504040204" pitchFamily="34" charset="0"/>
                          <a:ea typeface="Verdana" panose="020B0604030504040204" pitchFamily="34" charset="0"/>
                        </a:rPr>
                        <a:t>Name</a:t>
                      </a:r>
                      <a:endParaRPr lang="en-US" sz="1800" b="1" dirty="0">
                        <a:solidFill>
                          <a:schemeClr val="tx1"/>
                        </a:solidFill>
                        <a:effectLst/>
                        <a:latin typeface="Verdana" pitchFamily="34" charset="0"/>
                        <a:ea typeface="Verdana" pitchFamily="34" charset="0"/>
                        <a:cs typeface="+mn-lt"/>
                      </a:endParaRPr>
                    </a:p>
                  </a:txBody>
                  <a:tcPr/>
                </a:tc>
                <a:tc>
                  <a:txBody>
                    <a:bodyPr/>
                    <a:lstStyle/>
                    <a:p>
                      <a:r>
                        <a:rPr lang="en-US" sz="1800" b="1" dirty="0">
                          <a:solidFill>
                            <a:schemeClr val="tx1"/>
                          </a:solidFill>
                          <a:effectLst/>
                          <a:latin typeface="Verdana" panose="020B0604030504040204" pitchFamily="34" charset="0"/>
                          <a:ea typeface="Verdana" panose="020B0604030504040204" pitchFamily="34" charset="0"/>
                        </a:rPr>
                        <a:t>Enrollment No.</a:t>
                      </a:r>
                      <a:endParaRPr lang="en-US" sz="1800" b="1" dirty="0">
                        <a:solidFill>
                          <a:schemeClr val="tx1"/>
                        </a:solidFill>
                        <a:effectLst/>
                        <a:latin typeface="Verdana" pitchFamily="34" charset="0"/>
                        <a:ea typeface="Verdana" pitchFamily="34" charset="0"/>
                        <a:cs typeface="+mn-lt"/>
                      </a:endParaRPr>
                    </a:p>
                  </a:txBody>
                  <a:tcPr/>
                </a:tc>
                <a:tc>
                  <a:txBody>
                    <a:bodyPr/>
                    <a:lstStyle/>
                    <a:p>
                      <a:r>
                        <a:rPr lang="en-US" sz="1800" b="1" dirty="0">
                          <a:solidFill>
                            <a:schemeClr val="tx1"/>
                          </a:solidFill>
                          <a:effectLst/>
                          <a:latin typeface="Verdana" panose="020B0604030504040204" pitchFamily="34" charset="0"/>
                          <a:ea typeface="Verdana" panose="020B0604030504040204" pitchFamily="34" charset="0"/>
                        </a:rPr>
                        <a:t>Key Responsibility</a:t>
                      </a:r>
                      <a:endParaRPr lang="en-US" sz="1800" b="1" dirty="0">
                        <a:solidFill>
                          <a:schemeClr val="tx1"/>
                        </a:solidFill>
                        <a:effectLst/>
                        <a:latin typeface="Verdana" pitchFamily="34" charset="0"/>
                        <a:ea typeface="Verdana" pitchFamily="34" charset="0"/>
                        <a:cs typeface="+mn-lt"/>
                      </a:endParaRPr>
                    </a:p>
                  </a:txBody>
                  <a:tcPr/>
                </a:tc>
                <a:extLst>
                  <a:ext uri="{0D108BD9-81ED-4DB2-BD59-A6C34878D82A}">
                    <a16:rowId xmlns:a16="http://schemas.microsoft.com/office/drawing/2014/main" val="10000"/>
                  </a:ext>
                </a:extLst>
              </a:tr>
              <a:tr h="370840">
                <a:tc>
                  <a:txBody>
                    <a:bodyPr/>
                    <a:lstStyle/>
                    <a:p>
                      <a:r>
                        <a:rPr lang="en-US" sz="1800">
                          <a:solidFill>
                            <a:schemeClr val="tx1"/>
                          </a:solidFill>
                          <a:latin typeface="Verdana" panose="020B0604030504040204" pitchFamily="34" charset="0"/>
                          <a:ea typeface="Verdana" panose="020B0604030504040204" pitchFamily="34" charset="0"/>
                        </a:rPr>
                        <a:t>Parth Solanki </a:t>
                      </a:r>
                      <a:endParaRPr lang="en-US" sz="1800" dirty="0">
                        <a:solidFill>
                          <a:schemeClr val="tx1"/>
                        </a:solidFill>
                        <a:latin typeface="Verdana" pitchFamily="34" charset="0"/>
                        <a:ea typeface="Verdana" pitchFamily="34" charset="0"/>
                      </a:endParaRPr>
                    </a:p>
                  </a:txBody>
                  <a:tcPr/>
                </a:tc>
                <a:tc>
                  <a:txBody>
                    <a:bodyPr/>
                    <a:lstStyle/>
                    <a:p>
                      <a:r>
                        <a:rPr lang="en-US" sz="1800" dirty="0">
                          <a:solidFill>
                            <a:schemeClr val="tx1"/>
                          </a:solidFill>
                          <a:latin typeface="Verdana" panose="020B0604030504040204" pitchFamily="34" charset="0"/>
                          <a:ea typeface="Verdana" panose="020B0604030504040204" pitchFamily="34" charset="0"/>
                        </a:rPr>
                        <a:t>25SC02081</a:t>
                      </a:r>
                    </a:p>
                  </a:txBody>
                  <a:tcPr/>
                </a:tc>
                <a:tc>
                  <a:txBody>
                    <a:bodyPr/>
                    <a:lstStyle/>
                    <a:p>
                      <a:r>
                        <a:rPr lang="en-IN" sz="1800" dirty="0">
                          <a:solidFill>
                            <a:schemeClr val="tx1"/>
                          </a:solidFill>
                          <a:latin typeface="Verdana" panose="020B0604030504040204" pitchFamily="34" charset="0"/>
                          <a:ea typeface="Verdana" panose="020B0604030504040204" pitchFamily="34" charset="0"/>
                        </a:rPr>
                        <a:t>Research and product developments </a:t>
                      </a:r>
                      <a:endParaRPr lang="en-US" sz="1800" dirty="0">
                        <a:solidFill>
                          <a:schemeClr val="tx1"/>
                        </a:solidFill>
                        <a:latin typeface="Verdana" pitchFamily="34" charset="0"/>
                        <a:ea typeface="Verdana" pitchFamily="34" charset="0"/>
                      </a:endParaRPr>
                    </a:p>
                  </a:txBody>
                  <a:tcPr/>
                </a:tc>
                <a:extLst>
                  <a:ext uri="{0D108BD9-81ED-4DB2-BD59-A6C34878D82A}">
                    <a16:rowId xmlns:a16="http://schemas.microsoft.com/office/drawing/2014/main" val="10001"/>
                  </a:ext>
                </a:extLst>
              </a:tr>
              <a:tr h="370840">
                <a:tc>
                  <a:txBody>
                    <a:bodyPr/>
                    <a:lstStyle/>
                    <a:p>
                      <a:r>
                        <a:rPr lang="en-US" sz="1800" dirty="0" err="1">
                          <a:solidFill>
                            <a:schemeClr val="tx1"/>
                          </a:solidFill>
                          <a:latin typeface="Verdana" panose="020B0604030504040204" pitchFamily="34" charset="0"/>
                          <a:ea typeface="Verdana" panose="020B0604030504040204" pitchFamily="34" charset="0"/>
                        </a:rPr>
                        <a:t>Heny</a:t>
                      </a:r>
                      <a:r>
                        <a:rPr lang="en-US" sz="1800" dirty="0">
                          <a:solidFill>
                            <a:schemeClr val="tx1"/>
                          </a:solidFill>
                          <a:latin typeface="Verdana" panose="020B0604030504040204" pitchFamily="34" charset="0"/>
                          <a:ea typeface="Verdana" panose="020B0604030504040204" pitchFamily="34" charset="0"/>
                        </a:rPr>
                        <a:t> Soni</a:t>
                      </a:r>
                    </a:p>
                  </a:txBody>
                  <a:tcPr/>
                </a:tc>
                <a:tc>
                  <a:txBody>
                    <a:bodyPr/>
                    <a:lstStyle/>
                    <a:p>
                      <a:r>
                        <a:rPr lang="en-US" sz="1800">
                          <a:solidFill>
                            <a:schemeClr val="tx1"/>
                          </a:solidFill>
                          <a:latin typeface="Verdana" panose="020B0604030504040204" pitchFamily="34" charset="0"/>
                          <a:ea typeface="Verdana" panose="020B0604030504040204" pitchFamily="34" charset="0"/>
                        </a:rPr>
                        <a:t>25SC02082</a:t>
                      </a:r>
                      <a:endParaRPr lang="en-US" sz="1800" dirty="0">
                        <a:solidFill>
                          <a:schemeClr val="tx1"/>
                        </a:solidFill>
                        <a:latin typeface="Verdana" pitchFamily="34" charset="0"/>
                        <a:ea typeface="Verdana" pitchFamily="34" charset="0"/>
                      </a:endParaRPr>
                    </a:p>
                  </a:txBody>
                  <a:tcPr/>
                </a:tc>
                <a:tc>
                  <a:txBody>
                    <a:bodyPr/>
                    <a:lstStyle/>
                    <a:p>
                      <a:r>
                        <a:rPr lang="en-US" sz="1800" dirty="0">
                          <a:solidFill>
                            <a:schemeClr val="tx1"/>
                          </a:solidFill>
                          <a:latin typeface="Verdana" panose="020B0604030504040204" pitchFamily="34" charset="0"/>
                          <a:ea typeface="Verdana" panose="020B0604030504040204" pitchFamily="34" charset="0"/>
                        </a:rPr>
                        <a:t>Literature review and experiment conduct </a:t>
                      </a:r>
                    </a:p>
                  </a:txBody>
                  <a:tcPr/>
                </a:tc>
                <a:extLst>
                  <a:ext uri="{0D108BD9-81ED-4DB2-BD59-A6C34878D82A}">
                    <a16:rowId xmlns:a16="http://schemas.microsoft.com/office/drawing/2014/main" val="10002"/>
                  </a:ext>
                </a:extLst>
              </a:tr>
              <a:tr h="370840">
                <a:tc>
                  <a:txBody>
                    <a:bodyPr/>
                    <a:lstStyle/>
                    <a:p>
                      <a:r>
                        <a:rPr lang="en-US" sz="1800">
                          <a:solidFill>
                            <a:schemeClr val="tx1"/>
                          </a:solidFill>
                          <a:latin typeface="Verdana" panose="020B0604030504040204" pitchFamily="34" charset="0"/>
                          <a:ea typeface="Verdana" panose="020B0604030504040204" pitchFamily="34" charset="0"/>
                        </a:rPr>
                        <a:t>Sneh Soni </a:t>
                      </a:r>
                      <a:endParaRPr lang="en-US" sz="1800" dirty="0">
                        <a:solidFill>
                          <a:schemeClr val="tx1"/>
                        </a:solidFill>
                        <a:latin typeface="Verdana" pitchFamily="34" charset="0"/>
                        <a:ea typeface="Verdana" pitchFamily="34" charset="0"/>
                      </a:endParaRPr>
                    </a:p>
                  </a:txBody>
                  <a:tcPr/>
                </a:tc>
                <a:tc>
                  <a:txBody>
                    <a:bodyPr/>
                    <a:lstStyle/>
                    <a:p>
                      <a:r>
                        <a:rPr lang="en-US" sz="1800">
                          <a:solidFill>
                            <a:schemeClr val="tx1"/>
                          </a:solidFill>
                          <a:latin typeface="Verdana" panose="020B0604030504040204" pitchFamily="34" charset="0"/>
                          <a:ea typeface="Verdana" panose="020B0604030504040204" pitchFamily="34" charset="0"/>
                        </a:rPr>
                        <a:t>25SC02083</a:t>
                      </a:r>
                      <a:endParaRPr lang="en-US" sz="1800" dirty="0">
                        <a:solidFill>
                          <a:schemeClr val="tx1"/>
                        </a:solidFill>
                        <a:latin typeface="Verdana" pitchFamily="34" charset="0"/>
                        <a:ea typeface="Verdana" pitchFamily="34" charset="0"/>
                      </a:endParaRPr>
                    </a:p>
                  </a:txBody>
                  <a:tcPr/>
                </a:tc>
                <a:tc>
                  <a:txBody>
                    <a:bodyPr/>
                    <a:lstStyle/>
                    <a:p>
                      <a:r>
                        <a:rPr lang="en-IN" sz="1800" dirty="0">
                          <a:solidFill>
                            <a:schemeClr val="tx1"/>
                          </a:solidFill>
                          <a:latin typeface="Verdana" panose="020B0604030504040204" pitchFamily="34" charset="0"/>
                          <a:ea typeface="Verdana" panose="020B0604030504040204" pitchFamily="34" charset="0"/>
                        </a:rPr>
                        <a:t>Ideation, review and feedback</a:t>
                      </a:r>
                      <a:endParaRPr lang="en-US" sz="1800" dirty="0">
                        <a:solidFill>
                          <a:schemeClr val="tx1"/>
                        </a:solidFill>
                        <a:latin typeface="Verdana" pitchFamily="34" charset="0"/>
                        <a:ea typeface="Verdana" pitchFamily="34" charset="0"/>
                      </a:endParaRPr>
                    </a:p>
                  </a:txBody>
                  <a:tcPr/>
                </a:tc>
                <a:extLst>
                  <a:ext uri="{0D108BD9-81ED-4DB2-BD59-A6C34878D82A}">
                    <a16:rowId xmlns:a16="http://schemas.microsoft.com/office/drawing/2014/main" val="10003"/>
                  </a:ext>
                </a:extLst>
              </a:tr>
              <a:tr h="370840">
                <a:tc>
                  <a:txBody>
                    <a:bodyPr/>
                    <a:lstStyle/>
                    <a:p>
                      <a:r>
                        <a:rPr lang="en-US" sz="1800">
                          <a:solidFill>
                            <a:schemeClr val="tx1"/>
                          </a:solidFill>
                          <a:latin typeface="Verdana" panose="020B0604030504040204" pitchFamily="34" charset="0"/>
                          <a:ea typeface="Verdana" panose="020B0604030504040204" pitchFamily="34" charset="0"/>
                        </a:rPr>
                        <a:t>Srishti Dewangan</a:t>
                      </a:r>
                      <a:endParaRPr lang="en-US" sz="1800" dirty="0">
                        <a:solidFill>
                          <a:schemeClr val="tx1"/>
                        </a:solidFill>
                        <a:latin typeface="Verdana" pitchFamily="34" charset="0"/>
                        <a:ea typeface="Verdana" pitchFamily="34" charset="0"/>
                      </a:endParaRPr>
                    </a:p>
                  </a:txBody>
                  <a:tcPr/>
                </a:tc>
                <a:tc>
                  <a:txBody>
                    <a:bodyPr/>
                    <a:lstStyle/>
                    <a:p>
                      <a:r>
                        <a:rPr lang="en-US" sz="1800">
                          <a:solidFill>
                            <a:schemeClr val="tx1"/>
                          </a:solidFill>
                          <a:latin typeface="Verdana" panose="020B0604030504040204" pitchFamily="34" charset="0"/>
                          <a:ea typeface="Verdana" panose="020B0604030504040204" pitchFamily="34" charset="0"/>
                        </a:rPr>
                        <a:t>25SC02084</a:t>
                      </a:r>
                      <a:endParaRPr lang="en-US" sz="1800" dirty="0">
                        <a:solidFill>
                          <a:schemeClr val="tx1"/>
                        </a:solidFill>
                        <a:latin typeface="Verdana" pitchFamily="34" charset="0"/>
                        <a:ea typeface="Verdana" pitchFamily="34" charset="0"/>
                      </a:endParaRPr>
                    </a:p>
                  </a:txBody>
                  <a:tcPr/>
                </a:tc>
                <a:tc>
                  <a:txBody>
                    <a:bodyPr/>
                    <a:lstStyle/>
                    <a:p>
                      <a:r>
                        <a:rPr lang="en-IN" sz="1800" dirty="0">
                          <a:solidFill>
                            <a:schemeClr val="tx1"/>
                          </a:solidFill>
                          <a:latin typeface="Verdana" panose="020B0604030504040204" pitchFamily="34" charset="0"/>
                          <a:ea typeface="Verdana" panose="020B0604030504040204" pitchFamily="34" charset="0"/>
                        </a:rPr>
                        <a:t>Procurement of raw material</a:t>
                      </a:r>
                      <a:endParaRPr lang="en-US" sz="1800" dirty="0">
                        <a:solidFill>
                          <a:schemeClr val="tx1"/>
                        </a:solidFill>
                        <a:latin typeface="Verdana" pitchFamily="34" charset="0"/>
                        <a:ea typeface="Verdana" pitchFamily="34" charset="0"/>
                      </a:endParaRPr>
                    </a:p>
                  </a:txBody>
                  <a:tcPr/>
                </a:tc>
                <a:extLst>
                  <a:ext uri="{0D108BD9-81ED-4DB2-BD59-A6C34878D82A}">
                    <a16:rowId xmlns:a16="http://schemas.microsoft.com/office/drawing/2014/main" val="10004"/>
                  </a:ext>
                </a:extLst>
              </a:tr>
              <a:tr h="370840">
                <a:tc>
                  <a:txBody>
                    <a:bodyPr/>
                    <a:lstStyle/>
                    <a:p>
                      <a:r>
                        <a:rPr lang="en-US" sz="1800">
                          <a:solidFill>
                            <a:schemeClr val="tx1"/>
                          </a:solidFill>
                          <a:latin typeface="Verdana" panose="020B0604030504040204" pitchFamily="34" charset="0"/>
                          <a:ea typeface="Verdana" panose="020B0604030504040204" pitchFamily="34" charset="0"/>
                        </a:rPr>
                        <a:t>Isha Suthar </a:t>
                      </a:r>
                      <a:endParaRPr lang="en-US" sz="1800" dirty="0">
                        <a:solidFill>
                          <a:schemeClr val="tx1"/>
                        </a:solidFill>
                        <a:latin typeface="Verdana" pitchFamily="34" charset="0"/>
                        <a:ea typeface="Verdana" pitchFamily="34" charset="0"/>
                      </a:endParaRPr>
                    </a:p>
                  </a:txBody>
                  <a:tcPr/>
                </a:tc>
                <a:tc>
                  <a:txBody>
                    <a:bodyPr/>
                    <a:lstStyle/>
                    <a:p>
                      <a:r>
                        <a:rPr lang="en-US" sz="1800">
                          <a:solidFill>
                            <a:schemeClr val="tx1"/>
                          </a:solidFill>
                          <a:latin typeface="Verdana" panose="020B0604030504040204" pitchFamily="34" charset="0"/>
                          <a:ea typeface="Verdana" panose="020B0604030504040204" pitchFamily="34" charset="0"/>
                        </a:rPr>
                        <a:t>25SC020</a:t>
                      </a:r>
                      <a:r>
                        <a:rPr lang="en-IN" sz="1800">
                          <a:solidFill>
                            <a:schemeClr val="tx1"/>
                          </a:solidFill>
                          <a:latin typeface="Verdana" panose="020B0604030504040204" pitchFamily="34" charset="0"/>
                          <a:ea typeface="Verdana" panose="020B0604030504040204" pitchFamily="34" charset="0"/>
                        </a:rPr>
                        <a:t>85</a:t>
                      </a:r>
                      <a:endParaRPr lang="en-US" sz="1800" dirty="0">
                        <a:solidFill>
                          <a:schemeClr val="tx1"/>
                        </a:solidFill>
                        <a:latin typeface="Verdana" pitchFamily="34" charset="0"/>
                        <a:ea typeface="Verdana" pitchFamily="34" charset="0"/>
                      </a:endParaRPr>
                    </a:p>
                  </a:txBody>
                  <a:tcPr/>
                </a:tc>
                <a:tc>
                  <a:txBody>
                    <a:bodyPr/>
                    <a:lstStyle/>
                    <a:p>
                      <a:r>
                        <a:rPr lang="en-IN" sz="1800" dirty="0">
                          <a:solidFill>
                            <a:schemeClr val="tx1"/>
                          </a:solidFill>
                          <a:latin typeface="Verdana" panose="020B0604030504040204" pitchFamily="34" charset="0"/>
                          <a:ea typeface="Verdana" panose="020B0604030504040204" pitchFamily="34" charset="0"/>
                        </a:rPr>
                        <a:t>Research and experiment</a:t>
                      </a:r>
                      <a:endParaRPr lang="en-US" sz="1800" dirty="0">
                        <a:solidFill>
                          <a:schemeClr val="tx1"/>
                        </a:solidFill>
                        <a:latin typeface="Verdana" pitchFamily="34" charset="0"/>
                        <a:ea typeface="Verdana" pitchFamily="34" charset="0"/>
                      </a:endParaRPr>
                    </a:p>
                  </a:txBody>
                  <a:tcPr/>
                </a:tc>
                <a:extLst>
                  <a:ext uri="{0D108BD9-81ED-4DB2-BD59-A6C34878D82A}">
                    <a16:rowId xmlns:a16="http://schemas.microsoft.com/office/drawing/2014/main" val="10005"/>
                  </a:ext>
                </a:extLst>
              </a:tr>
              <a:tr h="396240">
                <a:tc>
                  <a:txBody>
                    <a:bodyPr/>
                    <a:lstStyle/>
                    <a:p>
                      <a:r>
                        <a:rPr lang="en-US" sz="1800">
                          <a:solidFill>
                            <a:schemeClr val="tx1"/>
                          </a:solidFill>
                          <a:latin typeface="Verdana" panose="020B0604030504040204" pitchFamily="34" charset="0"/>
                          <a:ea typeface="Verdana" panose="020B0604030504040204" pitchFamily="34" charset="0"/>
                        </a:rPr>
                        <a:t>Swathi Girish</a:t>
                      </a:r>
                      <a:endParaRPr lang="en-US" sz="1800" dirty="0">
                        <a:solidFill>
                          <a:schemeClr val="tx1"/>
                        </a:solidFill>
                        <a:latin typeface="Verdana" pitchFamily="34" charset="0"/>
                        <a:ea typeface="Verdana" pitchFamily="34" charset="0"/>
                      </a:endParaRPr>
                    </a:p>
                  </a:txBody>
                  <a:tcPr/>
                </a:tc>
                <a:tc>
                  <a:txBody>
                    <a:bodyPr/>
                    <a:lstStyle/>
                    <a:p>
                      <a:r>
                        <a:rPr lang="en-US" sz="1800">
                          <a:solidFill>
                            <a:schemeClr val="tx1"/>
                          </a:solidFill>
                          <a:latin typeface="Verdana" panose="020B0604030504040204" pitchFamily="34" charset="0"/>
                          <a:ea typeface="Verdana" panose="020B0604030504040204" pitchFamily="34" charset="0"/>
                        </a:rPr>
                        <a:t>25SC02086</a:t>
                      </a:r>
                      <a:endParaRPr lang="en-US" sz="1800" dirty="0">
                        <a:solidFill>
                          <a:schemeClr val="tx1"/>
                        </a:solidFill>
                        <a:latin typeface="Verdana" pitchFamily="34" charset="0"/>
                        <a:ea typeface="Verdana" pitchFamily="34" charset="0"/>
                      </a:endParaRPr>
                    </a:p>
                  </a:txBody>
                  <a:tcPr/>
                </a:tc>
                <a:tc>
                  <a:txBody>
                    <a:bodyPr/>
                    <a:lstStyle/>
                    <a:p>
                      <a:r>
                        <a:rPr lang="en-IN" sz="1800" dirty="0">
                          <a:solidFill>
                            <a:schemeClr val="tx1"/>
                          </a:solidFill>
                          <a:latin typeface="Verdana" panose="020B0604030504040204" pitchFamily="34" charset="0"/>
                          <a:ea typeface="Verdana" panose="020B0604030504040204" pitchFamily="34" charset="0"/>
                        </a:rPr>
                        <a:t>Literature and experiment conduction</a:t>
                      </a:r>
                      <a:endParaRPr lang="en-US" sz="1800" dirty="0">
                        <a:solidFill>
                          <a:schemeClr val="tx1"/>
                        </a:solidFill>
                        <a:latin typeface="Verdana" pitchFamily="34" charset="0"/>
                        <a:ea typeface="Verdana" pitchFamily="34" charset="0"/>
                      </a:endParaRPr>
                    </a:p>
                  </a:txBody>
                  <a:tcPr/>
                </a:tc>
                <a:extLst>
                  <a:ext uri="{0D108BD9-81ED-4DB2-BD59-A6C34878D82A}">
                    <a16:rowId xmlns:a16="http://schemas.microsoft.com/office/drawing/2014/main" val="10006"/>
                  </a:ext>
                </a:extLst>
              </a:tr>
              <a:tr h="370840">
                <a:tc>
                  <a:txBody>
                    <a:bodyPr/>
                    <a:lstStyle/>
                    <a:p>
                      <a:r>
                        <a:rPr lang="en-US" sz="1800">
                          <a:solidFill>
                            <a:schemeClr val="tx1"/>
                          </a:solidFill>
                          <a:latin typeface="Verdana" panose="020B0604030504040204" pitchFamily="34" charset="0"/>
                          <a:ea typeface="Verdana" panose="020B0604030504040204" pitchFamily="34" charset="0"/>
                        </a:rPr>
                        <a:t>Parth Solanki </a:t>
                      </a:r>
                      <a:endParaRPr lang="en-US" sz="1800" dirty="0">
                        <a:solidFill>
                          <a:schemeClr val="tx1"/>
                        </a:solidFill>
                        <a:latin typeface="Verdana" pitchFamily="34" charset="0"/>
                        <a:ea typeface="Verdana" pitchFamily="34" charset="0"/>
                      </a:endParaRPr>
                    </a:p>
                  </a:txBody>
                  <a:tcPr/>
                </a:tc>
                <a:tc>
                  <a:txBody>
                    <a:bodyPr/>
                    <a:lstStyle/>
                    <a:p>
                      <a:r>
                        <a:rPr lang="en-US" sz="1800">
                          <a:solidFill>
                            <a:schemeClr val="tx1"/>
                          </a:solidFill>
                          <a:latin typeface="Verdana" panose="020B0604030504040204" pitchFamily="34" charset="0"/>
                          <a:ea typeface="Verdana" panose="020B0604030504040204" pitchFamily="34" charset="0"/>
                        </a:rPr>
                        <a:t>25SC02081</a:t>
                      </a:r>
                      <a:endParaRPr lang="en-US" sz="1800" dirty="0">
                        <a:solidFill>
                          <a:schemeClr val="tx1"/>
                        </a:solidFill>
                        <a:latin typeface="Verdana" pitchFamily="34" charset="0"/>
                        <a:ea typeface="Verdana" pitchFamily="34" charset="0"/>
                      </a:endParaRPr>
                    </a:p>
                  </a:txBody>
                  <a:tcPr/>
                </a:tc>
                <a:tc>
                  <a:txBody>
                    <a:bodyPr/>
                    <a:lstStyle/>
                    <a:p>
                      <a:r>
                        <a:rPr lang="en-US" sz="1800" dirty="0">
                          <a:solidFill>
                            <a:schemeClr val="tx1"/>
                          </a:solidFill>
                          <a:latin typeface="Verdana" panose="020B0604030504040204" pitchFamily="34" charset="0"/>
                          <a:ea typeface="Verdana" panose="020B0604030504040204" pitchFamily="34" charset="0"/>
                        </a:rPr>
                        <a:t>Literature review and product development </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34187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02-05-2026</a:t>
            </a:fld>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IN" dirty="0">
                <a:solidFill>
                  <a:schemeClr val="tx1"/>
                </a:solidFill>
              </a:rPr>
              <a:t>Srishti Dewangan, life science </a:t>
            </a: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3</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solidFill>
                  <a:latin typeface="Verdana" pitchFamily="34" charset="0"/>
                  <a:ea typeface="Verdana" pitchFamily="34" charset="0"/>
                </a:rPr>
                <a:t>Ash Candle </a:t>
              </a: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21" name="TextBox 20">
            <a:extLst>
              <a:ext uri="{FF2B5EF4-FFF2-40B4-BE49-F238E27FC236}">
                <a16:creationId xmlns:a16="http://schemas.microsoft.com/office/drawing/2014/main" id="{BE335F3C-F428-ED87-64FD-52E602C87D5A}"/>
              </a:ext>
            </a:extLst>
          </p:cNvPr>
          <p:cNvSpPr txBox="1"/>
          <p:nvPr/>
        </p:nvSpPr>
        <p:spPr>
          <a:xfrm>
            <a:off x="604887" y="1237657"/>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Faculty Mentor</a:t>
            </a:r>
            <a:endParaRPr lang="en-IN" sz="2400" b="1" dirty="0">
              <a:latin typeface="Verdana" panose="020B0604030504040204" pitchFamily="34" charset="0"/>
              <a:ea typeface="Verdana" panose="020B0604030504040204" pitchFamily="34" charset="0"/>
            </a:endParaRPr>
          </a:p>
        </p:txBody>
      </p:sp>
      <p:graphicFrame>
        <p:nvGraphicFramePr>
          <p:cNvPr id="22" name="Content Placeholder 3"/>
          <p:cNvGraphicFramePr>
            <a:graphicFrameLocks/>
          </p:cNvGraphicFramePr>
          <p:nvPr>
            <p:extLst>
              <p:ext uri="{D42A27DB-BD31-4B8C-83A1-F6EECF244321}">
                <p14:modId xmlns:p14="http://schemas.microsoft.com/office/powerpoint/2010/main" val="759844860"/>
              </p:ext>
            </p:extLst>
          </p:nvPr>
        </p:nvGraphicFramePr>
        <p:xfrm>
          <a:off x="604887" y="2003003"/>
          <a:ext cx="10805304" cy="1097280"/>
        </p:xfrm>
        <a:graphic>
          <a:graphicData uri="http://schemas.openxmlformats.org/drawingml/2006/table">
            <a:tbl>
              <a:tblPr firstRow="1" bandRow="1">
                <a:tableStyleId>{5FD0F851-EC5A-4D38-B0AD-8093EC10F338}</a:tableStyleId>
              </a:tblPr>
              <a:tblGrid>
                <a:gridCol w="4211501">
                  <a:extLst>
                    <a:ext uri="{9D8B030D-6E8A-4147-A177-3AD203B41FA5}">
                      <a16:colId xmlns:a16="http://schemas.microsoft.com/office/drawing/2014/main" val="20000"/>
                    </a:ext>
                  </a:extLst>
                </a:gridCol>
                <a:gridCol w="2773425">
                  <a:extLst>
                    <a:ext uri="{9D8B030D-6E8A-4147-A177-3AD203B41FA5}">
                      <a16:colId xmlns:a16="http://schemas.microsoft.com/office/drawing/2014/main" val="20001"/>
                    </a:ext>
                  </a:extLst>
                </a:gridCol>
                <a:gridCol w="3820378">
                  <a:extLst>
                    <a:ext uri="{9D8B030D-6E8A-4147-A177-3AD203B41FA5}">
                      <a16:colId xmlns:a16="http://schemas.microsoft.com/office/drawing/2014/main" val="20002"/>
                    </a:ext>
                  </a:extLst>
                </a:gridCol>
              </a:tblGrid>
              <a:tr h="0">
                <a:tc>
                  <a:txBody>
                    <a:bodyPr/>
                    <a:lstStyle/>
                    <a:p>
                      <a:r>
                        <a:rPr lang="en-US" sz="2000" b="1" dirty="0">
                          <a:solidFill>
                            <a:schemeClr val="tx1"/>
                          </a:solidFill>
                          <a:effectLst/>
                          <a:latin typeface="Verdana" panose="020B0604030504040204" pitchFamily="34" charset="0"/>
                          <a:ea typeface="Verdana" panose="020B0604030504040204" pitchFamily="34" charset="0"/>
                        </a:rPr>
                        <a:t>Name</a:t>
                      </a:r>
                      <a:endParaRPr lang="en-US" sz="2000" b="1" dirty="0">
                        <a:solidFill>
                          <a:schemeClr val="tx1"/>
                        </a:solidFill>
                        <a:effectLst/>
                        <a:latin typeface="Verdana" pitchFamily="34" charset="0"/>
                        <a:ea typeface="Verdana" pitchFamily="34" charset="0"/>
                        <a:cs typeface="+mn-lt"/>
                      </a:endParaRPr>
                    </a:p>
                  </a:txBody>
                  <a:tcPr/>
                </a:tc>
                <a:tc>
                  <a:txBody>
                    <a:bodyPr/>
                    <a:lstStyle/>
                    <a:p>
                      <a:r>
                        <a:rPr lang="en-US" sz="2000" b="1" dirty="0">
                          <a:solidFill>
                            <a:schemeClr val="tx1"/>
                          </a:solidFill>
                          <a:effectLst/>
                          <a:latin typeface="Verdana" panose="020B0604030504040204" pitchFamily="34" charset="0"/>
                          <a:ea typeface="Verdana" panose="020B0604030504040204" pitchFamily="34" charset="0"/>
                        </a:rPr>
                        <a:t>Designation</a:t>
                      </a:r>
                      <a:endParaRPr lang="en-US" sz="2000" b="1" dirty="0">
                        <a:solidFill>
                          <a:schemeClr val="tx1"/>
                        </a:solidFill>
                        <a:effectLst/>
                        <a:latin typeface="Verdana" pitchFamily="34" charset="0"/>
                        <a:ea typeface="Verdana" pitchFamily="34" charset="0"/>
                        <a:cs typeface="+mn-lt"/>
                      </a:endParaRPr>
                    </a:p>
                  </a:txBody>
                  <a:tcPr/>
                </a:tc>
                <a:tc>
                  <a:txBody>
                    <a:bodyPr/>
                    <a:lstStyle/>
                    <a:p>
                      <a:r>
                        <a:rPr lang="en-US" sz="2000" b="1" dirty="0">
                          <a:solidFill>
                            <a:schemeClr val="tx1"/>
                          </a:solidFill>
                          <a:effectLst/>
                          <a:latin typeface="Verdana" panose="020B0604030504040204" pitchFamily="34" charset="0"/>
                          <a:ea typeface="Verdana" panose="020B0604030504040204" pitchFamily="34" charset="0"/>
                        </a:rPr>
                        <a:t>Department,</a:t>
                      </a:r>
                      <a:r>
                        <a:rPr lang="en-US" sz="2000" b="1" baseline="0" dirty="0">
                          <a:solidFill>
                            <a:schemeClr val="tx1"/>
                          </a:solidFill>
                          <a:effectLst/>
                          <a:latin typeface="Verdana" panose="020B0604030504040204" pitchFamily="34" charset="0"/>
                          <a:ea typeface="Verdana" panose="020B0604030504040204" pitchFamily="34" charset="0"/>
                        </a:rPr>
                        <a:t> School</a:t>
                      </a:r>
                      <a:endParaRPr lang="en-US" sz="2000" b="1" dirty="0">
                        <a:solidFill>
                          <a:schemeClr val="tx1"/>
                        </a:solidFill>
                        <a:effectLst/>
                        <a:latin typeface="Verdana" pitchFamily="34" charset="0"/>
                        <a:ea typeface="Verdana" pitchFamily="34" charset="0"/>
                        <a:cs typeface="+mn-lt"/>
                      </a:endParaRPr>
                    </a:p>
                  </a:txBody>
                  <a:tcPr/>
                </a:tc>
                <a:extLst>
                  <a:ext uri="{0D108BD9-81ED-4DB2-BD59-A6C34878D82A}">
                    <a16:rowId xmlns:a16="http://schemas.microsoft.com/office/drawing/2014/main" val="10000"/>
                  </a:ext>
                </a:extLst>
              </a:tr>
              <a:tr h="370840">
                <a:tc>
                  <a:txBody>
                    <a:bodyPr/>
                    <a:lstStyle/>
                    <a:p>
                      <a:r>
                        <a:rPr lang="en-US" sz="2000" dirty="0">
                          <a:solidFill>
                            <a:schemeClr val="tx1"/>
                          </a:solidFill>
                          <a:latin typeface="Verdana" panose="020B0604030504040204" pitchFamily="34" charset="0"/>
                          <a:ea typeface="Verdana" panose="020B0604030504040204" pitchFamily="34" charset="0"/>
                        </a:rPr>
                        <a:t>Ms. Khushbu Verma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Verdana" pitchFamily="34" charset="0"/>
                          <a:ea typeface="Verdana" pitchFamily="34" charset="0"/>
                        </a:rPr>
                        <a:t>Assistant professor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Verdana" pitchFamily="34" charset="0"/>
                          <a:ea typeface="Verdana" pitchFamily="34" charset="0"/>
                        </a:rPr>
                        <a:t>Life sciences, school of science</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66104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02-05-2026</a:t>
            </a:fld>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IN" dirty="0">
                <a:solidFill>
                  <a:schemeClr val="tx1"/>
                </a:solidFill>
              </a:rPr>
              <a:t>Srishti Dewangan, life science </a:t>
            </a: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4</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solidFill>
                  <a:latin typeface="Verdana" pitchFamily="34" charset="0"/>
                  <a:ea typeface="Verdana" pitchFamily="34" charset="0"/>
                </a:rPr>
                <a:t>Ash Candle </a:t>
              </a: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6247977"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Introduction of Tinkering Project</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450774" y="1726150"/>
            <a:ext cx="11072283" cy="1415067"/>
          </a:xfrm>
          <a:prstGeom prst="rect">
            <a:avLst/>
          </a:prstGeom>
          <a:noFill/>
        </p:spPr>
        <p:txBody>
          <a:bodyPr wrap="square" rtlCol="0">
            <a:spAutoFit/>
          </a:bodyPr>
          <a:lstStyle/>
          <a:p>
            <a:pPr>
              <a:lnSpc>
                <a:spcPct val="150000"/>
              </a:lnSpc>
            </a:pPr>
            <a:r>
              <a:rPr lang="en-GB" sz="2000" b="1" dirty="0">
                <a:latin typeface="Verdana" pitchFamily="34" charset="0"/>
                <a:ea typeface="Verdana" pitchFamily="34" charset="0"/>
                <a:cs typeface="Calibri"/>
                <a:sym typeface="Calibri"/>
              </a:rPr>
              <a:t>Title of Tinkering Project: </a:t>
            </a:r>
            <a:r>
              <a:rPr lang="en-GB" sz="2000" dirty="0" err="1">
                <a:latin typeface="Verdana" pitchFamily="34" charset="0"/>
                <a:ea typeface="Verdana" pitchFamily="34" charset="0"/>
                <a:cs typeface="Calibri"/>
                <a:sym typeface="Calibri"/>
              </a:rPr>
              <a:t>AgniAura</a:t>
            </a:r>
            <a:r>
              <a:rPr lang="en-GB" sz="2000" dirty="0">
                <a:latin typeface="Verdana" pitchFamily="34" charset="0"/>
                <a:ea typeface="Verdana" pitchFamily="34" charset="0"/>
                <a:cs typeface="Calibri"/>
                <a:sym typeface="Calibri"/>
              </a:rPr>
              <a:t> - ash candle </a:t>
            </a:r>
          </a:p>
          <a:p>
            <a:pPr>
              <a:lnSpc>
                <a:spcPct val="150000"/>
              </a:lnSpc>
            </a:pPr>
            <a:r>
              <a:rPr lang="en-GB" sz="2000" b="1" dirty="0">
                <a:latin typeface="Verdana" pitchFamily="34" charset="0"/>
                <a:ea typeface="Verdana" pitchFamily="34" charset="0"/>
                <a:cs typeface="Calibri"/>
                <a:sym typeface="Calibri"/>
              </a:rPr>
              <a:t>Sector: </a:t>
            </a:r>
            <a:r>
              <a:rPr lang="en-IN" sz="2000" b="1" dirty="0">
                <a:latin typeface="Verdana" pitchFamily="34" charset="0"/>
                <a:ea typeface="Verdana" pitchFamily="34" charset="0"/>
              </a:rPr>
              <a:t>: </a:t>
            </a:r>
            <a:r>
              <a:rPr lang="en-US" sz="2000" dirty="0">
                <a:latin typeface="Verdana" pitchFamily="34" charset="0"/>
                <a:ea typeface="Verdana" pitchFamily="34" charset="0"/>
              </a:rPr>
              <a:t>Waste Management and Greer Consumer Goods</a:t>
            </a:r>
            <a:endParaRPr lang="en-GB" sz="2000" b="1" dirty="0">
              <a:latin typeface="Verdana" pitchFamily="34" charset="0"/>
              <a:ea typeface="Verdana" pitchFamily="34" charset="0"/>
              <a:cs typeface="Calibri"/>
              <a:sym typeface="Calibri"/>
            </a:endParaRPr>
          </a:p>
          <a:p>
            <a:pPr>
              <a:lnSpc>
                <a:spcPct val="150000"/>
              </a:lnSpc>
            </a:pPr>
            <a:r>
              <a:rPr lang="en-GB" sz="2000" b="1" dirty="0">
                <a:latin typeface="Verdana" pitchFamily="34" charset="0"/>
                <a:ea typeface="Verdana" pitchFamily="34" charset="0"/>
                <a:cs typeface="Calibri"/>
                <a:sym typeface="Calibri"/>
              </a:rPr>
              <a:t>Brief:</a:t>
            </a:r>
          </a:p>
        </p:txBody>
      </p:sp>
      <p:graphicFrame>
        <p:nvGraphicFramePr>
          <p:cNvPr id="6" name="Table 5">
            <a:extLst>
              <a:ext uri="{FF2B5EF4-FFF2-40B4-BE49-F238E27FC236}">
                <a16:creationId xmlns:a16="http://schemas.microsoft.com/office/drawing/2014/main" id="{423D8123-C97E-ED4B-CEA1-DFE768083859}"/>
              </a:ext>
            </a:extLst>
          </p:cNvPr>
          <p:cNvGraphicFramePr>
            <a:graphicFrameLocks noGrp="1"/>
          </p:cNvGraphicFramePr>
          <p:nvPr>
            <p:extLst>
              <p:ext uri="{D42A27DB-BD31-4B8C-83A1-F6EECF244321}">
                <p14:modId xmlns:p14="http://schemas.microsoft.com/office/powerpoint/2010/main" val="1639877840"/>
              </p:ext>
            </p:extLst>
          </p:nvPr>
        </p:nvGraphicFramePr>
        <p:xfrm>
          <a:off x="450774" y="3141217"/>
          <a:ext cx="10806508" cy="1950720"/>
        </p:xfrm>
        <a:graphic>
          <a:graphicData uri="http://schemas.openxmlformats.org/drawingml/2006/table">
            <a:tbl>
              <a:tblPr firstRow="1" bandRow="1">
                <a:tableStyleId>{BDBED569-4797-4DF1-A0F4-6AAB3CD982D8}</a:tableStyleId>
              </a:tblPr>
              <a:tblGrid>
                <a:gridCol w="2701627">
                  <a:extLst>
                    <a:ext uri="{9D8B030D-6E8A-4147-A177-3AD203B41FA5}">
                      <a16:colId xmlns:a16="http://schemas.microsoft.com/office/drawing/2014/main" val="1313688370"/>
                    </a:ext>
                  </a:extLst>
                </a:gridCol>
                <a:gridCol w="2701627">
                  <a:extLst>
                    <a:ext uri="{9D8B030D-6E8A-4147-A177-3AD203B41FA5}">
                      <a16:colId xmlns:a16="http://schemas.microsoft.com/office/drawing/2014/main" val="3485924481"/>
                    </a:ext>
                  </a:extLst>
                </a:gridCol>
                <a:gridCol w="2701627">
                  <a:extLst>
                    <a:ext uri="{9D8B030D-6E8A-4147-A177-3AD203B41FA5}">
                      <a16:colId xmlns:a16="http://schemas.microsoft.com/office/drawing/2014/main" val="684352366"/>
                    </a:ext>
                  </a:extLst>
                </a:gridCol>
                <a:gridCol w="2701627">
                  <a:extLst>
                    <a:ext uri="{9D8B030D-6E8A-4147-A177-3AD203B41FA5}">
                      <a16:colId xmlns:a16="http://schemas.microsoft.com/office/drawing/2014/main" val="62293839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sym typeface="Verdana Bold"/>
                        </a:rPr>
                        <a:t>Background of the project</a:t>
                      </a:r>
                      <a:endParaRPr lang="en-US" sz="1200" dirty="0">
                        <a:solidFill>
                          <a:schemeClr val="tx1"/>
                        </a:solidFill>
                        <a:latin typeface="Verdana" panose="020B0604030504040204" pitchFamily="34" charset="0"/>
                        <a:ea typeface="Verdana" panose="020B060403050404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sym typeface="Verdana Bold"/>
                        </a:rPr>
                        <a:t>Problem statement </a:t>
                      </a:r>
                      <a:endParaRPr lang="en-US" sz="1200" dirty="0">
                        <a:solidFill>
                          <a:schemeClr val="tx1"/>
                        </a:solidFill>
                        <a:latin typeface="Verdana" panose="020B0604030504040204" pitchFamily="34" charset="0"/>
                        <a:ea typeface="Verdana" panose="020B060403050404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sym typeface="Verdana Bold"/>
                        </a:rPr>
                        <a:t>Department, School</a:t>
                      </a:r>
                      <a:endParaRPr lang="en-US" sz="1200" dirty="0">
                        <a:solidFill>
                          <a:schemeClr val="tx1"/>
                        </a:solidFill>
                        <a:latin typeface="Verdana" panose="020B0604030504040204" pitchFamily="34" charset="0"/>
                        <a:ea typeface="Verdana" panose="020B060403050404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sym typeface="Verdana Bold"/>
                        </a:rPr>
                        <a:t>Importance/Relevance of the problem </a:t>
                      </a:r>
                      <a:endParaRPr lang="en-US" sz="1200" dirty="0">
                        <a:solidFill>
                          <a:schemeClr val="tx1"/>
                        </a:solidFill>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3539016044"/>
                  </a:ext>
                </a:extLst>
              </a:tr>
              <a:tr h="370840">
                <a:tc>
                  <a:txBody>
                    <a:bodyPr/>
                    <a:lstStyle/>
                    <a:p>
                      <a:pPr algn="just"/>
                      <a:r>
                        <a:rPr lang="en-IN" sz="1600" dirty="0">
                          <a:solidFill>
                            <a:schemeClr val="tx1"/>
                          </a:solidFill>
                        </a:rPr>
                        <a:t>To make </a:t>
                      </a:r>
                      <a:r>
                        <a:rPr lang="en-IN" sz="1600" dirty="0" err="1">
                          <a:solidFill>
                            <a:schemeClr val="tx1"/>
                          </a:solidFill>
                        </a:rPr>
                        <a:t>asthesthetic</a:t>
                      </a:r>
                      <a:r>
                        <a:rPr lang="en-IN" sz="1600" dirty="0">
                          <a:solidFill>
                            <a:schemeClr val="tx1"/>
                          </a:solidFill>
                        </a:rPr>
                        <a:t> low </a:t>
                      </a:r>
                      <a:r>
                        <a:rPr lang="en-IN" sz="1600" dirty="0" err="1">
                          <a:solidFill>
                            <a:schemeClr val="tx1"/>
                          </a:solidFill>
                        </a:rPr>
                        <a:t>buget</a:t>
                      </a:r>
                      <a:r>
                        <a:rPr lang="en-IN" sz="1600" dirty="0">
                          <a:solidFill>
                            <a:schemeClr val="tx1"/>
                          </a:solidFill>
                        </a:rPr>
                        <a:t> candle from </a:t>
                      </a:r>
                      <a:r>
                        <a:rPr lang="en-IN" sz="1600" dirty="0" err="1">
                          <a:solidFill>
                            <a:schemeClr val="tx1"/>
                          </a:solidFill>
                        </a:rPr>
                        <a:t>agarbatti</a:t>
                      </a:r>
                      <a:r>
                        <a:rPr lang="en-IN" sz="1600" dirty="0">
                          <a:solidFill>
                            <a:schemeClr val="tx1"/>
                          </a:solidFill>
                        </a:rPr>
                        <a:t> ash, wax for room decorators, mosquito repellent and make room aromatic </a:t>
                      </a:r>
                      <a:endParaRPr lang="en-IN" sz="1600" dirty="0">
                        <a:solidFill>
                          <a:schemeClr val="tx1"/>
                        </a:solidFill>
                        <a:latin typeface="Verdana" panose="020B0604030504040204" pitchFamily="34" charset="0"/>
                        <a:ea typeface="Verdana" panose="020B0604030504040204" pitchFamily="34" charset="0"/>
                      </a:endParaRPr>
                    </a:p>
                  </a:txBody>
                  <a:tcPr/>
                </a:tc>
                <a:tc>
                  <a:txBody>
                    <a:bodyPr/>
                    <a:lstStyle/>
                    <a:p>
                      <a:pPr algn="just"/>
                      <a:r>
                        <a:rPr lang="en-IN" sz="1600" dirty="0">
                          <a:solidFill>
                            <a:schemeClr val="tx1"/>
                          </a:solidFill>
                        </a:rPr>
                        <a:t>All the ashes are thrown in the water body which may cause the damage to the </a:t>
                      </a:r>
                      <a:r>
                        <a:rPr lang="en-IN" sz="1600" dirty="0" err="1">
                          <a:solidFill>
                            <a:schemeClr val="tx1"/>
                          </a:solidFill>
                        </a:rPr>
                        <a:t>marign</a:t>
                      </a:r>
                      <a:r>
                        <a:rPr lang="en-IN" sz="1600" dirty="0">
                          <a:solidFill>
                            <a:schemeClr val="tx1"/>
                          </a:solidFill>
                        </a:rPr>
                        <a:t> environment </a:t>
                      </a:r>
                      <a:endParaRPr lang="en-IN" sz="1600" dirty="0">
                        <a:solidFill>
                          <a:schemeClr val="tx1"/>
                        </a:solidFill>
                        <a:latin typeface="Verdana" panose="020B0604030504040204" pitchFamily="34" charset="0"/>
                        <a:ea typeface="Verdana" panose="020B0604030504040204" pitchFamily="34" charset="0"/>
                      </a:endParaRPr>
                    </a:p>
                  </a:txBody>
                  <a:tcPr/>
                </a:tc>
                <a:tc>
                  <a:txBody>
                    <a:bodyPr/>
                    <a:lstStyle/>
                    <a:p>
                      <a:pPr algn="just"/>
                      <a:r>
                        <a:rPr lang="en-IN" sz="1600" dirty="0">
                          <a:solidFill>
                            <a:schemeClr val="tx1"/>
                          </a:solidFill>
                        </a:rPr>
                        <a:t>Help in waste management Recycling from old scratch low cost design, eco friendly, made from scratch</a:t>
                      </a:r>
                      <a:endParaRPr lang="en-IN" sz="1600" dirty="0">
                        <a:solidFill>
                          <a:schemeClr val="tx1"/>
                        </a:solidFill>
                        <a:latin typeface="Verdana" panose="020B0604030504040204" pitchFamily="34" charset="0"/>
                        <a:ea typeface="Verdana" panose="020B0604030504040204" pitchFamily="34" charset="0"/>
                      </a:endParaRPr>
                    </a:p>
                  </a:txBody>
                  <a:tcPr/>
                </a:tc>
                <a:tc>
                  <a:txBody>
                    <a:bodyPr/>
                    <a:lstStyle/>
                    <a:p>
                      <a:pPr algn="just"/>
                      <a:r>
                        <a:rPr lang="en-IN" sz="1600" dirty="0">
                          <a:solidFill>
                            <a:schemeClr val="tx1"/>
                          </a:solidFill>
                        </a:rPr>
                        <a:t>Make the room decorative, repel mosquito, long lasting candles, pleasing smell </a:t>
                      </a:r>
                      <a:endParaRPr lang="en-IN" sz="1600" dirty="0">
                        <a:solidFill>
                          <a:schemeClr val="tx1"/>
                        </a:solidFill>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1018654426"/>
                  </a:ext>
                </a:extLst>
              </a:tr>
            </a:tbl>
          </a:graphicData>
        </a:graphic>
      </p:graphicFrame>
    </p:spTree>
    <p:extLst>
      <p:ext uri="{BB962C8B-B14F-4D97-AF65-F5344CB8AC3E}">
        <p14:creationId xmlns:p14="http://schemas.microsoft.com/office/powerpoint/2010/main" val="1774750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02-05-2026</a:t>
            </a:fld>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IN" dirty="0">
                <a:solidFill>
                  <a:schemeClr val="tx1"/>
                </a:solidFill>
              </a:rPr>
              <a:t>Srishti Dewangan, life science </a:t>
            </a: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5</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solidFill>
                  <a:latin typeface="Verdana" pitchFamily="34" charset="0"/>
                  <a:ea typeface="Verdana" pitchFamily="34" charset="0"/>
                </a:rPr>
                <a:t>Ash Candle </a:t>
              </a: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6587024"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Methodology and Tinkering Process</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450774" y="1335088"/>
            <a:ext cx="11072283" cy="4801314"/>
          </a:xfrm>
          <a:prstGeom prst="rect">
            <a:avLst/>
          </a:prstGeom>
          <a:noFill/>
        </p:spPr>
        <p:txBody>
          <a:bodyPr wrap="square" rtlCol="0">
            <a:spAutoFit/>
          </a:bodyPr>
          <a:lstStyle/>
          <a:p>
            <a:pPr algn="just"/>
            <a:r>
              <a:rPr lang="en-US" b="1" dirty="0">
                <a:latin typeface="Verdana" panose="020B0604030504040204" pitchFamily="34" charset="0"/>
                <a:ea typeface="Verdana" panose="020B0604030504040204" pitchFamily="34" charset="0"/>
              </a:rPr>
              <a:t>1. Project Approach</a:t>
            </a:r>
          </a:p>
          <a:p>
            <a:pPr algn="just"/>
            <a:r>
              <a:rPr lang="en-US" dirty="0">
                <a:latin typeface="Verdana" panose="020B0604030504040204" pitchFamily="34" charset="0"/>
                <a:ea typeface="Verdana" panose="020B0604030504040204" pitchFamily="34" charset="0"/>
              </a:rPr>
              <a:t>The project aims to develop eco-friendly ash-based candles by converting waste ash into a sustainable decorative product. The methodology includes collection and processing of ash, mixing with suitable wax materials, prototype development, performance testing (burn time, smoke emission, stability), and refinement of the product for commercial readiness.</a:t>
            </a:r>
          </a:p>
          <a:p>
            <a:pPr algn="just"/>
            <a:endParaRPr lang="en-US" dirty="0">
              <a:latin typeface="Verdana" panose="020B0604030504040204" pitchFamily="34" charset="0"/>
              <a:ea typeface="Verdana" panose="020B0604030504040204" pitchFamily="34" charset="0"/>
            </a:endParaRPr>
          </a:p>
          <a:p>
            <a:pPr algn="just"/>
            <a:r>
              <a:rPr lang="en-US" b="1" dirty="0">
                <a:latin typeface="Verdana" panose="020B0604030504040204" pitchFamily="34" charset="0"/>
                <a:ea typeface="Verdana" panose="020B0604030504040204" pitchFamily="34" charset="0"/>
              </a:rPr>
              <a:t>2. The Tinkering Journey (Iterative Process)</a:t>
            </a:r>
          </a:p>
          <a:p>
            <a:pPr algn="just"/>
            <a:r>
              <a:rPr lang="en-US" dirty="0">
                <a:latin typeface="Verdana" panose="020B0604030504040204" pitchFamily="34" charset="0"/>
                <a:ea typeface="Verdana" panose="020B0604030504040204" pitchFamily="34" charset="0"/>
              </a:rPr>
              <a:t>The project follows an iterative experimentation process. Multiple prototypes will be prepared by varying ash composition, wax type, and wick size. Each prototype will be tested and analyzed, and improvements will be made based on observations until an optimized and standardized product formulation is achieved.</a:t>
            </a:r>
          </a:p>
          <a:p>
            <a:pPr algn="just"/>
            <a:endParaRPr lang="en-US" dirty="0">
              <a:latin typeface="Verdana" panose="020B0604030504040204" pitchFamily="34" charset="0"/>
              <a:ea typeface="Verdana" panose="020B0604030504040204" pitchFamily="34" charset="0"/>
            </a:endParaRPr>
          </a:p>
          <a:p>
            <a:pPr algn="just"/>
            <a:r>
              <a:rPr lang="en-US" b="1" dirty="0">
                <a:latin typeface="Verdana" panose="020B0604030504040204" pitchFamily="34" charset="0"/>
                <a:ea typeface="Verdana" panose="020B0604030504040204" pitchFamily="34" charset="0"/>
              </a:rPr>
              <a:t>3. Role of Mentoring in the Process</a:t>
            </a:r>
          </a:p>
          <a:p>
            <a:pPr algn="just"/>
            <a:r>
              <a:rPr lang="en-US" dirty="0">
                <a:latin typeface="Verdana" panose="020B0604030504040204" pitchFamily="34" charset="0"/>
                <a:ea typeface="Verdana" panose="020B0604030504040204" pitchFamily="34" charset="0"/>
              </a:rPr>
              <a:t>Mentors will guide technical development, product optimization, and startup planning. Faculty mentors will assist in material selection and testing, while incubation mentors will support business modeling, market validation, and commercialization strategies to align the project with innovation and entrepreneurship goals.</a:t>
            </a:r>
          </a:p>
        </p:txBody>
      </p:sp>
    </p:spTree>
    <p:extLst>
      <p:ext uri="{BB962C8B-B14F-4D97-AF65-F5344CB8AC3E}">
        <p14:creationId xmlns:p14="http://schemas.microsoft.com/office/powerpoint/2010/main" val="4101954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02-05-2026</a:t>
            </a:fld>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IN" dirty="0">
                <a:solidFill>
                  <a:schemeClr val="tx1"/>
                </a:solidFill>
              </a:rPr>
              <a:t>Srishti Dewangan, life science </a:t>
            </a: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6</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solidFill>
                  <a:latin typeface="Verdana" pitchFamily="34" charset="0"/>
                  <a:ea typeface="Verdana" pitchFamily="34" charset="0"/>
                </a:rPr>
                <a:t>Ash Candle </a:t>
              </a: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10994322" cy="461665"/>
          </a:xfrm>
          <a:prstGeom prst="rect">
            <a:avLst/>
          </a:prstGeom>
          <a:noFill/>
        </p:spPr>
        <p:txBody>
          <a:bodyPr wrap="square" rtlCol="0">
            <a:spAutoFit/>
          </a:bodyPr>
          <a:lstStyle/>
          <a:p>
            <a:r>
              <a:rPr lang="en-GB" sz="2400" b="1" dirty="0">
                <a:latin typeface="Verdana" panose="020B0604030504040204" pitchFamily="34" charset="0"/>
                <a:ea typeface="Verdana" panose="020B0604030504040204" pitchFamily="34" charset="0"/>
              </a:rPr>
              <a:t>Tools and Technology Used</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450774" y="1698638"/>
            <a:ext cx="4922849" cy="4247317"/>
          </a:xfrm>
          <a:prstGeom prst="rect">
            <a:avLst/>
          </a:prstGeom>
          <a:noFill/>
        </p:spPr>
        <p:txBody>
          <a:bodyPr wrap="square" rtlCol="0">
            <a:spAutoFit/>
          </a:bodyPr>
          <a:lstStyle/>
          <a:p>
            <a:pPr marL="342900" indent="-342900" algn="just">
              <a:buFont typeface="Wingdings" panose="05000000000000000000" pitchFamily="2" charset="2"/>
              <a:buChar char="§"/>
            </a:pPr>
            <a:r>
              <a:rPr lang="en-IN" dirty="0">
                <a:latin typeface="Verdana" panose="020B0604030504040204" pitchFamily="34" charset="0"/>
                <a:ea typeface="Verdana" panose="020B0604030504040204" pitchFamily="34" charset="0"/>
              </a:rPr>
              <a:t>Wax Melting Unit / Double Boiler: Controlled melting of wax.</a:t>
            </a:r>
          </a:p>
          <a:p>
            <a:pPr marL="342900" indent="-342900" algn="just">
              <a:buFont typeface="Wingdings" panose="05000000000000000000" pitchFamily="2" charset="2"/>
              <a:buChar char="§"/>
            </a:pPr>
            <a:r>
              <a:rPr lang="en-IN" dirty="0">
                <a:latin typeface="Verdana" panose="020B0604030504040204" pitchFamily="34" charset="0"/>
                <a:ea typeface="Verdana" panose="020B0604030504040204" pitchFamily="34" charset="0"/>
              </a:rPr>
              <a:t>Sieving &amp; Filtration Setup: Purification of ash particles.</a:t>
            </a:r>
          </a:p>
          <a:p>
            <a:pPr marL="342900" indent="-342900" algn="just">
              <a:buFont typeface="Wingdings" panose="05000000000000000000" pitchFamily="2" charset="2"/>
              <a:buChar char="§"/>
            </a:pPr>
            <a:r>
              <a:rPr lang="en-IN" dirty="0">
                <a:latin typeface="Verdana" panose="020B0604030504040204" pitchFamily="34" charset="0"/>
                <a:ea typeface="Verdana" panose="020B0604030504040204" pitchFamily="34" charset="0"/>
              </a:rPr>
              <a:t>Mixing Equipment: Uniform blending of ash and wax.</a:t>
            </a:r>
          </a:p>
          <a:p>
            <a:pPr marL="342900" indent="-342900" algn="just">
              <a:buFont typeface="Wingdings" panose="05000000000000000000" pitchFamily="2" charset="2"/>
              <a:buChar char="§"/>
            </a:pPr>
            <a:r>
              <a:rPr lang="en-IN" dirty="0">
                <a:latin typeface="Verdana" panose="020B0604030504040204" pitchFamily="34" charset="0"/>
                <a:ea typeface="Verdana" panose="020B0604030504040204" pitchFamily="34" charset="0"/>
              </a:rPr>
              <a:t>Candle Molds: Shaping standardized candle prototypes.</a:t>
            </a:r>
          </a:p>
          <a:p>
            <a:pPr marL="342900" indent="-342900" algn="just">
              <a:buFont typeface="Wingdings" panose="05000000000000000000" pitchFamily="2" charset="2"/>
              <a:buChar char="§"/>
            </a:pPr>
            <a:r>
              <a:rPr lang="en-IN" dirty="0">
                <a:latin typeface="Verdana" panose="020B0604030504040204" pitchFamily="34" charset="0"/>
                <a:ea typeface="Verdana" panose="020B0604030504040204" pitchFamily="34" charset="0"/>
              </a:rPr>
              <a:t>Wick Centering Tools: Ensures uniform burning performance.</a:t>
            </a:r>
          </a:p>
          <a:p>
            <a:pPr marL="342900" indent="-342900" algn="just">
              <a:buFont typeface="Wingdings" panose="05000000000000000000" pitchFamily="2" charset="2"/>
              <a:buChar char="§"/>
            </a:pPr>
            <a:r>
              <a:rPr lang="en-IN" dirty="0">
                <a:latin typeface="Verdana" panose="020B0604030504040204" pitchFamily="34" charset="0"/>
                <a:ea typeface="Verdana" panose="020B0604030504040204" pitchFamily="34" charset="0"/>
              </a:rPr>
              <a:t>Temperature Control Tools: Maintains proper processing conditions.</a:t>
            </a:r>
          </a:p>
          <a:p>
            <a:pPr marL="342900" indent="-342900" algn="just">
              <a:buFont typeface="Wingdings" panose="05000000000000000000" pitchFamily="2" charset="2"/>
              <a:buChar char="§"/>
            </a:pPr>
            <a:r>
              <a:rPr lang="en-IN" dirty="0">
                <a:latin typeface="Verdana" panose="020B0604030504040204" pitchFamily="34" charset="0"/>
                <a:ea typeface="Verdana" panose="020B0604030504040204" pitchFamily="34" charset="0"/>
              </a:rPr>
              <a:t>Testing Methods: Burn time, smoke emission, and product quality evaluation.</a:t>
            </a:r>
          </a:p>
        </p:txBody>
      </p:sp>
      <p:pic>
        <p:nvPicPr>
          <p:cNvPr id="3" name="Picture 2">
            <a:extLst>
              <a:ext uri="{FF2B5EF4-FFF2-40B4-BE49-F238E27FC236}">
                <a16:creationId xmlns:a16="http://schemas.microsoft.com/office/drawing/2014/main" id="{D5157E98-832B-2CC7-86B3-AA6D3C3C670A}"/>
              </a:ext>
            </a:extLst>
          </p:cNvPr>
          <p:cNvPicPr>
            <a:picLocks noChangeAspect="1"/>
          </p:cNvPicPr>
          <p:nvPr/>
        </p:nvPicPr>
        <p:blipFill>
          <a:blip r:embed="rId4"/>
          <a:stretch>
            <a:fillRect/>
          </a:stretch>
        </p:blipFill>
        <p:spPr>
          <a:xfrm>
            <a:off x="5913450" y="1361987"/>
            <a:ext cx="5827776" cy="38827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569065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02-05-2026</a:t>
            </a:fld>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IN" dirty="0">
                <a:solidFill>
                  <a:schemeClr val="tx1"/>
                </a:solidFill>
              </a:rPr>
              <a:t>Srishti Dewangan, life science </a:t>
            </a: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7</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solidFill>
                  <a:latin typeface="Verdana" pitchFamily="34" charset="0"/>
                  <a:ea typeface="Verdana" pitchFamily="34" charset="0"/>
                </a:rPr>
                <a:t>Ash Candle </a:t>
              </a: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6874700"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Project Outcome &amp; Development</a:t>
            </a:r>
            <a:endParaRPr lang="en-IN" sz="2400" b="1" dirty="0">
              <a:latin typeface="Verdana" panose="020B0604030504040204" pitchFamily="34" charset="0"/>
              <a:ea typeface="Verdana" panose="020B0604030504040204" pitchFamily="34" charset="0"/>
            </a:endParaRPr>
          </a:p>
        </p:txBody>
      </p:sp>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05066" y="209068"/>
            <a:ext cx="1136330" cy="360000"/>
          </a:xfrm>
          <a:prstGeom prst="rect">
            <a:avLst/>
          </a:prstGeom>
        </p:spPr>
      </p:pic>
      <p:sp>
        <p:nvSpPr>
          <p:cNvPr id="5" name="TextBox 4">
            <a:extLst>
              <a:ext uri="{FF2B5EF4-FFF2-40B4-BE49-F238E27FC236}">
                <a16:creationId xmlns:a16="http://schemas.microsoft.com/office/drawing/2014/main" id="{2AE06AB4-E021-32F5-92D3-AC10264C80CB}"/>
              </a:ext>
            </a:extLst>
          </p:cNvPr>
          <p:cNvSpPr txBox="1"/>
          <p:nvPr/>
        </p:nvSpPr>
        <p:spPr>
          <a:xfrm>
            <a:off x="450774" y="1570581"/>
            <a:ext cx="11072283" cy="4093428"/>
          </a:xfrm>
          <a:prstGeom prst="rect">
            <a:avLst/>
          </a:prstGeom>
          <a:noFill/>
        </p:spPr>
        <p:txBody>
          <a:bodyPr wrap="square" rtlCol="0">
            <a:spAutoFit/>
          </a:bodyPr>
          <a:lstStyle/>
          <a:p>
            <a:pPr algn="just"/>
            <a:r>
              <a:rPr lang="en-US" sz="2000" b="1" dirty="0">
                <a:latin typeface="Verdana" panose="020B0604030504040204" pitchFamily="34" charset="0"/>
                <a:ea typeface="Verdana" panose="020B0604030504040204" pitchFamily="34" charset="0"/>
              </a:rPr>
              <a:t>Project Outcome &amp; Development, Use Case</a:t>
            </a:r>
          </a:p>
          <a:p>
            <a:pPr algn="just"/>
            <a:r>
              <a:rPr lang="en-US" sz="2000" b="1" dirty="0">
                <a:latin typeface="Verdana" panose="020B0604030504040204" pitchFamily="34" charset="0"/>
                <a:ea typeface="Verdana" panose="020B0604030504040204" pitchFamily="34" charset="0"/>
              </a:rPr>
              <a:t>Description of Developed Outcome (Prototype/Model)</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An eco-friendly ash-based candle prototype developed using recycled ash blended with wax and natural additives. The product demonstrates sustainable waste utilization while ensuring aesthetic appearance, stable burning performance, and commercial suitability as a decorative and wellness candle.</a:t>
            </a:r>
          </a:p>
          <a:p>
            <a:pPr algn="just"/>
            <a:r>
              <a:rPr lang="en-US" sz="2000" b="1" dirty="0">
                <a:latin typeface="Verdana" panose="020B0604030504040204" pitchFamily="34" charset="0"/>
                <a:ea typeface="Verdana" panose="020B0604030504040204" pitchFamily="34" charset="0"/>
              </a:rPr>
              <a:t>Development Process</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Collection, drying, and sieving of ash. </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Selection of appropriate wax and wick. </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Preparation of ash-wax mixture and mold casting. </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Controlled cooling for prototype formation. </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Testing for burn time, smoke emission, and structural stability. </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Iterative refinement based on testing outcomes. </a:t>
            </a:r>
          </a:p>
        </p:txBody>
      </p:sp>
    </p:spTree>
    <p:extLst>
      <p:ext uri="{BB962C8B-B14F-4D97-AF65-F5344CB8AC3E}">
        <p14:creationId xmlns:p14="http://schemas.microsoft.com/office/powerpoint/2010/main" val="177475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DC437-7C82-8FCA-21B6-50867DE38474}"/>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B3F70D64-4B73-1964-612E-A1AE0E18C729}"/>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5566DD4A-5A77-2355-077E-66586DBF4426}"/>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CAEF2E25-A142-2680-1D59-F1D8CDFB8124}"/>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9165AA10-3BB4-6225-51A9-B8554226B226}"/>
              </a:ext>
            </a:extLst>
          </p:cNvPr>
          <p:cNvSpPr>
            <a:spLocks noGrp="1"/>
          </p:cNvSpPr>
          <p:nvPr>
            <p:ph type="dt" sz="half" idx="10"/>
          </p:nvPr>
        </p:nvSpPr>
        <p:spPr/>
        <p:txBody>
          <a:bodyPr/>
          <a:lstStyle/>
          <a:p>
            <a:fld id="{C4FB4142-13AA-4D01-9CC5-D9549F251D01}" type="datetime1">
              <a:rPr lang="en-IN" smtClean="0">
                <a:solidFill>
                  <a:schemeClr val="tx1"/>
                </a:solidFill>
              </a:rPr>
              <a:t>02-05-2026</a:t>
            </a:fld>
            <a:endParaRPr lang="en-IN" dirty="0">
              <a:solidFill>
                <a:schemeClr val="tx1"/>
              </a:solidFill>
            </a:endParaRPr>
          </a:p>
        </p:txBody>
      </p:sp>
      <p:sp>
        <p:nvSpPr>
          <p:cNvPr id="9" name="Footer Placeholder 8">
            <a:extLst>
              <a:ext uri="{FF2B5EF4-FFF2-40B4-BE49-F238E27FC236}">
                <a16:creationId xmlns:a16="http://schemas.microsoft.com/office/drawing/2014/main" id="{16EAE69A-52D7-0CD1-C460-457C70DF04BD}"/>
              </a:ext>
            </a:extLst>
          </p:cNvPr>
          <p:cNvSpPr>
            <a:spLocks noGrp="1"/>
          </p:cNvSpPr>
          <p:nvPr>
            <p:ph type="ftr" sz="quarter" idx="11"/>
          </p:nvPr>
        </p:nvSpPr>
        <p:spPr/>
        <p:txBody>
          <a:bodyPr/>
          <a:lstStyle/>
          <a:p>
            <a:r>
              <a:rPr lang="en-IN" dirty="0">
                <a:solidFill>
                  <a:schemeClr val="tx1"/>
                </a:solidFill>
              </a:rPr>
              <a:t>Srishti Dewangan, life science </a:t>
            </a:r>
          </a:p>
        </p:txBody>
      </p:sp>
      <p:sp>
        <p:nvSpPr>
          <p:cNvPr id="11" name="Slide Number Placeholder 10">
            <a:extLst>
              <a:ext uri="{FF2B5EF4-FFF2-40B4-BE49-F238E27FC236}">
                <a16:creationId xmlns:a16="http://schemas.microsoft.com/office/drawing/2014/main" id="{5FB0517B-26D5-37C3-C2C7-232FEBADD431}"/>
              </a:ext>
            </a:extLst>
          </p:cNvPr>
          <p:cNvSpPr>
            <a:spLocks noGrp="1"/>
          </p:cNvSpPr>
          <p:nvPr>
            <p:ph type="sldNum" sz="quarter" idx="12"/>
          </p:nvPr>
        </p:nvSpPr>
        <p:spPr/>
        <p:txBody>
          <a:bodyPr/>
          <a:lstStyle/>
          <a:p>
            <a:fld id="{C9EED798-B2B7-453D-A02A-83F1CBF01642}" type="slidenum">
              <a:rPr lang="en-IN" smtClean="0">
                <a:solidFill>
                  <a:schemeClr val="tx1"/>
                </a:solidFill>
              </a:rPr>
              <a:t>8</a:t>
            </a:fld>
            <a:endParaRPr lang="en-IN" dirty="0">
              <a:solidFill>
                <a:schemeClr val="tx1"/>
              </a:solidFill>
            </a:endParaRPr>
          </a:p>
        </p:txBody>
      </p:sp>
      <p:grpSp>
        <p:nvGrpSpPr>
          <p:cNvPr id="20" name="Group 19">
            <a:extLst>
              <a:ext uri="{FF2B5EF4-FFF2-40B4-BE49-F238E27FC236}">
                <a16:creationId xmlns:a16="http://schemas.microsoft.com/office/drawing/2014/main" id="{6E480D3F-3C8F-DF6B-7AC7-0C93B6E3BAED}"/>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31249390-C5BA-C2EA-FF92-AC148CED071E}"/>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35605A85-160B-08BD-E9C5-AA029BC3C7C9}"/>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solidFill>
                  <a:latin typeface="Verdana" pitchFamily="34" charset="0"/>
                  <a:ea typeface="Verdana" pitchFamily="34" charset="0"/>
                </a:rPr>
                <a:t>Ash Candle </a:t>
              </a:r>
            </a:p>
          </p:txBody>
        </p:sp>
        <p:grpSp>
          <p:nvGrpSpPr>
            <p:cNvPr id="15" name="Group 14">
              <a:extLst>
                <a:ext uri="{FF2B5EF4-FFF2-40B4-BE49-F238E27FC236}">
                  <a16:creationId xmlns:a16="http://schemas.microsoft.com/office/drawing/2014/main" id="{0DAB7FEF-8FF2-EEB6-D394-9C5E87F4ED15}"/>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8D635913-44ED-5E54-368E-DD83753E163E}"/>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462BAED6-A334-4DCC-6697-CCF1016038A4}"/>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4" name="TextBox 3">
            <a:extLst>
              <a:ext uri="{FF2B5EF4-FFF2-40B4-BE49-F238E27FC236}">
                <a16:creationId xmlns:a16="http://schemas.microsoft.com/office/drawing/2014/main" id="{5D5B0AE1-205B-D3CA-3447-135C4B07F662}"/>
              </a:ext>
            </a:extLst>
          </p:cNvPr>
          <p:cNvSpPr txBox="1"/>
          <p:nvPr/>
        </p:nvSpPr>
        <p:spPr>
          <a:xfrm>
            <a:off x="670560" y="1147879"/>
            <a:ext cx="6096000" cy="523220"/>
          </a:xfrm>
          <a:prstGeom prst="rect">
            <a:avLst/>
          </a:prstGeom>
          <a:noFill/>
        </p:spPr>
        <p:txBody>
          <a:bodyPr wrap="square">
            <a:spAutoFit/>
          </a:bodyPr>
          <a:lstStyle/>
          <a:p>
            <a:r>
              <a:rPr lang="en-IN" sz="2800" b="1" dirty="0">
                <a:latin typeface="Verdana" panose="020B0604030504040204" pitchFamily="34" charset="0"/>
                <a:ea typeface="Verdana" panose="020B0604030504040204" pitchFamily="34" charset="0"/>
              </a:rPr>
              <a:t>Continue ..</a:t>
            </a:r>
          </a:p>
        </p:txBody>
      </p:sp>
      <p:sp>
        <p:nvSpPr>
          <p:cNvPr id="6" name="TextBox 5">
            <a:extLst>
              <a:ext uri="{FF2B5EF4-FFF2-40B4-BE49-F238E27FC236}">
                <a16:creationId xmlns:a16="http://schemas.microsoft.com/office/drawing/2014/main" id="{E09ED05B-101A-3226-C5F4-3E7010B6AA2A}"/>
              </a:ext>
            </a:extLst>
          </p:cNvPr>
          <p:cNvSpPr txBox="1"/>
          <p:nvPr/>
        </p:nvSpPr>
        <p:spPr>
          <a:xfrm>
            <a:off x="670560" y="1721829"/>
            <a:ext cx="10017760" cy="3477875"/>
          </a:xfrm>
          <a:prstGeom prst="rect">
            <a:avLst/>
          </a:prstGeom>
          <a:noFill/>
        </p:spPr>
        <p:txBody>
          <a:bodyPr wrap="square">
            <a:spAutoFit/>
          </a:bodyPr>
          <a:lstStyle/>
          <a:p>
            <a:pPr algn="just"/>
            <a:r>
              <a:rPr lang="en-US" sz="2000" b="1" dirty="0">
                <a:latin typeface="Verdana" panose="020B0604030504040204" pitchFamily="34" charset="0"/>
                <a:ea typeface="Verdana" panose="020B0604030504040204" pitchFamily="34" charset="0"/>
              </a:rPr>
              <a:t>Use Case</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Sustainable home décor and gifting products. </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Eco-friendly festival and religious candles. </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Waste-to-value solution supporting circular economy practices. </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Opportunity for small-scale student startup and livelihood generation.</a:t>
            </a:r>
          </a:p>
          <a:p>
            <a:pPr algn="just"/>
            <a:r>
              <a:rPr lang="en-US" sz="2000" dirty="0">
                <a:latin typeface="Verdana" panose="020B0604030504040204" pitchFamily="34" charset="0"/>
                <a:ea typeface="Verdana" panose="020B0604030504040204" pitchFamily="34" charset="0"/>
              </a:rPr>
              <a:t> </a:t>
            </a:r>
          </a:p>
          <a:p>
            <a:pPr algn="just"/>
            <a:r>
              <a:rPr lang="en-US" sz="2000" b="1" dirty="0">
                <a:latin typeface="Verdana" panose="020B0604030504040204" pitchFamily="34" charset="0"/>
                <a:ea typeface="Verdana" panose="020B0604030504040204" pitchFamily="34" charset="0"/>
              </a:rPr>
              <a:t>Challenges Faced</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Optimizing ash-wax ratio for smooth texture. </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Preventing cracking and uneven burning. </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Maintaining fragrance retention and aesthetic quality. </a:t>
            </a:r>
          </a:p>
          <a:p>
            <a:pPr marL="342900" indent="-342900" algn="just">
              <a:buFont typeface="Wingdings" panose="05000000000000000000" pitchFamily="2" charset="2"/>
              <a:buChar char="§"/>
            </a:pPr>
            <a:r>
              <a:rPr lang="en-US" sz="2000" dirty="0">
                <a:latin typeface="Verdana" panose="020B0604030504040204" pitchFamily="34" charset="0"/>
                <a:ea typeface="Verdana" panose="020B0604030504040204" pitchFamily="34" charset="0"/>
              </a:rPr>
              <a:t>Standardizing formulation for scalable production.</a:t>
            </a:r>
          </a:p>
        </p:txBody>
      </p:sp>
      <p:pic>
        <p:nvPicPr>
          <p:cNvPr id="3" name="Picture 2">
            <a:extLst>
              <a:ext uri="{FF2B5EF4-FFF2-40B4-BE49-F238E27FC236}">
                <a16:creationId xmlns:a16="http://schemas.microsoft.com/office/drawing/2014/main" id="{F99C9504-CE72-E7A1-49AA-C0E1D7973039}"/>
              </a:ext>
            </a:extLst>
          </p:cNvPr>
          <p:cNvPicPr>
            <a:picLocks noChangeAspect="1"/>
          </p:cNvPicPr>
          <p:nvPr/>
        </p:nvPicPr>
        <p:blipFill>
          <a:blip r:embed="rId4"/>
          <a:stretch>
            <a:fillRect/>
          </a:stretch>
        </p:blipFill>
        <p:spPr>
          <a:xfrm>
            <a:off x="8358467" y="3852735"/>
            <a:ext cx="3247466" cy="20296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62062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02-05-2026</a:t>
            </a:fld>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IN" dirty="0">
                <a:solidFill>
                  <a:schemeClr val="tx1"/>
                </a:solidFill>
              </a:rPr>
              <a:t>Srishti Dewangan, life science </a:t>
            </a: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9</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solidFill>
                  <a:latin typeface="Verdana" pitchFamily="34" charset="0"/>
                  <a:ea typeface="Verdana" pitchFamily="34" charset="0"/>
                </a:rPr>
                <a:t>Ash Candle </a:t>
              </a: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Prototype Image/Video</a:t>
            </a:r>
            <a:endParaRPr lang="en-IN" sz="2400" b="1" dirty="0">
              <a:latin typeface="Verdana" panose="020B0604030504040204" pitchFamily="34" charset="0"/>
              <a:ea typeface="Verdana" panose="020B0604030504040204" pitchFamily="34" charset="0"/>
            </a:endParaRPr>
          </a:p>
        </p:txBody>
      </p:sp>
      <p:pic>
        <p:nvPicPr>
          <p:cNvPr id="19" name="Picture 18">
            <a:extLst>
              <a:ext uri="{FF2B5EF4-FFF2-40B4-BE49-F238E27FC236}">
                <a16:creationId xmlns:a16="http://schemas.microsoft.com/office/drawing/2014/main" id="{0715D312-5ABD-B605-D912-DB693C4358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1554" y="1491162"/>
            <a:ext cx="3962996" cy="2189041"/>
          </a:xfrm>
          <a:prstGeom prst="rect">
            <a:avLst/>
          </a:prstGeom>
        </p:spPr>
      </p:pic>
      <p:pic>
        <p:nvPicPr>
          <p:cNvPr id="21" name="Picture 20">
            <a:extLst>
              <a:ext uri="{FF2B5EF4-FFF2-40B4-BE49-F238E27FC236}">
                <a16:creationId xmlns:a16="http://schemas.microsoft.com/office/drawing/2014/main" id="{45A178AA-E767-2495-DE23-4772303C78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60798" y="1582600"/>
            <a:ext cx="4586179" cy="2097603"/>
          </a:xfrm>
          <a:prstGeom prst="rect">
            <a:avLst/>
          </a:prstGeom>
        </p:spPr>
      </p:pic>
      <p:pic>
        <p:nvPicPr>
          <p:cNvPr id="22" name="Picture 21">
            <a:extLst>
              <a:ext uri="{FF2B5EF4-FFF2-40B4-BE49-F238E27FC236}">
                <a16:creationId xmlns:a16="http://schemas.microsoft.com/office/drawing/2014/main" id="{C53447DB-C4FC-2272-4169-18D4C84D9C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42111" y="3765538"/>
            <a:ext cx="3962996" cy="2543460"/>
          </a:xfrm>
          <a:prstGeom prst="rect">
            <a:avLst/>
          </a:prstGeom>
        </p:spPr>
      </p:pic>
      <p:pic>
        <p:nvPicPr>
          <p:cNvPr id="23" name="Picture 22">
            <a:extLst>
              <a:ext uri="{FF2B5EF4-FFF2-40B4-BE49-F238E27FC236}">
                <a16:creationId xmlns:a16="http://schemas.microsoft.com/office/drawing/2014/main" id="{05B0F420-9217-275A-643A-79606501CE5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63639" y="3812531"/>
            <a:ext cx="4586179" cy="2496468"/>
          </a:xfrm>
          <a:prstGeom prst="rect">
            <a:avLst/>
          </a:prstGeom>
        </p:spPr>
      </p:pic>
    </p:spTree>
    <p:extLst>
      <p:ext uri="{BB962C8B-B14F-4D97-AF65-F5344CB8AC3E}">
        <p14:creationId xmlns:p14="http://schemas.microsoft.com/office/powerpoint/2010/main" val="1774750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02-05-2026</a:t>
            </a:fld>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IN" dirty="0">
                <a:solidFill>
                  <a:schemeClr val="tx1"/>
                </a:solidFill>
              </a:rPr>
              <a:t>Srishti Dewangan, life science </a:t>
            </a: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10</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solidFill>
                  <a:latin typeface="Verdana" pitchFamily="34" charset="0"/>
                  <a:ea typeface="Verdana" pitchFamily="34" charset="0"/>
                </a:rPr>
                <a:t>Ash Candle </a:t>
              </a: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830251"/>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Learning Outcome</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450774" y="1389499"/>
            <a:ext cx="11072283" cy="4524315"/>
          </a:xfrm>
          <a:prstGeom prst="rect">
            <a:avLst/>
          </a:prstGeom>
          <a:noFill/>
        </p:spPr>
        <p:txBody>
          <a:bodyPr wrap="square" rtlCol="0">
            <a:spAutoFit/>
          </a:bodyPr>
          <a:lstStyle/>
          <a:p>
            <a:pPr algn="just"/>
            <a:r>
              <a:rPr lang="en-US" b="1" dirty="0">
                <a:latin typeface="Verdana" panose="020B0604030504040204" pitchFamily="34" charset="0"/>
                <a:ea typeface="Verdana" panose="020B0604030504040204" pitchFamily="34" charset="0"/>
              </a:rPr>
              <a:t>Technical/Conceptual Learning</a:t>
            </a:r>
          </a:p>
          <a:p>
            <a:pPr marL="342900" indent="-342900" algn="just">
              <a:buFont typeface="Wingdings" panose="05000000000000000000" pitchFamily="2" charset="2"/>
              <a:buChar char="§"/>
            </a:pPr>
            <a:r>
              <a:rPr lang="en-US" dirty="0">
                <a:latin typeface="Verdana" panose="020B0604030504040204" pitchFamily="34" charset="0"/>
                <a:ea typeface="Verdana" panose="020B0604030504040204" pitchFamily="34" charset="0"/>
              </a:rPr>
              <a:t>Gained knowledge about sustainable material utilization, candle manufacturing techniques, material  compatibility, temperature control, and prototype testing methods related to eco-friendly product development.</a:t>
            </a:r>
          </a:p>
          <a:p>
            <a:pPr algn="just"/>
            <a:r>
              <a:rPr lang="en-US" b="1" dirty="0">
                <a:latin typeface="Verdana" panose="020B0604030504040204" pitchFamily="34" charset="0"/>
                <a:ea typeface="Verdana" panose="020B0604030504040204" pitchFamily="34" charset="0"/>
              </a:rPr>
              <a:t>Problem-Solving and Tinkering Skills Developed</a:t>
            </a:r>
          </a:p>
          <a:p>
            <a:pPr marL="342900" indent="-342900" algn="just">
              <a:buFont typeface="Wingdings" panose="05000000000000000000" pitchFamily="2" charset="2"/>
              <a:buChar char="§"/>
            </a:pPr>
            <a:r>
              <a:rPr lang="en-US" dirty="0">
                <a:latin typeface="Verdana" panose="020B0604030504040204" pitchFamily="34" charset="0"/>
                <a:ea typeface="Verdana" panose="020B0604030504040204" pitchFamily="34" charset="0"/>
              </a:rPr>
              <a:t>Developed experimentation and analytical skills through iterative testing, optimization of ash-wax ratios, improvement of burning performance, and troubleshooting issues such as cracking and uneven combustion.</a:t>
            </a:r>
          </a:p>
          <a:p>
            <a:pPr algn="just"/>
            <a:r>
              <a:rPr lang="en-US" b="1" dirty="0">
                <a:latin typeface="Verdana" panose="020B0604030504040204" pitchFamily="34" charset="0"/>
                <a:ea typeface="Verdana" panose="020B0604030504040204" pitchFamily="34" charset="0"/>
              </a:rPr>
              <a:t>Learning from Mentoring Sessions and Feedback</a:t>
            </a:r>
          </a:p>
          <a:p>
            <a:pPr marL="342900" indent="-342900" algn="just">
              <a:buFont typeface="Wingdings" panose="05000000000000000000" pitchFamily="2" charset="2"/>
              <a:buChar char="§"/>
            </a:pPr>
            <a:r>
              <a:rPr lang="en-US" dirty="0">
                <a:latin typeface="Verdana" panose="020B0604030504040204" pitchFamily="34" charset="0"/>
                <a:ea typeface="Verdana" panose="020B0604030504040204" pitchFamily="34" charset="0"/>
              </a:rPr>
              <a:t>Mentoring sessions provided guidance in product refinement, quality improvement, innovation thinking, and understanding commercialization strategies, helping align the project with startup and sustainability goals.</a:t>
            </a:r>
          </a:p>
          <a:p>
            <a:pPr algn="just"/>
            <a:r>
              <a:rPr lang="en-US" b="1" dirty="0">
                <a:latin typeface="Verdana" panose="020B0604030504040204" pitchFamily="34" charset="0"/>
                <a:ea typeface="Verdana" panose="020B0604030504040204" pitchFamily="34" charset="0"/>
              </a:rPr>
              <a:t>Teamwork and Collaboration</a:t>
            </a:r>
          </a:p>
          <a:p>
            <a:pPr marL="342900" indent="-342900" algn="just">
              <a:buFont typeface="Wingdings" panose="05000000000000000000" pitchFamily="2" charset="2"/>
              <a:buChar char="§"/>
            </a:pPr>
            <a:r>
              <a:rPr lang="en-US" dirty="0">
                <a:latin typeface="Verdana" panose="020B0604030504040204" pitchFamily="34" charset="0"/>
                <a:ea typeface="Verdana" panose="020B0604030504040204" pitchFamily="34" charset="0"/>
              </a:rPr>
              <a:t>The project encouraged collaborative learning through idea sharing, task distribution, coordinated experimentation, and collective decision-making during prototype development.</a:t>
            </a:r>
          </a:p>
        </p:txBody>
      </p:sp>
    </p:spTree>
    <p:extLst>
      <p:ext uri="{BB962C8B-B14F-4D97-AF65-F5344CB8AC3E}">
        <p14:creationId xmlns:p14="http://schemas.microsoft.com/office/powerpoint/2010/main" val="1906625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02-05-2026</a:t>
            </a:fld>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IN" dirty="0">
                <a:solidFill>
                  <a:schemeClr val="tx1"/>
                </a:solidFill>
              </a:rPr>
              <a:t>Srishti Dewangan, life science </a:t>
            </a: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11</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solidFill>
                  <a:latin typeface="Verdana" pitchFamily="34" charset="0"/>
                  <a:ea typeface="Verdana" pitchFamily="34" charset="0"/>
                </a:rPr>
                <a:t>Ash Candle </a:t>
              </a: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Conclusion &amp; Future Scope</a:t>
            </a:r>
            <a:endParaRPr lang="en-IN" sz="2400" b="1" dirty="0">
              <a:latin typeface="Verdana" panose="020B0604030504040204" pitchFamily="34" charset="0"/>
              <a:ea typeface="Verdana" panose="020B0604030504040204" pitchFamily="34" charset="0"/>
            </a:endParaRPr>
          </a:p>
        </p:txBody>
      </p:sp>
      <p:sp>
        <p:nvSpPr>
          <p:cNvPr id="4" name="Rectangle 3"/>
          <p:cNvSpPr/>
          <p:nvPr/>
        </p:nvSpPr>
        <p:spPr>
          <a:xfrm>
            <a:off x="427668" y="1389499"/>
            <a:ext cx="10801249" cy="4524315"/>
          </a:xfrm>
          <a:prstGeom prst="rect">
            <a:avLst/>
          </a:prstGeom>
        </p:spPr>
        <p:txBody>
          <a:bodyPr wrap="square">
            <a:spAutoFit/>
          </a:bodyPr>
          <a:lstStyle/>
          <a:p>
            <a:pPr algn="just"/>
            <a:r>
              <a:rPr lang="en-US" b="1" dirty="0">
                <a:latin typeface="Verdana" panose="020B0604030504040204" pitchFamily="34" charset="0"/>
                <a:ea typeface="Verdana" panose="020B0604030504040204" pitchFamily="34" charset="0"/>
              </a:rPr>
              <a:t>Conclusion and Summary of Achievements</a:t>
            </a:r>
          </a:p>
          <a:p>
            <a:pPr marL="342900" indent="-342900" algn="just">
              <a:buFont typeface="Wingdings" panose="05000000000000000000" pitchFamily="2" charset="2"/>
              <a:buChar char="v"/>
            </a:pPr>
            <a:r>
              <a:rPr lang="en-US" dirty="0">
                <a:latin typeface="Verdana" panose="020B0604030504040204" pitchFamily="34" charset="0"/>
                <a:ea typeface="Verdana" panose="020B0604030504040204" pitchFamily="34" charset="0"/>
              </a:rPr>
              <a:t>The project successfully developed an eco-friendly ash-based candle prototype by converting waste ash into a value-added product. The prototype demonstrated sustainable material utilization, acceptable burning performance, aesthetic appeal, and feasibility for commercialization as a green lifestyle product.</a:t>
            </a:r>
          </a:p>
          <a:p>
            <a:pPr algn="just"/>
            <a:r>
              <a:rPr lang="en-US" b="1" dirty="0">
                <a:latin typeface="Verdana" panose="020B0604030504040204" pitchFamily="34" charset="0"/>
                <a:ea typeface="Verdana" panose="020B0604030504040204" pitchFamily="34" charset="0"/>
              </a:rPr>
              <a:t>Future Enhancements and Applications</a:t>
            </a:r>
          </a:p>
          <a:p>
            <a:pPr marL="342900" indent="-342900" algn="just">
              <a:buFont typeface="Wingdings" panose="05000000000000000000" pitchFamily="2" charset="2"/>
              <a:buChar char="v"/>
            </a:pPr>
            <a:r>
              <a:rPr lang="en-US" dirty="0">
                <a:latin typeface="Verdana" panose="020B0604030504040204" pitchFamily="34" charset="0"/>
                <a:ea typeface="Verdana" panose="020B0604030504040204" pitchFamily="34" charset="0"/>
              </a:rPr>
              <a:t>Improvement in fragrance retention and burn efficiency. </a:t>
            </a:r>
          </a:p>
          <a:p>
            <a:pPr marL="342900" indent="-342900" algn="just">
              <a:buFont typeface="Wingdings" panose="05000000000000000000" pitchFamily="2" charset="2"/>
              <a:buChar char="v"/>
            </a:pPr>
            <a:r>
              <a:rPr lang="en-US" dirty="0">
                <a:latin typeface="Verdana" panose="020B0604030504040204" pitchFamily="34" charset="0"/>
                <a:ea typeface="Verdana" panose="020B0604030504040204" pitchFamily="34" charset="0"/>
              </a:rPr>
              <a:t>Development of scented, decorative, and customized candle variants. </a:t>
            </a:r>
          </a:p>
          <a:p>
            <a:pPr marL="342900" indent="-342900" algn="just">
              <a:buFont typeface="Wingdings" panose="05000000000000000000" pitchFamily="2" charset="2"/>
              <a:buChar char="v"/>
            </a:pPr>
            <a:r>
              <a:rPr lang="en-US" dirty="0">
                <a:latin typeface="Verdana" panose="020B0604030504040204" pitchFamily="34" charset="0"/>
                <a:ea typeface="Verdana" panose="020B0604030504040204" pitchFamily="34" charset="0"/>
              </a:rPr>
              <a:t>Scaling production using semi-automated methods. </a:t>
            </a:r>
          </a:p>
          <a:p>
            <a:pPr marL="342900" indent="-342900" algn="just">
              <a:buFont typeface="Wingdings" panose="05000000000000000000" pitchFamily="2" charset="2"/>
              <a:buChar char="v"/>
            </a:pPr>
            <a:r>
              <a:rPr lang="en-US" dirty="0">
                <a:latin typeface="Verdana" panose="020B0604030504040204" pitchFamily="34" charset="0"/>
                <a:ea typeface="Verdana" panose="020B0604030504040204" pitchFamily="34" charset="0"/>
              </a:rPr>
              <a:t>Exploration of eco-packaging and branding strategies. </a:t>
            </a:r>
          </a:p>
          <a:p>
            <a:pPr marL="342900" indent="-342900" algn="just">
              <a:buFont typeface="Wingdings" panose="05000000000000000000" pitchFamily="2" charset="2"/>
              <a:buChar char="v"/>
            </a:pPr>
            <a:r>
              <a:rPr lang="en-US" dirty="0">
                <a:latin typeface="Verdana" panose="020B0604030504040204" pitchFamily="34" charset="0"/>
                <a:ea typeface="Verdana" panose="020B0604030504040204" pitchFamily="34" charset="0"/>
              </a:rPr>
              <a:t>Expansion into sustainable gifting, wellness, and festival markets. </a:t>
            </a:r>
          </a:p>
          <a:p>
            <a:pPr algn="just"/>
            <a:r>
              <a:rPr lang="en-US" b="1" dirty="0">
                <a:latin typeface="Verdana" panose="020B0604030504040204" pitchFamily="34" charset="0"/>
                <a:ea typeface="Verdana" panose="020B0604030504040204" pitchFamily="34" charset="0"/>
              </a:rPr>
              <a:t>Reflection on the Project Experience</a:t>
            </a:r>
          </a:p>
          <a:p>
            <a:pPr marL="342900" indent="-342900" algn="just">
              <a:buFont typeface="Wingdings" panose="05000000000000000000" pitchFamily="2" charset="2"/>
              <a:buChar char="v"/>
            </a:pPr>
            <a:r>
              <a:rPr lang="en-US" dirty="0">
                <a:latin typeface="Verdana" panose="020B0604030504040204" pitchFamily="34" charset="0"/>
                <a:ea typeface="Verdana" panose="020B0604030504040204" pitchFamily="34" charset="0"/>
              </a:rPr>
              <a:t>The project provided practical exposure to innovation, material experimentation, and prototype development. It enhanced problem-solving ability, entrepreneurial thinking, sustainability awareness, and understanding of converting an idea into a market-oriented product.</a:t>
            </a:r>
          </a:p>
        </p:txBody>
      </p:sp>
    </p:spTree>
    <p:extLst>
      <p:ext uri="{BB962C8B-B14F-4D97-AF65-F5344CB8AC3E}">
        <p14:creationId xmlns:p14="http://schemas.microsoft.com/office/powerpoint/2010/main" val="1440541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02-05-2026</a:t>
            </a:fld>
            <a:endParaRPr lang="en-IN" dirty="0">
              <a:solidFill>
                <a:schemeClr val="tx1"/>
              </a:solidFill>
            </a:endParaRPr>
          </a:p>
        </p:txBody>
      </p:sp>
      <p:sp>
        <p:nvSpPr>
          <p:cNvPr id="9" name="Footer Placeholder 8">
            <a:extLst>
              <a:ext uri="{FF2B5EF4-FFF2-40B4-BE49-F238E27FC236}">
                <a16:creationId xmlns:a16="http://schemas.microsoft.com/office/drawing/2014/main" id="{F36F7641-A776-5907-92A0-8FF397A9E7FD}"/>
              </a:ext>
            </a:extLst>
          </p:cNvPr>
          <p:cNvSpPr>
            <a:spLocks noGrp="1"/>
          </p:cNvSpPr>
          <p:nvPr>
            <p:ph type="ftr" sz="quarter" idx="11"/>
          </p:nvPr>
        </p:nvSpPr>
        <p:spPr/>
        <p:txBody>
          <a:bodyPr/>
          <a:lstStyle/>
          <a:p>
            <a:r>
              <a:rPr lang="en-IN" dirty="0">
                <a:solidFill>
                  <a:schemeClr val="tx1"/>
                </a:solidFill>
              </a:rPr>
              <a:t>Srishti Dewangan, life science </a:t>
            </a: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12</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solidFill>
                  <a:latin typeface="Verdana" pitchFamily="34" charset="0"/>
                  <a:ea typeface="Verdana" pitchFamily="34" charset="0"/>
                </a:rPr>
                <a:t>Ash Candle </a:t>
              </a: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1208547"/>
            <a:ext cx="10916362" cy="1200329"/>
          </a:xfrm>
          <a:prstGeom prst="rect">
            <a:avLst/>
          </a:prstGeom>
          <a:noFill/>
        </p:spPr>
        <p:txBody>
          <a:bodyPr wrap="square" rtlCol="0">
            <a:spAutoFit/>
          </a:bodyPr>
          <a:lstStyle/>
          <a:p>
            <a:pPr algn="ctr"/>
            <a:r>
              <a:rPr lang="en-GB" sz="2400" b="1" dirty="0">
                <a:latin typeface="Verdana" panose="020B0604030504040204" pitchFamily="34" charset="0"/>
                <a:ea typeface="Verdana" panose="020B0604030504040204" pitchFamily="34" charset="0"/>
              </a:rPr>
              <a:t>Do you want to apply for </a:t>
            </a:r>
            <a:r>
              <a:rPr lang="en-GB" sz="2400" b="1" dirty="0" err="1">
                <a:latin typeface="Verdana" panose="020B0604030504040204" pitchFamily="34" charset="0"/>
                <a:ea typeface="Verdana" panose="020B0604030504040204" pitchFamily="34" charset="0"/>
              </a:rPr>
              <a:t>PoC</a:t>
            </a:r>
            <a:r>
              <a:rPr lang="en-GB" sz="2400" b="1" dirty="0">
                <a:latin typeface="Verdana" panose="020B0604030504040204" pitchFamily="34" charset="0"/>
                <a:ea typeface="Verdana" panose="020B0604030504040204" pitchFamily="34" charset="0"/>
              </a:rPr>
              <a:t>/Prototype Development support under Students </a:t>
            </a:r>
            <a:r>
              <a:rPr lang="en-GB" sz="2400" b="1" dirty="0" err="1">
                <a:latin typeface="Verdana" panose="020B0604030504040204" pitchFamily="34" charset="0"/>
                <a:ea typeface="Verdana" panose="020B0604030504040204" pitchFamily="34" charset="0"/>
              </a:rPr>
              <a:t>Startup</a:t>
            </a:r>
            <a:r>
              <a:rPr lang="en-GB" sz="2400" b="1" dirty="0">
                <a:latin typeface="Verdana" panose="020B0604030504040204" pitchFamily="34" charset="0"/>
                <a:ea typeface="Verdana" panose="020B0604030504040204" pitchFamily="34" charset="0"/>
              </a:rPr>
              <a:t> and Innovation Policy (SSIP 2.0) under GUIITAR Council?</a:t>
            </a:r>
            <a:endParaRPr lang="en-IN" sz="2400" b="1" dirty="0">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042283B1-3037-9A6D-881D-53FC1E771C82}"/>
              </a:ext>
            </a:extLst>
          </p:cNvPr>
          <p:cNvSpPr txBox="1"/>
          <p:nvPr/>
        </p:nvSpPr>
        <p:spPr>
          <a:xfrm>
            <a:off x="838200" y="2720064"/>
            <a:ext cx="10262989" cy="707886"/>
          </a:xfrm>
          <a:prstGeom prst="rect">
            <a:avLst/>
          </a:prstGeom>
          <a:noFill/>
        </p:spPr>
        <p:txBody>
          <a:bodyPr wrap="square">
            <a:spAutoFit/>
          </a:bodyPr>
          <a:lstStyle/>
          <a:p>
            <a:r>
              <a:rPr lang="en-US" sz="2000" dirty="0"/>
              <a:t>No, </a:t>
            </a:r>
            <a:r>
              <a:rPr lang="en-GB" sz="2000" dirty="0">
                <a:latin typeface="Verdana" panose="020B0604030504040204" pitchFamily="34" charset="0"/>
                <a:ea typeface="Verdana" panose="020B0604030504040204" pitchFamily="34" charset="0"/>
              </a:rPr>
              <a:t>we don’t want to apply for PoC/Prototype Development support under Students Startup and Innovation Policy (SSIP 2.0) under GUIITAR Council</a:t>
            </a:r>
            <a:r>
              <a:rPr lang="en-US" sz="2000" dirty="0"/>
              <a:t>  </a:t>
            </a:r>
          </a:p>
        </p:txBody>
      </p:sp>
    </p:spTree>
    <p:extLst>
      <p:ext uri="{BB962C8B-B14F-4D97-AF65-F5344CB8AC3E}">
        <p14:creationId xmlns:p14="http://schemas.microsoft.com/office/powerpoint/2010/main" val="1440541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D22A7-944B-E8BE-3E42-54DBD2B06B36}"/>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228F781D-E434-8188-39AD-C98FE71BF244}"/>
              </a:ext>
            </a:extLst>
          </p:cNvPr>
          <p:cNvGrpSpPr/>
          <p:nvPr/>
        </p:nvGrpSpPr>
        <p:grpSpPr>
          <a:xfrm>
            <a:off x="0" y="6347341"/>
            <a:ext cx="12192000" cy="510659"/>
            <a:chOff x="0" y="6347341"/>
            <a:chExt cx="12192000" cy="510659"/>
          </a:xfrm>
        </p:grpSpPr>
        <p:sp>
          <p:nvSpPr>
            <p:cNvPr id="6" name="Rectangle 5">
              <a:extLst>
                <a:ext uri="{FF2B5EF4-FFF2-40B4-BE49-F238E27FC236}">
                  <a16:creationId xmlns:a16="http://schemas.microsoft.com/office/drawing/2014/main" id="{D3F201AC-A431-FBAE-774F-B9E359CD95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032FFB2B-1001-4F05-9548-E8962570D21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Slide Number Placeholder 8">
            <a:extLst>
              <a:ext uri="{FF2B5EF4-FFF2-40B4-BE49-F238E27FC236}">
                <a16:creationId xmlns:a16="http://schemas.microsoft.com/office/drawing/2014/main" id="{C78342AA-8AD8-31F9-791F-B79FF9EC15F7}"/>
              </a:ext>
            </a:extLst>
          </p:cNvPr>
          <p:cNvSpPr>
            <a:spLocks noGrp="1"/>
          </p:cNvSpPr>
          <p:nvPr>
            <p:ph type="sldNum" sz="quarter" idx="12"/>
          </p:nvPr>
        </p:nvSpPr>
        <p:spPr/>
        <p:txBody>
          <a:bodyPr/>
          <a:lstStyle/>
          <a:p>
            <a:fld id="{C9EED798-B2B7-453D-A02A-83F1CBF01642}" type="slidenum">
              <a:rPr lang="en-IN" smtClean="0">
                <a:solidFill>
                  <a:schemeClr val="tx1"/>
                </a:solidFill>
              </a:rPr>
              <a:t>13</a:t>
            </a:fld>
            <a:endParaRPr lang="en-IN">
              <a:solidFill>
                <a:schemeClr val="tx1"/>
              </a:solidFill>
            </a:endParaRPr>
          </a:p>
        </p:txBody>
      </p:sp>
      <p:sp>
        <p:nvSpPr>
          <p:cNvPr id="11" name="Date Placeholder 10">
            <a:extLst>
              <a:ext uri="{FF2B5EF4-FFF2-40B4-BE49-F238E27FC236}">
                <a16:creationId xmlns:a16="http://schemas.microsoft.com/office/drawing/2014/main" id="{7209BDFC-F87F-0AD3-0AD2-6D90EC65DA40}"/>
              </a:ext>
            </a:extLst>
          </p:cNvPr>
          <p:cNvSpPr>
            <a:spLocks noGrp="1"/>
          </p:cNvSpPr>
          <p:nvPr>
            <p:ph type="dt" sz="half" idx="10"/>
          </p:nvPr>
        </p:nvSpPr>
        <p:spPr/>
        <p:txBody>
          <a:bodyPr/>
          <a:lstStyle/>
          <a:p>
            <a:fld id="{72FD1B5B-4067-417C-A62E-EE6EE02E9F51}" type="datetime1">
              <a:rPr lang="en-IN" smtClean="0">
                <a:solidFill>
                  <a:schemeClr val="tx1"/>
                </a:solidFill>
              </a:rPr>
              <a:t>02-05-2026</a:t>
            </a:fld>
            <a:endParaRPr lang="en-IN" dirty="0">
              <a:solidFill>
                <a:schemeClr val="tx1"/>
              </a:solidFill>
            </a:endParaRPr>
          </a:p>
        </p:txBody>
      </p:sp>
      <p:sp>
        <p:nvSpPr>
          <p:cNvPr id="12" name="Footer Placeholder 11">
            <a:extLst>
              <a:ext uri="{FF2B5EF4-FFF2-40B4-BE49-F238E27FC236}">
                <a16:creationId xmlns:a16="http://schemas.microsoft.com/office/drawing/2014/main" id="{788F57B9-72F6-F8CD-7E20-C147544ECB69}"/>
              </a:ext>
            </a:extLst>
          </p:cNvPr>
          <p:cNvSpPr>
            <a:spLocks noGrp="1"/>
          </p:cNvSpPr>
          <p:nvPr>
            <p:ph type="ftr" sz="quarter" idx="11"/>
          </p:nvPr>
        </p:nvSpPr>
        <p:spPr/>
        <p:txBody>
          <a:bodyPr/>
          <a:lstStyle/>
          <a:p>
            <a:r>
              <a:rPr lang="en-IN" dirty="0">
                <a:solidFill>
                  <a:schemeClr val="tx1"/>
                </a:solidFill>
              </a:rPr>
              <a:t>Srishti Dewangan, life science </a:t>
            </a:r>
          </a:p>
        </p:txBody>
      </p:sp>
      <p:grpSp>
        <p:nvGrpSpPr>
          <p:cNvPr id="16" name="Group 15">
            <a:extLst>
              <a:ext uri="{FF2B5EF4-FFF2-40B4-BE49-F238E27FC236}">
                <a16:creationId xmlns:a16="http://schemas.microsoft.com/office/drawing/2014/main" id="{3956432F-B09D-FA20-7755-3F884FC63554}"/>
              </a:ext>
            </a:extLst>
          </p:cNvPr>
          <p:cNvGrpSpPr/>
          <p:nvPr/>
        </p:nvGrpSpPr>
        <p:grpSpPr>
          <a:xfrm>
            <a:off x="450775" y="170727"/>
            <a:ext cx="3551249" cy="5467038"/>
            <a:chOff x="450775" y="170727"/>
            <a:chExt cx="3551249" cy="5467038"/>
          </a:xfrm>
        </p:grpSpPr>
        <p:sp>
          <p:nvSpPr>
            <p:cNvPr id="4" name="TextBox 3">
              <a:extLst>
                <a:ext uri="{FF2B5EF4-FFF2-40B4-BE49-F238E27FC236}">
                  <a16:creationId xmlns:a16="http://schemas.microsoft.com/office/drawing/2014/main" id="{7E47A91F-8F23-8FAE-598F-91984EEEDECC}"/>
                </a:ext>
              </a:extLst>
            </p:cNvPr>
            <p:cNvSpPr txBox="1"/>
            <p:nvPr/>
          </p:nvSpPr>
          <p:spPr>
            <a:xfrm>
              <a:off x="838200" y="5146027"/>
              <a:ext cx="3163824" cy="491738"/>
            </a:xfrm>
            <a:prstGeom prst="rect">
              <a:avLst/>
            </a:prstGeom>
            <a:noFill/>
          </p:spPr>
          <p:txBody>
            <a:bodyPr wrap="square" rtlCol="0">
              <a:spAutoFit/>
            </a:bodyPr>
            <a:lstStyle/>
            <a:p>
              <a:pPr>
                <a:lnSpc>
                  <a:spcPct val="150000"/>
                </a:lnSpc>
              </a:pPr>
              <a:r>
                <a:rPr lang="en-US" sz="2000" b="1" dirty="0">
                  <a:latin typeface="Verdana" panose="020B0604030504040204" pitchFamily="34" charset="0"/>
                  <a:ea typeface="Verdana" panose="020B0604030504040204" pitchFamily="34" charset="0"/>
                </a:rPr>
                <a:t>Thank You..</a:t>
              </a:r>
            </a:p>
          </p:txBody>
        </p:sp>
        <p:pic>
          <p:nvPicPr>
            <p:cNvPr id="2" name="Picture 1">
              <a:extLst>
                <a:ext uri="{FF2B5EF4-FFF2-40B4-BE49-F238E27FC236}">
                  <a16:creationId xmlns:a16="http://schemas.microsoft.com/office/drawing/2014/main" id="{6B42C481-7049-2649-C990-123E9D6EE6F9}"/>
                </a:ext>
              </a:extLst>
            </p:cNvPr>
            <p:cNvPicPr>
              <a:picLocks noChangeAspect="1"/>
            </p:cNvPicPr>
            <p:nvPr/>
          </p:nvPicPr>
          <p:blipFill rotWithShape="1">
            <a:blip r:embed="rId3"/>
            <a:srcRect t="27019" b="26058"/>
            <a:stretch/>
          </p:blipFill>
          <p:spPr>
            <a:xfrm>
              <a:off x="450775" y="170727"/>
              <a:ext cx="941559" cy="441809"/>
            </a:xfrm>
            <a:prstGeom prst="rect">
              <a:avLst/>
            </a:prstGeom>
          </p:spPr>
        </p:pic>
        <p:grpSp>
          <p:nvGrpSpPr>
            <p:cNvPr id="13" name="Group 12">
              <a:extLst>
                <a:ext uri="{FF2B5EF4-FFF2-40B4-BE49-F238E27FC236}">
                  <a16:creationId xmlns:a16="http://schemas.microsoft.com/office/drawing/2014/main" id="{4AF49D2F-1FD4-4CCE-B487-BBE0423B32FD}"/>
                </a:ext>
              </a:extLst>
            </p:cNvPr>
            <p:cNvGrpSpPr/>
            <p:nvPr/>
          </p:nvGrpSpPr>
          <p:grpSpPr>
            <a:xfrm>
              <a:off x="450775" y="5338110"/>
              <a:ext cx="338514" cy="212015"/>
              <a:chOff x="521095" y="429142"/>
              <a:chExt cx="463644" cy="290385"/>
            </a:xfrm>
            <a:solidFill>
              <a:srgbClr val="0DE5CB"/>
            </a:solidFill>
          </p:grpSpPr>
          <p:sp>
            <p:nvSpPr>
              <p:cNvPr id="14" name="Google Shape;59;p15">
                <a:extLst>
                  <a:ext uri="{FF2B5EF4-FFF2-40B4-BE49-F238E27FC236}">
                    <a16:creationId xmlns:a16="http://schemas.microsoft.com/office/drawing/2014/main" id="{4C7DBC1E-9F03-C501-03C4-40611332AF6C}"/>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 name="Google Shape;60;p15">
                <a:extLst>
                  <a:ext uri="{FF2B5EF4-FFF2-40B4-BE49-F238E27FC236}">
                    <a16:creationId xmlns:a16="http://schemas.microsoft.com/office/drawing/2014/main" id="{43830E1C-48D8-36F4-42D1-F7CF813F028F}"/>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Tree>
    <p:extLst>
      <p:ext uri="{BB962C8B-B14F-4D97-AF65-F5344CB8AC3E}">
        <p14:creationId xmlns:p14="http://schemas.microsoft.com/office/powerpoint/2010/main" val="1257494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6439</TotalTime>
  <Words>1246</Words>
  <Application>Microsoft Office PowerPoint</Application>
  <PresentationFormat>Widescreen</PresentationFormat>
  <Paragraphs>222</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Verdana</vt:lpstr>
      <vt:lpstr>Verdana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Koppula Santhosh Kumar</dc:creator>
  <cp:lastModifiedBy>Khushbu Verma</cp:lastModifiedBy>
  <cp:revision>103</cp:revision>
  <dcterms:created xsi:type="dcterms:W3CDTF">2021-10-26T04:13:36Z</dcterms:created>
  <dcterms:modified xsi:type="dcterms:W3CDTF">2026-05-02T09:02:01Z</dcterms:modified>
</cp:coreProperties>
</file>
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4660"/>
  </p:normalViewPr>
  <p:slideViewPr>
    <p:cSldViewPr snapToGrid="0" snapToObjects="1">
      <p:cViewPr varScale="1">
        <p:scale>
          <a:sx n="69" d="100"/>
          <a:sy n="69" d="100"/>
        </p:scale>
        <p:origin x="7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10950" y="243638"/>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2747010" y="419100"/>
            <a:ext cx="6835140" cy="341630"/>
          </a:xfrm>
          <a:prstGeom prst="rect">
            <a:avLst/>
          </a:prstGeom>
          <a:noFill/>
        </p:spPr>
        <p:txBody>
          <a:bodyPr wrap="none" lIns="0" tIns="0" rIns="0" bIns="0" anchor="ctr">
            <a:spAutoFit/>
          </a:bodyPr>
          <a:lstStyle/>
          <a:p>
            <a:r>
              <a:rPr sz="2750" b="1" spc="-100">
                <a:solidFill>
                  <a:srgbClr val="000000"/>
                </a:solidFill>
                <a:latin typeface="Verdana"/>
              </a:rPr>
              <a:t>Tinkering &amp; Mentoring - VACC 201</a:t>
            </a:r>
          </a:p>
        </p:txBody>
      </p:sp>
      <p:sp>
        <p:nvSpPr>
          <p:cNvPr id="6" name="TextBox 5"/>
          <p:cNvSpPr txBox="1"/>
          <p:nvPr/>
        </p:nvSpPr>
        <p:spPr>
          <a:xfrm>
            <a:off x="2928620" y="1318260"/>
            <a:ext cx="5622289" cy="341629"/>
          </a:xfrm>
          <a:prstGeom prst="rect">
            <a:avLst/>
          </a:prstGeom>
          <a:noFill/>
        </p:spPr>
        <p:txBody>
          <a:bodyPr wrap="none" lIns="0" tIns="0" rIns="0" bIns="0" anchor="ctr">
            <a:spAutoFit/>
          </a:bodyPr>
          <a:lstStyle/>
          <a:p>
            <a:r>
              <a:rPr sz="2750" b="1" spc="-100">
                <a:solidFill>
                  <a:srgbClr val="000000"/>
                </a:solidFill>
                <a:latin typeface="Verdana"/>
              </a:rPr>
              <a:t>Final Project Presentation &amp;</a:t>
            </a:r>
          </a:p>
        </p:txBody>
      </p:sp>
      <p:sp>
        <p:nvSpPr>
          <p:cNvPr id="7" name="TextBox 6"/>
          <p:cNvSpPr txBox="1"/>
          <p:nvPr/>
        </p:nvSpPr>
        <p:spPr>
          <a:xfrm>
            <a:off x="4318000" y="1747520"/>
            <a:ext cx="2975609" cy="274319"/>
          </a:xfrm>
          <a:prstGeom prst="rect">
            <a:avLst/>
          </a:prstGeom>
          <a:noFill/>
        </p:spPr>
        <p:txBody>
          <a:bodyPr wrap="none" lIns="0" tIns="0" rIns="0" bIns="0" anchor="ctr">
            <a:spAutoFit/>
          </a:bodyPr>
          <a:lstStyle/>
          <a:p>
            <a:r>
              <a:rPr sz="2750" b="1" spc="-100">
                <a:solidFill>
                  <a:srgbClr val="000000"/>
                </a:solidFill>
                <a:latin typeface="Verdana"/>
              </a:rPr>
              <a:t>Demonstration</a:t>
            </a:r>
          </a:p>
        </p:txBody>
      </p:sp>
      <p:sp>
        <p:nvSpPr>
          <p:cNvPr id="8" name="TextBox 7"/>
          <p:cNvSpPr txBox="1"/>
          <p:nvPr/>
        </p:nvSpPr>
        <p:spPr>
          <a:xfrm>
            <a:off x="288758" y="2387670"/>
            <a:ext cx="11586085" cy="1754326"/>
          </a:xfrm>
          <a:prstGeom prst="rect">
            <a:avLst/>
          </a:prstGeom>
          <a:noFill/>
        </p:spPr>
        <p:txBody>
          <a:bodyPr wrap="square" lIns="0" tIns="0" rIns="0" bIns="0" anchor="ctr">
            <a:spAutoFit/>
          </a:bodyPr>
          <a:lstStyle/>
          <a:p>
            <a:r>
              <a:rPr lang="en-GB" sz="5400" b="1" dirty="0">
                <a:latin typeface="Verdana" panose="020B0604030504040204" pitchFamily="34" charset="0"/>
                <a:ea typeface="Verdana" panose="020B0604030504040204" pitchFamily="34" charset="0"/>
              </a:rPr>
              <a:t>Bioplastic from banana peels </a:t>
            </a:r>
            <a:endParaRPr lang="en-IN" sz="5400" b="1" dirty="0">
              <a:latin typeface="Verdana" panose="020B0604030504040204" pitchFamily="34" charset="0"/>
              <a:ea typeface="Verdana" panose="020B0604030504040204" pitchFamily="34" charset="0"/>
            </a:endParaRPr>
          </a:p>
          <a:p>
            <a:endParaRPr sz="6000" b="1" spc="-100" dirty="0">
              <a:solidFill>
                <a:srgbClr val="000000"/>
              </a:solidFill>
              <a:latin typeface="Verdana"/>
            </a:endParaRPr>
          </a:p>
        </p:txBody>
      </p:sp>
      <p:sp>
        <p:nvSpPr>
          <p:cNvPr id="10" name="TextBox 9"/>
          <p:cNvSpPr txBox="1"/>
          <p:nvPr/>
        </p:nvSpPr>
        <p:spPr>
          <a:xfrm>
            <a:off x="6609080" y="4591801"/>
            <a:ext cx="1259127" cy="238527"/>
          </a:xfrm>
          <a:prstGeom prst="rect">
            <a:avLst/>
          </a:prstGeom>
          <a:noFill/>
        </p:spPr>
        <p:txBody>
          <a:bodyPr wrap="none" lIns="0" tIns="0" rIns="0" bIns="0" anchor="ctr">
            <a:spAutoFit/>
          </a:bodyPr>
          <a:lstStyle/>
          <a:p>
            <a:r>
              <a:rPr sz="1550" spc="-100" dirty="0">
                <a:solidFill>
                  <a:srgbClr val="000000"/>
                </a:solidFill>
                <a:latin typeface="Verdana"/>
              </a:rPr>
              <a:t>Team No</a:t>
            </a:r>
            <a:r>
              <a:rPr sz="1550" spc="-100" dirty="0" smtClean="0">
                <a:solidFill>
                  <a:srgbClr val="000000"/>
                </a:solidFill>
                <a:latin typeface="Verdana"/>
              </a:rPr>
              <a:t>.:</a:t>
            </a:r>
            <a:r>
              <a:rPr lang="en-GB" sz="1550" spc="-100" dirty="0" smtClean="0">
                <a:solidFill>
                  <a:srgbClr val="000000"/>
                </a:solidFill>
                <a:latin typeface="Verdana"/>
              </a:rPr>
              <a:t> 11 </a:t>
            </a:r>
            <a:endParaRPr sz="1550" spc="-100" dirty="0">
              <a:solidFill>
                <a:srgbClr val="000000"/>
              </a:solidFill>
              <a:latin typeface="Verdana"/>
            </a:endParaRPr>
          </a:p>
        </p:txBody>
      </p:sp>
      <p:sp>
        <p:nvSpPr>
          <p:cNvPr id="12" name="TextBox 11"/>
          <p:cNvSpPr txBox="1"/>
          <p:nvPr/>
        </p:nvSpPr>
        <p:spPr>
          <a:xfrm>
            <a:off x="6609080" y="4992370"/>
            <a:ext cx="1513840" cy="156209"/>
          </a:xfrm>
          <a:prstGeom prst="rect">
            <a:avLst/>
          </a:prstGeom>
          <a:noFill/>
        </p:spPr>
        <p:txBody>
          <a:bodyPr wrap="none" lIns="0" tIns="0" rIns="0" bIns="0" anchor="ctr">
            <a:spAutoFit/>
          </a:bodyPr>
          <a:lstStyle/>
          <a:p>
            <a:r>
              <a:rPr sz="1550" spc="-100">
                <a:solidFill>
                  <a:srgbClr val="000000"/>
                </a:solidFill>
                <a:latin typeface="Verdana"/>
              </a:rPr>
              <a:t>Semester: 2nd</a:t>
            </a:r>
          </a:p>
        </p:txBody>
      </p:sp>
      <p:sp>
        <p:nvSpPr>
          <p:cNvPr id="14" name="TextBox 13"/>
          <p:cNvSpPr txBox="1"/>
          <p:nvPr/>
        </p:nvSpPr>
        <p:spPr>
          <a:xfrm>
            <a:off x="6609080" y="5346181"/>
            <a:ext cx="2540504" cy="238527"/>
          </a:xfrm>
          <a:prstGeom prst="rect">
            <a:avLst/>
          </a:prstGeom>
          <a:noFill/>
        </p:spPr>
        <p:txBody>
          <a:bodyPr wrap="none" lIns="0" tIns="0" rIns="0" bIns="0" anchor="ctr">
            <a:spAutoFit/>
          </a:bodyPr>
          <a:lstStyle/>
          <a:p>
            <a:r>
              <a:rPr sz="1550" spc="-100" dirty="0">
                <a:solidFill>
                  <a:srgbClr val="000000"/>
                </a:solidFill>
                <a:latin typeface="Verdana"/>
              </a:rPr>
              <a:t>Program</a:t>
            </a:r>
            <a:r>
              <a:rPr sz="1550" spc="-100" dirty="0" smtClean="0">
                <a:solidFill>
                  <a:srgbClr val="000000"/>
                </a:solidFill>
                <a:latin typeface="Verdana"/>
              </a:rPr>
              <a:t>:</a:t>
            </a:r>
            <a:r>
              <a:rPr lang="en-GB" sz="1550" spc="-100" dirty="0" smtClean="0">
                <a:solidFill>
                  <a:srgbClr val="000000"/>
                </a:solidFill>
                <a:latin typeface="Verdana"/>
              </a:rPr>
              <a:t> </a:t>
            </a:r>
            <a:r>
              <a:rPr lang="en-GB" sz="1550" spc="-100" dirty="0" err="1" smtClean="0">
                <a:solidFill>
                  <a:srgbClr val="000000"/>
                </a:solidFill>
                <a:latin typeface="Verdana"/>
              </a:rPr>
              <a:t>Bsc</a:t>
            </a:r>
            <a:r>
              <a:rPr lang="en-GB" sz="1550" spc="-100" dirty="0" smtClean="0">
                <a:solidFill>
                  <a:srgbClr val="000000"/>
                </a:solidFill>
                <a:latin typeface="Verdana"/>
              </a:rPr>
              <a:t> Biotechnology </a:t>
            </a:r>
            <a:endParaRPr sz="1550" spc="-100" dirty="0">
              <a:solidFill>
                <a:srgbClr val="000000"/>
              </a:solidFill>
              <a:latin typeface="Verdana"/>
            </a:endParaRPr>
          </a:p>
        </p:txBody>
      </p:sp>
      <p:sp>
        <p:nvSpPr>
          <p:cNvPr id="16" name="TextBox 15"/>
          <p:cNvSpPr txBox="1"/>
          <p:nvPr/>
        </p:nvSpPr>
        <p:spPr>
          <a:xfrm>
            <a:off x="6609080" y="5685272"/>
            <a:ext cx="2311530" cy="238527"/>
          </a:xfrm>
          <a:prstGeom prst="rect">
            <a:avLst/>
          </a:prstGeom>
          <a:noFill/>
        </p:spPr>
        <p:txBody>
          <a:bodyPr wrap="none" lIns="0" tIns="0" rIns="0" bIns="0" anchor="ctr">
            <a:spAutoFit/>
          </a:bodyPr>
          <a:lstStyle/>
          <a:p>
            <a:r>
              <a:rPr sz="1550" spc="-100" dirty="0">
                <a:solidFill>
                  <a:srgbClr val="000000"/>
                </a:solidFill>
                <a:latin typeface="Verdana"/>
              </a:rPr>
              <a:t>School: School </a:t>
            </a:r>
            <a:r>
              <a:rPr sz="1550" spc="-100" dirty="0" smtClean="0">
                <a:solidFill>
                  <a:srgbClr val="000000"/>
                </a:solidFill>
                <a:latin typeface="Verdana"/>
              </a:rPr>
              <a:t>of</a:t>
            </a:r>
            <a:r>
              <a:rPr lang="en-GB" sz="1550" spc="-100" dirty="0" smtClean="0">
                <a:solidFill>
                  <a:srgbClr val="000000"/>
                </a:solidFill>
                <a:latin typeface="Verdana"/>
              </a:rPr>
              <a:t> Science </a:t>
            </a:r>
            <a:endParaRPr sz="1550" spc="-100" dirty="0">
              <a:solidFill>
                <a:srgbClr val="000000"/>
              </a:solidFill>
              <a:latin typeface="Verdana"/>
            </a:endParaRPr>
          </a:p>
        </p:txBody>
      </p:sp>
      <p:sp>
        <p:nvSpPr>
          <p:cNvPr id="18" name="TextBox 17"/>
          <p:cNvSpPr txBox="1"/>
          <p:nvPr/>
        </p:nvSpPr>
        <p:spPr>
          <a:xfrm>
            <a:off x="11191240" y="6502400"/>
            <a:ext cx="77469" cy="97790"/>
          </a:xfrm>
          <a:prstGeom prst="rect">
            <a:avLst/>
          </a:prstGeom>
          <a:noFill/>
        </p:spPr>
        <p:txBody>
          <a:bodyPr wrap="none" lIns="0" tIns="0" rIns="0" bIns="0" anchor="ctr">
            <a:spAutoFit/>
          </a:bodyPr>
          <a:lstStyle/>
          <a:p>
            <a:r>
              <a:rPr sz="1200" spc="-100">
                <a:solidFill>
                  <a:srgbClr val="898989"/>
                </a:solidFill>
                <a:latin typeface="Calibri"/>
              </a:rPr>
              <a:t>1</a:t>
            </a:r>
          </a:p>
        </p:txBody>
      </p:sp>
      <p:pic>
        <p:nvPicPr>
          <p:cNvPr id="19" name="Picture 18" descr="image.png"/>
          <p:cNvPicPr>
            <a:picLocks noChangeAspect="1"/>
          </p:cNvPicPr>
          <p:nvPr/>
        </p:nvPicPr>
        <p:blipFill>
          <a:blip r:embed="rId5"/>
          <a:stretch>
            <a:fillRect/>
          </a:stretch>
        </p:blipFill>
        <p:spPr>
          <a:xfrm>
            <a:off x="533400" y="895350"/>
            <a:ext cx="1898650" cy="895350"/>
          </a:xfrm>
          <a:prstGeom prst="rect">
            <a:avLst/>
          </a:prstGeom>
        </p:spPr>
      </p:pic>
      <p:pic>
        <p:nvPicPr>
          <p:cNvPr id="20" name="Picture 19" descr="image.png"/>
          <p:cNvPicPr>
            <a:picLocks noChangeAspect="1"/>
          </p:cNvPicPr>
          <p:nvPr/>
        </p:nvPicPr>
        <p:blipFill>
          <a:blip r:embed="rId6"/>
          <a:stretch>
            <a:fillRect/>
          </a:stretch>
        </p:blipFill>
        <p:spPr>
          <a:xfrm>
            <a:off x="11010900" y="1238250"/>
            <a:ext cx="165100" cy="209550"/>
          </a:xfrm>
          <a:prstGeom prst="rect">
            <a:avLst/>
          </a:prstGeom>
        </p:spPr>
      </p:pic>
      <p:pic>
        <p:nvPicPr>
          <p:cNvPr id="21" name="Picture 20" descr="image.png"/>
          <p:cNvPicPr>
            <a:picLocks noChangeAspect="1"/>
          </p:cNvPicPr>
          <p:nvPr/>
        </p:nvPicPr>
        <p:blipFill>
          <a:blip r:embed="rId7"/>
          <a:stretch>
            <a:fillRect/>
          </a:stretch>
        </p:blipFill>
        <p:spPr>
          <a:xfrm>
            <a:off x="11201400" y="1238250"/>
            <a:ext cx="152400" cy="209550"/>
          </a:xfrm>
          <a:prstGeom prst="rect">
            <a:avLst/>
          </a:prstGeom>
        </p:spPr>
      </p:pic>
      <p:sp>
        <p:nvSpPr>
          <p:cNvPr id="23" name="TextBox 22">
            <a:extLst>
              <a:ext uri="{FF2B5EF4-FFF2-40B4-BE49-F238E27FC236}">
                <a16:creationId xmlns:a16="http://schemas.microsoft.com/office/drawing/2014/main" id="{506FB617-A5E9-F51C-410F-70C063DC0BB1}"/>
              </a:ext>
            </a:extLst>
          </p:cNvPr>
          <p:cNvSpPr txBox="1"/>
          <p:nvPr/>
        </p:nvSpPr>
        <p:spPr>
          <a:xfrm>
            <a:off x="342068" y="4188152"/>
            <a:ext cx="7006984" cy="1815882"/>
          </a:xfrm>
          <a:prstGeom prst="rect">
            <a:avLst/>
          </a:prstGeom>
          <a:noFill/>
        </p:spPr>
        <p:txBody>
          <a:bodyPr wrap="square" rtlCol="0">
            <a:spAutoFit/>
          </a:bodyPr>
          <a:lstStyle/>
          <a:p>
            <a:pPr defTabSz="914400">
              <a:lnSpc>
                <a:spcPct val="150000"/>
              </a:lnSpc>
            </a:pPr>
            <a:r>
              <a:rPr lang="en-US" sz="1600" dirty="0">
                <a:solidFill>
                  <a:prstClr val="black"/>
                </a:solidFill>
                <a:latin typeface="Verdana" panose="020B0604030504040204" pitchFamily="34" charset="0"/>
                <a:ea typeface="Verdana" panose="020B0604030504040204" pitchFamily="34" charset="0"/>
              </a:rPr>
              <a:t>Date </a:t>
            </a:r>
            <a:r>
              <a:rPr lang="en-US" sz="1600" dirty="0" smtClean="0">
                <a:solidFill>
                  <a:prstClr val="black"/>
                </a:solidFill>
                <a:latin typeface="Verdana" panose="020B0604030504040204" pitchFamily="34" charset="0"/>
                <a:ea typeface="Verdana" panose="020B0604030504040204" pitchFamily="34" charset="0"/>
              </a:rPr>
              <a:t>(18/04/2026)</a:t>
            </a:r>
            <a:endParaRPr lang="en-US" sz="1600" dirty="0">
              <a:solidFill>
                <a:prstClr val="black"/>
              </a:solidFill>
              <a:latin typeface="Verdana" panose="020B0604030504040204" pitchFamily="34" charset="0"/>
              <a:ea typeface="Verdana" panose="020B0604030504040204" pitchFamily="34" charset="0"/>
            </a:endParaRPr>
          </a:p>
          <a:p>
            <a:pPr defTabSz="914400" fontAlgn="t"/>
            <a:r>
              <a:rPr lang="en-US" sz="1600" dirty="0" smtClean="0">
                <a:solidFill>
                  <a:prstClr val="black"/>
                </a:solidFill>
                <a:latin typeface="Verdana" panose="020B0604030504040204" pitchFamily="34" charset="0"/>
                <a:ea typeface="Verdana" panose="020B0604030504040204" pitchFamily="34" charset="0"/>
              </a:rPr>
              <a:t>Name of the Presenter: </a:t>
            </a:r>
            <a:r>
              <a:rPr lang="en-US" sz="1600" dirty="0" err="1" smtClean="0">
                <a:solidFill>
                  <a:prstClr val="black"/>
                </a:solidFill>
                <a:latin typeface="Verdana" panose="020B0604030504040204" pitchFamily="34" charset="0"/>
                <a:ea typeface="Verdana" panose="020B0604030504040204" pitchFamily="34" charset="0"/>
              </a:rPr>
              <a:t>Yashvi</a:t>
            </a:r>
            <a:r>
              <a:rPr lang="en-US" sz="1600" dirty="0" smtClean="0">
                <a:solidFill>
                  <a:prstClr val="black"/>
                </a:solidFill>
                <a:latin typeface="Verdana" panose="020B0604030504040204" pitchFamily="34" charset="0"/>
                <a:ea typeface="Verdana" panose="020B0604030504040204" pitchFamily="34" charset="0"/>
              </a:rPr>
              <a:t> Patel </a:t>
            </a:r>
          </a:p>
          <a:p>
            <a:pPr defTabSz="914400">
              <a:lnSpc>
                <a:spcPct val="150000"/>
              </a:lnSpc>
            </a:pPr>
            <a:r>
              <a:rPr lang="en-US" sz="1600" dirty="0" smtClean="0">
                <a:solidFill>
                  <a:prstClr val="black"/>
                </a:solidFill>
                <a:latin typeface="Verdana" panose="020B0604030504040204" pitchFamily="34" charset="0"/>
                <a:ea typeface="Verdana" panose="020B0604030504040204" pitchFamily="34" charset="0"/>
              </a:rPr>
              <a:t>Email Id:25sc02062@gsfcuniversity.ac.in</a:t>
            </a:r>
          </a:p>
          <a:p>
            <a:pPr defTabSz="914400">
              <a:lnSpc>
                <a:spcPct val="150000"/>
              </a:lnSpc>
            </a:pPr>
            <a:r>
              <a:rPr lang="en-US" sz="1600" dirty="0" smtClean="0">
                <a:solidFill>
                  <a:prstClr val="black"/>
                </a:solidFill>
                <a:latin typeface="Verdana" panose="020B0604030504040204" pitchFamily="34" charset="0"/>
                <a:ea typeface="Verdana" panose="020B0604030504040204" pitchFamily="34" charset="0"/>
              </a:rPr>
              <a:t>Mobile No. 8849390683</a:t>
            </a:r>
          </a:p>
          <a:p>
            <a:pPr defTabSz="914400">
              <a:lnSpc>
                <a:spcPct val="150000"/>
              </a:lnSpc>
            </a:pPr>
            <a:r>
              <a:rPr lang="en-US" sz="1600" dirty="0" smtClean="0">
                <a:solidFill>
                  <a:prstClr val="black"/>
                </a:solidFill>
                <a:latin typeface="Verdana" panose="020B0604030504040204" pitchFamily="34" charset="0"/>
                <a:ea typeface="Verdana" panose="020B0604030504040204" pitchFamily="34" charset="0"/>
              </a:rPr>
              <a:t>Faculty Mentor Name: </a:t>
            </a:r>
            <a:r>
              <a:rPr lang="en-US" sz="1600" dirty="0" err="1" smtClean="0">
                <a:solidFill>
                  <a:prstClr val="black"/>
                </a:solidFill>
                <a:latin typeface="Verdana" panose="020B0604030504040204" pitchFamily="34" charset="0"/>
                <a:ea typeface="Verdana" panose="020B0604030504040204" pitchFamily="34" charset="0"/>
              </a:rPr>
              <a:t>Dr.Swati</a:t>
            </a:r>
            <a:r>
              <a:rPr lang="en-US" sz="1600" dirty="0" smtClean="0">
                <a:solidFill>
                  <a:prstClr val="black"/>
                </a:solidFill>
                <a:latin typeface="Verdana" panose="020B0604030504040204" pitchFamily="34" charset="0"/>
                <a:ea typeface="Verdana" panose="020B0604030504040204" pitchFamily="34" charset="0"/>
              </a:rPr>
              <a:t> </a:t>
            </a:r>
            <a:r>
              <a:rPr lang="en-US" sz="1600" dirty="0" err="1" smtClean="0">
                <a:solidFill>
                  <a:prstClr val="black"/>
                </a:solidFill>
                <a:latin typeface="Verdana" panose="020B0604030504040204" pitchFamily="34" charset="0"/>
                <a:ea typeface="Verdana" panose="020B0604030504040204" pitchFamily="34" charset="0"/>
              </a:rPr>
              <a:t>Jayswal</a:t>
            </a:r>
            <a:r>
              <a:rPr lang="en-US" sz="1600" dirty="0" smtClean="0">
                <a:solidFill>
                  <a:prstClr val="black"/>
                </a:solidFill>
                <a:latin typeface="Verdana" panose="020B0604030504040204" pitchFamily="34" charset="0"/>
                <a:ea typeface="Verdana" panose="020B0604030504040204" pitchFamily="34" charset="0"/>
              </a:rPr>
              <a:t> </a:t>
            </a:r>
            <a:endParaRPr lang="en-US" sz="1600" dirty="0">
              <a:solidFill>
                <a:prstClr val="black"/>
              </a:solidFill>
              <a:latin typeface="Verdana" panose="020B0604030504040204" pitchFamily="34" charset="0"/>
              <a:ea typeface="Verdan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5121546" y="303907"/>
            <a:ext cx="1824217" cy="184666"/>
          </a:xfrm>
          <a:prstGeom prst="rect">
            <a:avLst/>
          </a:prstGeom>
          <a:noFill/>
        </p:spPr>
        <p:txBody>
          <a:bodyPr wrap="none" lIns="0" tIns="0" rIns="0" bIns="0" anchor="ctr">
            <a:spAutoFit/>
          </a:bodyPr>
          <a:lstStyle/>
          <a:p>
            <a:r>
              <a:rPr lang="en-GB" sz="1200" spc="-100" dirty="0" err="1">
                <a:solidFill>
                  <a:srgbClr val="000000"/>
                </a:solidFill>
                <a:latin typeface="Verdana"/>
              </a:rPr>
              <a:t>b</a:t>
            </a:r>
            <a:r>
              <a:rPr lang="en-GB" sz="1200" spc="-100" dirty="0" err="1" smtClean="0">
                <a:solidFill>
                  <a:srgbClr val="000000"/>
                </a:solidFill>
                <a:latin typeface="Verdana"/>
              </a:rPr>
              <a:t>ioplstic</a:t>
            </a:r>
            <a:r>
              <a:rPr lang="en-GB" sz="1200" spc="-100" dirty="0" smtClean="0">
                <a:solidFill>
                  <a:srgbClr val="000000"/>
                </a:solidFill>
                <a:latin typeface="Verdana"/>
              </a:rPr>
              <a:t> from banana peels </a:t>
            </a:r>
            <a:endParaRPr sz="1200" spc="-100" dirty="0">
              <a:solidFill>
                <a:srgbClr val="000000"/>
              </a:solidFill>
              <a:latin typeface="Verdana"/>
            </a:endParaRPr>
          </a:p>
        </p:txBody>
      </p:sp>
      <p:sp>
        <p:nvSpPr>
          <p:cNvPr id="6" name="TextBox 5"/>
          <p:cNvSpPr txBox="1"/>
          <p:nvPr/>
        </p:nvSpPr>
        <p:spPr>
          <a:xfrm>
            <a:off x="542290" y="1021080"/>
            <a:ext cx="2391410" cy="236219"/>
          </a:xfrm>
          <a:prstGeom prst="rect">
            <a:avLst/>
          </a:prstGeom>
          <a:noFill/>
        </p:spPr>
        <p:txBody>
          <a:bodyPr wrap="none" lIns="0" tIns="0" rIns="0" bIns="0" anchor="ctr">
            <a:spAutoFit/>
          </a:bodyPr>
          <a:lstStyle/>
          <a:p>
            <a:r>
              <a:rPr sz="2400" b="1" spc="-100">
                <a:solidFill>
                  <a:srgbClr val="000000"/>
                </a:solidFill>
                <a:latin typeface="Verdana"/>
              </a:rPr>
              <a:t>Student Team</a:t>
            </a:r>
          </a:p>
        </p:txBody>
      </p:sp>
      <p:graphicFrame>
        <p:nvGraphicFramePr>
          <p:cNvPr id="7" name="Table 6"/>
          <p:cNvGraphicFramePr>
            <a:graphicFrameLocks noGrp="1"/>
          </p:cNvGraphicFramePr>
          <p:nvPr>
            <p:extLst>
              <p:ext uri="{D42A27DB-BD31-4B8C-83A1-F6EECF244321}">
                <p14:modId xmlns:p14="http://schemas.microsoft.com/office/powerpoint/2010/main" val="1711407319"/>
              </p:ext>
            </p:extLst>
          </p:nvPr>
        </p:nvGraphicFramePr>
        <p:xfrm>
          <a:off x="332510" y="1477010"/>
          <a:ext cx="11402290" cy="4158436"/>
        </p:xfrm>
        <a:graphic>
          <a:graphicData uri="http://schemas.openxmlformats.org/drawingml/2006/table">
            <a:tbl>
              <a:tblPr>
                <a:tableStyleId>{5C22544A-7EE6-4342-B048-85BDC9FD1C3A}</a:tableStyleId>
              </a:tblPr>
              <a:tblGrid>
                <a:gridCol w="4787140">
                  <a:extLst>
                    <a:ext uri="{9D8B030D-6E8A-4147-A177-3AD203B41FA5}">
                      <a16:colId xmlns:a16="http://schemas.microsoft.com/office/drawing/2014/main" val="20000"/>
                    </a:ext>
                  </a:extLst>
                </a:gridCol>
                <a:gridCol w="2583876">
                  <a:extLst>
                    <a:ext uri="{9D8B030D-6E8A-4147-A177-3AD203B41FA5}">
                      <a16:colId xmlns:a16="http://schemas.microsoft.com/office/drawing/2014/main" val="20001"/>
                    </a:ext>
                  </a:extLst>
                </a:gridCol>
                <a:gridCol w="4031274">
                  <a:extLst>
                    <a:ext uri="{9D8B030D-6E8A-4147-A177-3AD203B41FA5}">
                      <a16:colId xmlns:a16="http://schemas.microsoft.com/office/drawing/2014/main" val="20002"/>
                    </a:ext>
                  </a:extLst>
                </a:gridCol>
              </a:tblGrid>
              <a:tr h="444226">
                <a:tc>
                  <a:txBody>
                    <a:bodyPr/>
                    <a:lstStyle/>
                    <a:p>
                      <a:pPr>
                        <a:lnSpc>
                          <a:spcPts val="819"/>
                        </a:lnSpc>
                      </a:pPr>
                      <a:endParaRPr/>
                    </a:p>
                    <a:p>
                      <a:pPr marL="85090" algn="l">
                        <a:lnSpc>
                          <a:spcPts val="1340"/>
                        </a:lnSpc>
                      </a:pPr>
                      <a:r>
                        <a:rPr sz="1800" b="1" spc="-100">
                          <a:solidFill>
                            <a:srgbClr val="FFFFFF"/>
                          </a:solidFill>
                          <a:latin typeface="Verdana"/>
                        </a:rPr>
                        <a:t>Name</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tc>
                  <a:txBody>
                    <a:bodyPr/>
                    <a:lstStyle/>
                    <a:p>
                      <a:pPr>
                        <a:lnSpc>
                          <a:spcPts val="760"/>
                        </a:lnSpc>
                      </a:pPr>
                      <a:endParaRPr/>
                    </a:p>
                    <a:p>
                      <a:pPr marL="88900" algn="l">
                        <a:lnSpc>
                          <a:spcPts val="1400"/>
                        </a:lnSpc>
                      </a:pPr>
                      <a:r>
                        <a:rPr sz="1800" b="1" spc="-100">
                          <a:solidFill>
                            <a:srgbClr val="FFFFFF"/>
                          </a:solidFill>
                          <a:latin typeface="Verdana"/>
                        </a:rPr>
                        <a:t>Enrollment No.</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tc>
                  <a:txBody>
                    <a:bodyPr/>
                    <a:lstStyle/>
                    <a:p>
                      <a:pPr>
                        <a:lnSpc>
                          <a:spcPts val="760"/>
                        </a:lnSpc>
                      </a:pPr>
                      <a:endParaRPr/>
                    </a:p>
                    <a:p>
                      <a:pPr marL="91440" algn="l">
                        <a:lnSpc>
                          <a:spcPts val="1730"/>
                        </a:lnSpc>
                      </a:pPr>
                      <a:r>
                        <a:rPr sz="1800" b="1" spc="-100">
                          <a:solidFill>
                            <a:srgbClr val="FFFFFF"/>
                          </a:solidFill>
                          <a:latin typeface="Verdana"/>
                        </a:rPr>
                        <a:t>Key Responsibility</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extLst>
                  <a:ext uri="{0D108BD9-81ED-4DB2-BD59-A6C34878D82A}">
                    <a16:rowId xmlns:a16="http://schemas.microsoft.com/office/drawing/2014/main" val="10000"/>
                  </a:ext>
                </a:extLst>
              </a:tr>
              <a:tr h="777393">
                <a:tc>
                  <a:txBody>
                    <a:bodyPr/>
                    <a:lstStyle/>
                    <a:p>
                      <a:r>
                        <a:rPr lang="en-US" sz="1800" dirty="0" err="1" smtClean="0">
                          <a:latin typeface="Verdana" pitchFamily="34" charset="0"/>
                          <a:ea typeface="Verdana" pitchFamily="34" charset="0"/>
                        </a:rPr>
                        <a:t>Yashvi</a:t>
                      </a:r>
                      <a:r>
                        <a:rPr lang="en-US" sz="1800" baseline="0" dirty="0" smtClean="0">
                          <a:latin typeface="Verdana" pitchFamily="34" charset="0"/>
                          <a:ea typeface="Verdana" pitchFamily="34" charset="0"/>
                        </a:rPr>
                        <a:t> Patel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r>
                        <a:rPr lang="en-US" sz="1800" dirty="0" smtClean="0">
                          <a:latin typeface="Verdana" pitchFamily="34" charset="0"/>
                          <a:ea typeface="Verdana" pitchFamily="34" charset="0"/>
                        </a:rPr>
                        <a:t>25sc02062</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pPr algn="ctr"/>
                      <a:r>
                        <a:rPr lang="en-US" sz="1800" dirty="0" smtClean="0">
                          <a:latin typeface="Verdana" pitchFamily="34" charset="0"/>
                          <a:ea typeface="Verdana" pitchFamily="34" charset="0"/>
                        </a:rPr>
                        <a:t>Taking care of requirements and availability</a:t>
                      </a:r>
                      <a:r>
                        <a:rPr lang="en-US" sz="1800" baseline="0" dirty="0" smtClean="0">
                          <a:latin typeface="Verdana" pitchFamily="34" charset="0"/>
                          <a:ea typeface="Verdana" pitchFamily="34" charset="0"/>
                        </a:rPr>
                        <a:t> responsibilities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extLst>
                  <a:ext uri="{0D108BD9-81ED-4DB2-BD59-A6C34878D82A}">
                    <a16:rowId xmlns:a16="http://schemas.microsoft.com/office/drawing/2014/main" val="10001"/>
                  </a:ext>
                </a:extLst>
              </a:tr>
              <a:tr h="777393">
                <a:tc>
                  <a:txBody>
                    <a:bodyPr/>
                    <a:lstStyle/>
                    <a:p>
                      <a:r>
                        <a:rPr lang="en-US" sz="1800" dirty="0" smtClean="0">
                          <a:latin typeface="Verdana" pitchFamily="34" charset="0"/>
                          <a:ea typeface="Verdana" pitchFamily="34" charset="0"/>
                        </a:rPr>
                        <a:t>Mansi</a:t>
                      </a:r>
                      <a:r>
                        <a:rPr lang="en-US" sz="1800" baseline="0" dirty="0" smtClean="0">
                          <a:latin typeface="Verdana" pitchFamily="34" charset="0"/>
                          <a:ea typeface="Verdana" pitchFamily="34" charset="0"/>
                        </a:rPr>
                        <a:t> </a:t>
                      </a:r>
                      <a:r>
                        <a:rPr lang="en-US" sz="1800" baseline="0" dirty="0" err="1" smtClean="0">
                          <a:latin typeface="Verdana" pitchFamily="34" charset="0"/>
                          <a:ea typeface="Verdana" pitchFamily="34" charset="0"/>
                        </a:rPr>
                        <a:t>Patil</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r>
                        <a:rPr lang="en-US" sz="1800" dirty="0" smtClean="0">
                          <a:latin typeface="Verdana" pitchFamily="34" charset="0"/>
                          <a:ea typeface="Verdana" pitchFamily="34" charset="0"/>
                        </a:rPr>
                        <a:t>25sc02063</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Verdana" pitchFamily="34" charset="0"/>
                          <a:ea typeface="Verdana" pitchFamily="34" charset="0"/>
                        </a:rPr>
                        <a:t>Taking care of requirements and availability</a:t>
                      </a:r>
                      <a:r>
                        <a:rPr lang="en-US" sz="1800" baseline="0" dirty="0" smtClean="0">
                          <a:latin typeface="Verdana" pitchFamily="34" charset="0"/>
                          <a:ea typeface="Verdana" pitchFamily="34" charset="0"/>
                        </a:rPr>
                        <a:t> responsibilities </a:t>
                      </a:r>
                      <a:endParaRPr lang="en-US" sz="1800" dirty="0" smtClean="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extLst>
                  <a:ext uri="{0D108BD9-81ED-4DB2-BD59-A6C34878D82A}">
                    <a16:rowId xmlns:a16="http://schemas.microsoft.com/office/drawing/2014/main" val="10002"/>
                  </a:ext>
                </a:extLst>
              </a:tr>
              <a:tr h="4503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err="1" smtClean="0">
                          <a:latin typeface="Verdana" pitchFamily="34" charset="0"/>
                          <a:ea typeface="Verdana" pitchFamily="34" charset="0"/>
                        </a:rPr>
                        <a:t>Pragati</a:t>
                      </a:r>
                      <a:r>
                        <a:rPr lang="en-US" sz="1800" dirty="0" smtClean="0">
                          <a:latin typeface="Verdana" pitchFamily="34" charset="0"/>
                          <a:ea typeface="Verdana" pitchFamily="34" charset="0"/>
                        </a:rPr>
                        <a:t> </a:t>
                      </a:r>
                      <a:r>
                        <a:rPr lang="en-US" sz="1800" dirty="0" err="1" smtClean="0">
                          <a:latin typeface="Verdana" pitchFamily="34" charset="0"/>
                          <a:ea typeface="Verdana" pitchFamily="34" charset="0"/>
                        </a:rPr>
                        <a:t>Limbachiya</a:t>
                      </a:r>
                      <a:endParaRPr lang="en-US" sz="1800" dirty="0" smtClean="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r>
                        <a:rPr lang="en-US" sz="1800" dirty="0" smtClean="0">
                          <a:latin typeface="Verdana" pitchFamily="34" charset="0"/>
                          <a:ea typeface="Verdana" pitchFamily="34" charset="0"/>
                        </a:rPr>
                        <a:t>25sc02064</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pPr algn="ctr"/>
                      <a:r>
                        <a:rPr lang="en-US" sz="1800" dirty="0" smtClean="0">
                          <a:latin typeface="Verdana" pitchFamily="34" charset="0"/>
                          <a:ea typeface="Verdana" pitchFamily="34" charset="0"/>
                        </a:rPr>
                        <a:t>Material</a:t>
                      </a:r>
                      <a:r>
                        <a:rPr lang="en-US" sz="1800" baseline="0" dirty="0" smtClean="0">
                          <a:latin typeface="Verdana" pitchFamily="34" charset="0"/>
                          <a:ea typeface="Verdana" pitchFamily="34" charset="0"/>
                        </a:rPr>
                        <a:t> management</a:t>
                      </a: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extLst>
                  <a:ext uri="{0D108BD9-81ED-4DB2-BD59-A6C34878D82A}">
                    <a16:rowId xmlns:a16="http://schemas.microsoft.com/office/drawing/2014/main" val="10003"/>
                  </a:ext>
                </a:extLst>
              </a:tr>
              <a:tr h="777393">
                <a:tc>
                  <a:txBody>
                    <a:bodyPr/>
                    <a:lstStyle/>
                    <a:p>
                      <a:r>
                        <a:rPr lang="en-US" sz="1800" dirty="0" err="1" smtClean="0">
                          <a:latin typeface="Verdana" pitchFamily="34" charset="0"/>
                          <a:ea typeface="Verdana" pitchFamily="34" charset="0"/>
                        </a:rPr>
                        <a:t>Prusti</a:t>
                      </a:r>
                      <a:r>
                        <a:rPr lang="en-US" sz="1800" dirty="0" smtClean="0">
                          <a:latin typeface="Verdana" pitchFamily="34" charset="0"/>
                          <a:ea typeface="Verdana" pitchFamily="34" charset="0"/>
                        </a:rPr>
                        <a:t> </a:t>
                      </a:r>
                      <a:r>
                        <a:rPr lang="en-US" sz="1800" dirty="0" err="1" smtClean="0">
                          <a:latin typeface="Verdana" pitchFamily="34" charset="0"/>
                          <a:ea typeface="Verdana" pitchFamily="34" charset="0"/>
                        </a:rPr>
                        <a:t>Purohit</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r>
                        <a:rPr lang="en-US" sz="1800" dirty="0" smtClean="0">
                          <a:latin typeface="Verdana" pitchFamily="34" charset="0"/>
                          <a:ea typeface="Verdana" pitchFamily="34" charset="0"/>
                        </a:rPr>
                        <a:t>25sc02065</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pPr algn="ctr"/>
                      <a:r>
                        <a:rPr lang="en-US" sz="1800" dirty="0" smtClean="0">
                          <a:latin typeface="Verdana" pitchFamily="34" charset="0"/>
                          <a:ea typeface="Verdana" pitchFamily="34" charset="0"/>
                        </a:rPr>
                        <a:t>Material and status management of project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extLst>
                  <a:ext uri="{0D108BD9-81ED-4DB2-BD59-A6C34878D82A}">
                    <a16:rowId xmlns:a16="http://schemas.microsoft.com/office/drawing/2014/main" val="10004"/>
                  </a:ext>
                </a:extLst>
              </a:tr>
              <a:tr h="450394">
                <a:tc>
                  <a:txBody>
                    <a:bodyPr/>
                    <a:lstStyle/>
                    <a:p>
                      <a:r>
                        <a:rPr lang="en-US" sz="1800" dirty="0" err="1" smtClean="0">
                          <a:latin typeface="Verdana" pitchFamily="34" charset="0"/>
                          <a:ea typeface="Verdana" pitchFamily="34" charset="0"/>
                        </a:rPr>
                        <a:t>Hiloni</a:t>
                      </a:r>
                      <a:r>
                        <a:rPr lang="en-US" sz="1800" dirty="0" smtClean="0">
                          <a:latin typeface="Verdana" pitchFamily="34" charset="0"/>
                          <a:ea typeface="Verdana" pitchFamily="34" charset="0"/>
                        </a:rPr>
                        <a:t> </a:t>
                      </a:r>
                      <a:r>
                        <a:rPr lang="en-US" sz="1800" dirty="0" err="1" smtClean="0">
                          <a:latin typeface="Verdana" pitchFamily="34" charset="0"/>
                          <a:ea typeface="Verdana" pitchFamily="34" charset="0"/>
                        </a:rPr>
                        <a:t>Purohit</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r>
                        <a:rPr lang="en-US" sz="1800" dirty="0" smtClean="0">
                          <a:latin typeface="Verdana" pitchFamily="34" charset="0"/>
                          <a:ea typeface="Verdana" pitchFamily="34" charset="0"/>
                        </a:rPr>
                        <a:t>25sc02066</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pPr algn="ctr"/>
                      <a:r>
                        <a:rPr lang="en-US" sz="1800" dirty="0" smtClean="0">
                          <a:latin typeface="Verdana" pitchFamily="34" charset="0"/>
                          <a:ea typeface="Verdana" pitchFamily="34" charset="0"/>
                        </a:rPr>
                        <a:t>  Lab responsibilities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extLst>
                  <a:ext uri="{0D108BD9-81ED-4DB2-BD59-A6C34878D82A}">
                    <a16:rowId xmlns:a16="http://schemas.microsoft.com/office/drawing/2014/main" val="10005"/>
                  </a:ext>
                </a:extLst>
              </a:tr>
              <a:tr h="481242">
                <a:tc>
                  <a:txBody>
                    <a:bodyPr/>
                    <a:lstStyle/>
                    <a:p>
                      <a:r>
                        <a:rPr lang="en-US" sz="1800" dirty="0" err="1" smtClean="0">
                          <a:latin typeface="Verdana" pitchFamily="34" charset="0"/>
                          <a:ea typeface="Verdana" pitchFamily="34" charset="0"/>
                        </a:rPr>
                        <a:t>Jaypalsingh</a:t>
                      </a:r>
                      <a:r>
                        <a:rPr lang="en-US" sz="1800" dirty="0" smtClean="0">
                          <a:latin typeface="Verdana" pitchFamily="34" charset="0"/>
                          <a:ea typeface="Verdana" pitchFamily="34" charset="0"/>
                        </a:rPr>
                        <a:t>  </a:t>
                      </a:r>
                      <a:r>
                        <a:rPr lang="en-US" sz="1800" dirty="0" err="1" smtClean="0">
                          <a:latin typeface="Verdana" pitchFamily="34" charset="0"/>
                          <a:ea typeface="Verdana" pitchFamily="34" charset="0"/>
                        </a:rPr>
                        <a:t>Rajpurohit</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r>
                        <a:rPr lang="en-US" sz="1800" dirty="0" smtClean="0">
                          <a:latin typeface="Verdana" pitchFamily="34" charset="0"/>
                          <a:ea typeface="Verdana" pitchFamily="34" charset="0"/>
                        </a:rPr>
                        <a:t>25sc02068</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tc>
                  <a:txBody>
                    <a:bodyPr/>
                    <a:lstStyle/>
                    <a:p>
                      <a:pPr algn="ctr"/>
                      <a:r>
                        <a:rPr lang="en-US" sz="1800" dirty="0" smtClean="0">
                          <a:latin typeface="Verdana" pitchFamily="34" charset="0"/>
                          <a:ea typeface="Verdana" pitchFamily="34" charset="0"/>
                        </a:rPr>
                        <a:t>  Lab responsibilities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6350" cap="flat" cmpd="sng" algn="ctr">
                      <a:solidFill>
                        <a:srgbClr val="FFFFFF">
                          <a:alpha val="100000"/>
                        </a:srgbClr>
                      </a:solidFill>
                    </a:lnB>
                    <a:solidFill>
                      <a:srgbClr val="E9EBF5">
                        <a:alpha val="100000"/>
                      </a:srgbClr>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1" name="TextBox 10"/>
          <p:cNvSpPr txBox="1"/>
          <p:nvPr/>
        </p:nvSpPr>
        <p:spPr>
          <a:xfrm>
            <a:off x="11191240" y="6502400"/>
            <a:ext cx="77469" cy="97790"/>
          </a:xfrm>
          <a:prstGeom prst="rect">
            <a:avLst/>
          </a:prstGeom>
          <a:noFill/>
        </p:spPr>
        <p:txBody>
          <a:bodyPr wrap="none" lIns="0" tIns="0" rIns="0" bIns="0" anchor="ctr">
            <a:spAutoFit/>
          </a:bodyPr>
          <a:lstStyle/>
          <a:p>
            <a:r>
              <a:rPr sz="1200" spc="-100">
                <a:solidFill>
                  <a:srgbClr val="000000"/>
                </a:solidFill>
                <a:latin typeface="Calibri"/>
              </a:rPr>
              <a:t>2</a:t>
            </a:r>
          </a:p>
        </p:txBody>
      </p:sp>
      <p:pic>
        <p:nvPicPr>
          <p:cNvPr id="12" name="Picture 11" descr="image.png"/>
          <p:cNvPicPr>
            <a:picLocks noChangeAspect="1"/>
          </p:cNvPicPr>
          <p:nvPr/>
        </p:nvPicPr>
        <p:blipFill>
          <a:blip r:embed="rId5"/>
          <a:stretch>
            <a:fillRect/>
          </a:stretch>
        </p:blipFill>
        <p:spPr>
          <a:xfrm>
            <a:off x="444500" y="171450"/>
            <a:ext cx="946150" cy="438150"/>
          </a:xfrm>
          <a:prstGeom prst="rect">
            <a:avLst/>
          </a:prstGeom>
        </p:spPr>
      </p:pic>
      <p:pic>
        <p:nvPicPr>
          <p:cNvPr id="13" name="Picture 12" descr="image.png"/>
          <p:cNvPicPr>
            <a:picLocks noChangeAspect="1"/>
          </p:cNvPicPr>
          <p:nvPr/>
        </p:nvPicPr>
        <p:blipFill>
          <a:blip r:embed="rId6"/>
          <a:stretch>
            <a:fillRect/>
          </a:stretch>
        </p:blipFill>
        <p:spPr>
          <a:xfrm>
            <a:off x="11182350" y="285750"/>
            <a:ext cx="165100" cy="209550"/>
          </a:xfrm>
          <a:prstGeom prst="rect">
            <a:avLst/>
          </a:prstGeom>
        </p:spPr>
      </p:pic>
      <p:pic>
        <p:nvPicPr>
          <p:cNvPr id="14" name="Picture 13" descr="image.png"/>
          <p:cNvPicPr>
            <a:picLocks noChangeAspect="1"/>
          </p:cNvPicPr>
          <p:nvPr/>
        </p:nvPicPr>
        <p:blipFill>
          <a:blip r:embed="rId7"/>
          <a:stretch>
            <a:fillRect/>
          </a:stretch>
        </p:blipFill>
        <p:spPr>
          <a:xfrm>
            <a:off x="11360150" y="285750"/>
            <a:ext cx="165100" cy="209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20086"/>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697230" y="1358900"/>
            <a:ext cx="2550160" cy="293369"/>
          </a:xfrm>
          <a:prstGeom prst="rect">
            <a:avLst/>
          </a:prstGeom>
          <a:noFill/>
        </p:spPr>
        <p:txBody>
          <a:bodyPr wrap="none" lIns="0" tIns="0" rIns="0" bIns="0" anchor="ctr">
            <a:spAutoFit/>
          </a:bodyPr>
          <a:lstStyle/>
          <a:p>
            <a:r>
              <a:rPr sz="2400" b="1" spc="-100">
                <a:solidFill>
                  <a:srgbClr val="000000"/>
                </a:solidFill>
                <a:latin typeface="Verdana"/>
              </a:rPr>
              <a:t>Faculty Mentor</a:t>
            </a:r>
          </a:p>
        </p:txBody>
      </p:sp>
      <p:graphicFrame>
        <p:nvGraphicFramePr>
          <p:cNvPr id="7" name="Table 6"/>
          <p:cNvGraphicFramePr>
            <a:graphicFrameLocks noGrp="1"/>
          </p:cNvGraphicFramePr>
          <p:nvPr>
            <p:extLst>
              <p:ext uri="{D42A27DB-BD31-4B8C-83A1-F6EECF244321}">
                <p14:modId xmlns:p14="http://schemas.microsoft.com/office/powerpoint/2010/main" val="729324805"/>
              </p:ext>
            </p:extLst>
          </p:nvPr>
        </p:nvGraphicFramePr>
        <p:xfrm>
          <a:off x="604520" y="2002789"/>
          <a:ext cx="11241116" cy="736599"/>
        </p:xfrm>
        <a:graphic>
          <a:graphicData uri="http://schemas.openxmlformats.org/drawingml/2006/table">
            <a:tbl>
              <a:tblPr>
                <a:tableStyleId>{5C22544A-7EE6-4342-B048-85BDC9FD1C3A}</a:tableStyleId>
              </a:tblPr>
              <a:tblGrid>
                <a:gridCol w="4381235">
                  <a:extLst>
                    <a:ext uri="{9D8B030D-6E8A-4147-A177-3AD203B41FA5}">
                      <a16:colId xmlns:a16="http://schemas.microsoft.com/office/drawing/2014/main" val="20000"/>
                    </a:ext>
                  </a:extLst>
                </a:gridCol>
                <a:gridCol w="2885590">
                  <a:extLst>
                    <a:ext uri="{9D8B030D-6E8A-4147-A177-3AD203B41FA5}">
                      <a16:colId xmlns:a16="http://schemas.microsoft.com/office/drawing/2014/main" val="20001"/>
                    </a:ext>
                  </a:extLst>
                </a:gridCol>
                <a:gridCol w="3974291">
                  <a:extLst>
                    <a:ext uri="{9D8B030D-6E8A-4147-A177-3AD203B41FA5}">
                      <a16:colId xmlns:a16="http://schemas.microsoft.com/office/drawing/2014/main" val="20002"/>
                    </a:ext>
                  </a:extLst>
                </a:gridCol>
              </a:tblGrid>
              <a:tr h="365760">
                <a:tc>
                  <a:txBody>
                    <a:bodyPr/>
                    <a:lstStyle/>
                    <a:p>
                      <a:pPr>
                        <a:lnSpc>
                          <a:spcPts val="830"/>
                        </a:lnSpc>
                      </a:pPr>
                      <a:endParaRPr/>
                    </a:p>
                    <a:p>
                      <a:pPr marL="86360" algn="l">
                        <a:lnSpc>
                          <a:spcPts val="1330"/>
                        </a:lnSpc>
                      </a:pPr>
                      <a:r>
                        <a:rPr sz="1800" b="1" spc="-100">
                          <a:solidFill>
                            <a:srgbClr val="FFFFFF"/>
                          </a:solidFill>
                          <a:latin typeface="Verdana"/>
                        </a:rPr>
                        <a:t>Name</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tc>
                  <a:txBody>
                    <a:bodyPr/>
                    <a:lstStyle/>
                    <a:p>
                      <a:pPr>
                        <a:lnSpc>
                          <a:spcPts val="770"/>
                        </a:lnSpc>
                      </a:pPr>
                      <a:endParaRPr/>
                    </a:p>
                    <a:p>
                      <a:pPr marL="90170" algn="l">
                        <a:lnSpc>
                          <a:spcPts val="1739"/>
                        </a:lnSpc>
                      </a:pPr>
                      <a:r>
                        <a:rPr sz="1800" b="1" spc="-100">
                          <a:solidFill>
                            <a:srgbClr val="FFFFFF"/>
                          </a:solidFill>
                          <a:latin typeface="Verdana"/>
                        </a:rPr>
                        <a:t>Designation</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tc>
                  <a:txBody>
                    <a:bodyPr/>
                    <a:lstStyle/>
                    <a:p>
                      <a:pPr>
                        <a:lnSpc>
                          <a:spcPts val="770"/>
                        </a:lnSpc>
                      </a:pPr>
                      <a:endParaRPr/>
                    </a:p>
                    <a:p>
                      <a:pPr marL="91440" algn="l">
                        <a:lnSpc>
                          <a:spcPts val="1730"/>
                        </a:lnSpc>
                      </a:pPr>
                      <a:r>
                        <a:rPr sz="1800" b="1" spc="-100">
                          <a:solidFill>
                            <a:srgbClr val="FFFFFF"/>
                          </a:solidFill>
                          <a:latin typeface="Verdana"/>
                        </a:rPr>
                        <a:t>Department, School</a:t>
                      </a:r>
                    </a:p>
                  </a:txBody>
                  <a:tcPr marL="0" marR="0" marT="0" marB="0">
                    <a:lnL w="6350" cap="flat" cmpd="sng" algn="ctr">
                      <a:solidFill>
                        <a:srgbClr val="FFFFFF">
                          <a:alpha val="100000"/>
                        </a:srgbClr>
                      </a:solidFill>
                    </a:lnL>
                    <a:lnR w="6350" cap="flat" cmpd="sng" algn="ctr">
                      <a:solidFill>
                        <a:srgbClr val="FFFFFF">
                          <a:alpha val="100000"/>
                        </a:srgbClr>
                      </a:solidFill>
                    </a:lnR>
                    <a:lnT w="6350" cap="flat" cmpd="sng" algn="ctr">
                      <a:solidFill>
                        <a:srgbClr val="FFFFFF">
                          <a:alpha val="100000"/>
                        </a:srgbClr>
                      </a:solidFill>
                    </a:lnT>
                    <a:lnB w="19050" cap="flat" cmpd="sng" algn="ctr">
                      <a:solidFill>
                        <a:srgbClr val="FFFFFF"/>
                      </a:solidFill>
                      <a:prstDash val="solid"/>
                      <a:round/>
                      <a:headEnd type="none" w="med" len="med"/>
                      <a:tailEnd type="none" w="med" len="med"/>
                    </a:lnB>
                    <a:solidFill>
                      <a:srgbClr val="4471C4">
                        <a:alpha val="100000"/>
                      </a:srgbClr>
                    </a:solidFill>
                  </a:tcPr>
                </a:tc>
                <a:extLst>
                  <a:ext uri="{0D108BD9-81ED-4DB2-BD59-A6C34878D82A}">
                    <a16:rowId xmlns:a16="http://schemas.microsoft.com/office/drawing/2014/main" val="10000"/>
                  </a:ext>
                </a:extLst>
              </a:tr>
              <a:tr h="370839">
                <a:tc>
                  <a:txBody>
                    <a:bodyPr/>
                    <a:lstStyle/>
                    <a:p>
                      <a:r>
                        <a:rPr lang="en-US" sz="1800" baseline="0" dirty="0" smtClean="0">
                          <a:latin typeface="Verdana" pitchFamily="34" charset="0"/>
                          <a:ea typeface="Verdana" pitchFamily="34" charset="0"/>
                        </a:rPr>
                        <a:t>Dr. Swati </a:t>
                      </a:r>
                      <a:r>
                        <a:rPr lang="en-US" sz="1800" baseline="0" dirty="0" err="1" smtClean="0">
                          <a:latin typeface="Verdana" pitchFamily="34" charset="0"/>
                          <a:ea typeface="Verdana" pitchFamily="34" charset="0"/>
                        </a:rPr>
                        <a:t>Jayswal</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Verdana" pitchFamily="34" charset="0"/>
                          <a:ea typeface="Verdana" pitchFamily="34" charset="0"/>
                        </a:rPr>
                        <a:t>Assistant professor</a:t>
                      </a: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tc>
                  <a:txBody>
                    <a:bodyPr/>
                    <a:lstStyle/>
                    <a:p>
                      <a:r>
                        <a:rPr lang="en-US" sz="1800" dirty="0" smtClean="0">
                          <a:latin typeface="Verdana" pitchFamily="34" charset="0"/>
                          <a:ea typeface="Verdana" pitchFamily="34" charset="0"/>
                        </a:rPr>
                        <a:t> Life</a:t>
                      </a:r>
                      <a:r>
                        <a:rPr lang="en-US" sz="1800" baseline="0" dirty="0" smtClean="0">
                          <a:latin typeface="Verdana" pitchFamily="34" charset="0"/>
                          <a:ea typeface="Verdana" pitchFamily="34" charset="0"/>
                        </a:rPr>
                        <a:t> science , </a:t>
                      </a:r>
                      <a:r>
                        <a:rPr lang="en-US" sz="1800" dirty="0" smtClean="0">
                          <a:latin typeface="Verdana" pitchFamily="34" charset="0"/>
                          <a:ea typeface="Verdana" pitchFamily="34" charset="0"/>
                        </a:rPr>
                        <a:t>School of</a:t>
                      </a:r>
                      <a:r>
                        <a:rPr lang="en-US" sz="1800" baseline="0" dirty="0" smtClean="0">
                          <a:latin typeface="Verdana" pitchFamily="34" charset="0"/>
                          <a:ea typeface="Verdana" pitchFamily="34" charset="0"/>
                        </a:rPr>
                        <a:t> Science </a:t>
                      </a:r>
                      <a:endParaRPr lang="en-US" sz="1800" dirty="0">
                        <a:latin typeface="Verdana" pitchFamily="34" charset="0"/>
                        <a:ea typeface="Verdana" pitchFamily="34" charset="0"/>
                      </a:endParaRPr>
                    </a:p>
                  </a:txBody>
                  <a:tcPr>
                    <a:lnL w="6350" cap="flat" cmpd="sng" algn="ctr">
                      <a:solidFill>
                        <a:srgbClr val="FFFFFF">
                          <a:alpha val="100000"/>
                        </a:srgbClr>
                      </a:solidFill>
                    </a:lnL>
                    <a:lnR w="6350" cap="flat" cmpd="sng" algn="ctr">
                      <a:solidFill>
                        <a:srgbClr val="FFFFFF">
                          <a:alpha val="100000"/>
                        </a:srgbClr>
                      </a:solidFill>
                    </a:lnR>
                    <a:lnT w="19050" cap="flat" cmpd="sng" algn="ctr">
                      <a:solidFill>
                        <a:srgbClr val="FFFFFF">
                          <a:alpha val="100000"/>
                        </a:srgbClr>
                      </a:solidFill>
                    </a:lnT>
                    <a:lnB w="6350" cap="flat" cmpd="sng" algn="ctr">
                      <a:solidFill>
                        <a:srgbClr val="FFFFFF">
                          <a:alpha val="100000"/>
                        </a:srgbClr>
                      </a:solidFill>
                    </a:lnB>
                    <a:solidFill>
                      <a:srgbClr val="CFD4EA">
                        <a:alpha val="100000"/>
                      </a:srgbClr>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1" name="TextBox 10"/>
          <p:cNvSpPr txBox="1"/>
          <p:nvPr/>
        </p:nvSpPr>
        <p:spPr>
          <a:xfrm>
            <a:off x="11191240" y="6502400"/>
            <a:ext cx="77469" cy="99059"/>
          </a:xfrm>
          <a:prstGeom prst="rect">
            <a:avLst/>
          </a:prstGeom>
          <a:noFill/>
        </p:spPr>
        <p:txBody>
          <a:bodyPr wrap="none" lIns="0" tIns="0" rIns="0" bIns="0" anchor="ctr">
            <a:spAutoFit/>
          </a:bodyPr>
          <a:lstStyle/>
          <a:p>
            <a:r>
              <a:rPr sz="1200" spc="-100">
                <a:solidFill>
                  <a:srgbClr val="000000"/>
                </a:solidFill>
                <a:latin typeface="Calibri"/>
              </a:rPr>
              <a:t>3</a:t>
            </a:r>
          </a:p>
        </p:txBody>
      </p:sp>
      <p:pic>
        <p:nvPicPr>
          <p:cNvPr id="12" name="Picture 11" descr="image.png"/>
          <p:cNvPicPr>
            <a:picLocks noChangeAspect="1"/>
          </p:cNvPicPr>
          <p:nvPr/>
        </p:nvPicPr>
        <p:blipFill>
          <a:blip r:embed="rId5"/>
          <a:stretch>
            <a:fillRect/>
          </a:stretch>
        </p:blipFill>
        <p:spPr>
          <a:xfrm>
            <a:off x="444500" y="171450"/>
            <a:ext cx="946150" cy="438150"/>
          </a:xfrm>
          <a:prstGeom prst="rect">
            <a:avLst/>
          </a:prstGeom>
        </p:spPr>
      </p:pic>
      <p:pic>
        <p:nvPicPr>
          <p:cNvPr id="13" name="Picture 12" descr="image.png"/>
          <p:cNvPicPr>
            <a:picLocks noChangeAspect="1"/>
          </p:cNvPicPr>
          <p:nvPr/>
        </p:nvPicPr>
        <p:blipFill>
          <a:blip r:embed="rId6"/>
          <a:stretch>
            <a:fillRect/>
          </a:stretch>
        </p:blipFill>
        <p:spPr>
          <a:xfrm>
            <a:off x="11182350" y="285750"/>
            <a:ext cx="165100" cy="209550"/>
          </a:xfrm>
          <a:prstGeom prst="rect">
            <a:avLst/>
          </a:prstGeom>
        </p:spPr>
      </p:pic>
      <p:pic>
        <p:nvPicPr>
          <p:cNvPr id="14" name="Picture 13" descr="image.png"/>
          <p:cNvPicPr>
            <a:picLocks noChangeAspect="1"/>
          </p:cNvPicPr>
          <p:nvPr/>
        </p:nvPicPr>
        <p:blipFill>
          <a:blip r:embed="rId7"/>
          <a:stretch>
            <a:fillRect/>
          </a:stretch>
        </p:blipFill>
        <p:spPr>
          <a:xfrm>
            <a:off x="11360150" y="285750"/>
            <a:ext cx="165100" cy="209550"/>
          </a:xfrm>
          <a:prstGeom prst="rect">
            <a:avLst/>
          </a:prstGeom>
        </p:spPr>
      </p:pic>
      <p:sp>
        <p:nvSpPr>
          <p:cNvPr id="15" name="TextBox 14"/>
          <p:cNvSpPr txBox="1"/>
          <p:nvPr/>
        </p:nvSpPr>
        <p:spPr>
          <a:xfrm>
            <a:off x="5121546" y="205859"/>
            <a:ext cx="1904367" cy="184666"/>
          </a:xfrm>
          <a:prstGeom prst="rect">
            <a:avLst/>
          </a:prstGeom>
          <a:noFill/>
        </p:spPr>
        <p:txBody>
          <a:bodyPr wrap="none" lIns="0" tIns="0" rIns="0" bIns="0" anchor="ctr">
            <a:spAutoFit/>
          </a:bodyPr>
          <a:lstStyle/>
          <a:p>
            <a:r>
              <a:rPr lang="en-GB" sz="1200" spc="-100" dirty="0" smtClean="0">
                <a:solidFill>
                  <a:srgbClr val="000000"/>
                </a:solidFill>
                <a:latin typeface="Verdana"/>
              </a:rPr>
              <a:t>bioplastic</a:t>
            </a:r>
            <a:r>
              <a:rPr lang="en-GB" sz="1200" spc="-100" dirty="0" smtClean="0">
                <a:solidFill>
                  <a:srgbClr val="000000"/>
                </a:solidFill>
                <a:latin typeface="Verdana"/>
              </a:rPr>
              <a:t> from banana peels </a:t>
            </a:r>
            <a:endParaRPr sz="1200" spc="-100" dirty="0">
              <a:solidFill>
                <a:srgbClr val="000000"/>
              </a:solidFill>
              <a:latin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542290" y="1018540"/>
            <a:ext cx="5665470" cy="297179"/>
          </a:xfrm>
          <a:prstGeom prst="rect">
            <a:avLst/>
          </a:prstGeom>
          <a:noFill/>
        </p:spPr>
        <p:txBody>
          <a:bodyPr wrap="none" lIns="0" tIns="0" rIns="0" bIns="0" anchor="ctr">
            <a:spAutoFit/>
          </a:bodyPr>
          <a:lstStyle/>
          <a:p>
            <a:r>
              <a:rPr sz="2400" b="1" spc="-100">
                <a:solidFill>
                  <a:srgbClr val="000000"/>
                </a:solidFill>
                <a:latin typeface="Verdana"/>
              </a:rPr>
              <a:t>Introduction of Tinkering Project</a:t>
            </a:r>
          </a:p>
        </p:txBody>
      </p:sp>
      <p:sp>
        <p:nvSpPr>
          <p:cNvPr id="7" name="TextBox 6"/>
          <p:cNvSpPr txBox="1"/>
          <p:nvPr/>
        </p:nvSpPr>
        <p:spPr>
          <a:xfrm>
            <a:off x="542289" y="1921291"/>
            <a:ext cx="7879816" cy="307777"/>
          </a:xfrm>
          <a:prstGeom prst="rect">
            <a:avLst/>
          </a:prstGeom>
          <a:noFill/>
        </p:spPr>
        <p:txBody>
          <a:bodyPr wrap="square" lIns="0" tIns="0" rIns="0" bIns="0" anchor="ctr">
            <a:spAutoFit/>
          </a:bodyPr>
          <a:lstStyle/>
          <a:p>
            <a:r>
              <a:rPr sz="2000" b="1" spc="-100" dirty="0">
                <a:solidFill>
                  <a:srgbClr val="000000"/>
                </a:solidFill>
                <a:latin typeface="Verdana"/>
              </a:rPr>
              <a:t>Title of Tinkering Project</a:t>
            </a:r>
            <a:r>
              <a:rPr sz="2000" b="1" spc="-100" dirty="0" smtClean="0">
                <a:solidFill>
                  <a:srgbClr val="000000"/>
                </a:solidFill>
                <a:latin typeface="Verdana"/>
              </a:rPr>
              <a:t>:</a:t>
            </a:r>
            <a:r>
              <a:rPr lang="en-GB" sz="2000" b="1" spc="-100" dirty="0" smtClean="0">
                <a:solidFill>
                  <a:srgbClr val="000000"/>
                </a:solidFill>
                <a:latin typeface="Verdana"/>
              </a:rPr>
              <a:t>  </a:t>
            </a:r>
            <a:r>
              <a:rPr lang="en-IN" dirty="0" smtClean="0">
                <a:latin typeface="Verdana" panose="020B0604030504040204" pitchFamily="34" charset="0"/>
                <a:ea typeface="Verdana" panose="020B0604030504040204" pitchFamily="34" charset="0"/>
              </a:rPr>
              <a:t>Bioplastic </a:t>
            </a:r>
            <a:r>
              <a:rPr lang="en-IN" dirty="0">
                <a:latin typeface="Verdana" panose="020B0604030504040204" pitchFamily="34" charset="0"/>
                <a:ea typeface="Verdana" panose="020B0604030504040204" pitchFamily="34" charset="0"/>
              </a:rPr>
              <a:t>from Banana Peels</a:t>
            </a:r>
            <a:endParaRPr sz="2000" b="1" spc="-100" dirty="0">
              <a:solidFill>
                <a:srgbClr val="000000"/>
              </a:solidFill>
              <a:latin typeface="Verdana" panose="020B0604030504040204" pitchFamily="34" charset="0"/>
              <a:ea typeface="Verdana" panose="020B0604030504040204" pitchFamily="34" charset="0"/>
            </a:endParaRPr>
          </a:p>
        </p:txBody>
      </p:sp>
      <p:sp>
        <p:nvSpPr>
          <p:cNvPr id="8" name="TextBox 7"/>
          <p:cNvSpPr txBox="1"/>
          <p:nvPr/>
        </p:nvSpPr>
        <p:spPr>
          <a:xfrm>
            <a:off x="542290" y="2542249"/>
            <a:ext cx="8830310" cy="307777"/>
          </a:xfrm>
          <a:prstGeom prst="rect">
            <a:avLst/>
          </a:prstGeom>
          <a:noFill/>
        </p:spPr>
        <p:txBody>
          <a:bodyPr wrap="square" lIns="0" tIns="0" rIns="0" bIns="0" anchor="ctr">
            <a:spAutoFit/>
          </a:bodyPr>
          <a:lstStyle/>
          <a:p>
            <a:r>
              <a:rPr sz="2000" b="1" spc="-100" dirty="0">
                <a:solidFill>
                  <a:srgbClr val="000000"/>
                </a:solidFill>
                <a:latin typeface="Verdana"/>
              </a:rPr>
              <a:t>Sector</a:t>
            </a:r>
            <a:r>
              <a:rPr sz="2000" b="1" spc="-100" dirty="0" smtClean="0">
                <a:solidFill>
                  <a:srgbClr val="000000"/>
                </a:solidFill>
                <a:latin typeface="Verdana"/>
              </a:rPr>
              <a:t>:</a:t>
            </a:r>
            <a:r>
              <a:rPr lang="en-GB" sz="2000" b="1" spc="-100" dirty="0" smtClean="0">
                <a:solidFill>
                  <a:srgbClr val="000000"/>
                </a:solidFill>
                <a:latin typeface="Verdana"/>
              </a:rPr>
              <a:t> </a:t>
            </a:r>
            <a:r>
              <a:rPr lang="en-IN" dirty="0">
                <a:latin typeface="Verdana" panose="020B0604030504040204" pitchFamily="34" charset="0"/>
                <a:ea typeface="Verdana" panose="020B0604030504040204" pitchFamily="34" charset="0"/>
              </a:rPr>
              <a:t>Sustainability / Environmental Biotechnology</a:t>
            </a:r>
            <a:endParaRPr sz="2000" b="1" spc="-100" dirty="0">
              <a:solidFill>
                <a:srgbClr val="000000"/>
              </a:solidFill>
              <a:latin typeface="Verdana" panose="020B0604030504040204" pitchFamily="34" charset="0"/>
              <a:ea typeface="Verdana" panose="020B0604030504040204" pitchFamily="34" charset="0"/>
            </a:endParaRPr>
          </a:p>
        </p:txBody>
      </p:sp>
      <p:sp>
        <p:nvSpPr>
          <p:cNvPr id="9" name="TextBox 8"/>
          <p:cNvSpPr txBox="1"/>
          <p:nvPr/>
        </p:nvSpPr>
        <p:spPr>
          <a:xfrm>
            <a:off x="567221" y="3098191"/>
            <a:ext cx="6868296" cy="1969770"/>
          </a:xfrm>
          <a:prstGeom prst="rect">
            <a:avLst/>
          </a:prstGeom>
          <a:noFill/>
        </p:spPr>
        <p:txBody>
          <a:bodyPr wrap="square" lIns="0" tIns="0" rIns="0" bIns="0" anchor="ctr">
            <a:spAutoFit/>
          </a:bodyPr>
          <a:lstStyle/>
          <a:p>
            <a:r>
              <a:rPr sz="2000" b="1" spc="-100" dirty="0">
                <a:solidFill>
                  <a:srgbClr val="000000"/>
                </a:solidFill>
                <a:latin typeface="Verdana"/>
              </a:rPr>
              <a:t>Brief</a:t>
            </a:r>
            <a:r>
              <a:rPr sz="2000" b="1" spc="-100" dirty="0" smtClean="0">
                <a:solidFill>
                  <a:srgbClr val="000000"/>
                </a:solidFill>
                <a:latin typeface="Verdana"/>
              </a:rPr>
              <a:t>:</a:t>
            </a:r>
            <a:r>
              <a:rPr lang="en-GB" sz="2000" b="1" spc="-100" dirty="0" smtClean="0">
                <a:solidFill>
                  <a:srgbClr val="000000"/>
                </a:solidFill>
                <a:latin typeface="Verdana"/>
              </a:rPr>
              <a:t>  </a:t>
            </a:r>
            <a:r>
              <a:rPr lang="en-GB" dirty="0">
                <a:latin typeface="Verdana" panose="020B0604030504040204" pitchFamily="34" charset="0"/>
                <a:ea typeface="Verdana" panose="020B0604030504040204" pitchFamily="34" charset="0"/>
              </a:rPr>
              <a:t>Plastic pollution is one of the biggest environmental problems today. In this project, we explored how waste banana peels can be converted into biodegradable plastic. This not only reduces waste but also provides an eco-friendly alternative to harmful synthetic plastics. The idea is simple, affordable, and suitable for small-scale production</a:t>
            </a:r>
            <a:r>
              <a:rPr lang="en-GB" dirty="0"/>
              <a:t>.</a:t>
            </a:r>
            <a:endParaRPr sz="2000" b="1" spc="-100" dirty="0">
              <a:solidFill>
                <a:srgbClr val="000000"/>
              </a:solidFill>
              <a:latin typeface="Verdana"/>
            </a:endParaRPr>
          </a:p>
        </p:txBody>
      </p:sp>
      <p:sp>
        <p:nvSpPr>
          <p:cNvPr id="11" name="TextBox 10"/>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3" name="TextBox 12"/>
          <p:cNvSpPr txBox="1"/>
          <p:nvPr/>
        </p:nvSpPr>
        <p:spPr>
          <a:xfrm>
            <a:off x="11191240" y="6502400"/>
            <a:ext cx="77469" cy="97790"/>
          </a:xfrm>
          <a:prstGeom prst="rect">
            <a:avLst/>
          </a:prstGeom>
          <a:noFill/>
        </p:spPr>
        <p:txBody>
          <a:bodyPr wrap="none" lIns="0" tIns="0" rIns="0" bIns="0" anchor="ctr">
            <a:spAutoFit/>
          </a:bodyPr>
          <a:lstStyle/>
          <a:p>
            <a:r>
              <a:rPr sz="1200" spc="-100">
                <a:solidFill>
                  <a:srgbClr val="000000"/>
                </a:solidFill>
                <a:latin typeface="Calibri"/>
              </a:rPr>
              <a:t>4</a:t>
            </a:r>
          </a:p>
        </p:txBody>
      </p:sp>
      <p:pic>
        <p:nvPicPr>
          <p:cNvPr id="14" name="Picture 13" descr="image.png"/>
          <p:cNvPicPr>
            <a:picLocks noChangeAspect="1"/>
          </p:cNvPicPr>
          <p:nvPr/>
        </p:nvPicPr>
        <p:blipFill>
          <a:blip r:embed="rId5"/>
          <a:stretch>
            <a:fillRect/>
          </a:stretch>
        </p:blipFill>
        <p:spPr>
          <a:xfrm>
            <a:off x="444500" y="171450"/>
            <a:ext cx="946150" cy="438150"/>
          </a:xfrm>
          <a:prstGeom prst="rect">
            <a:avLst/>
          </a:prstGeom>
        </p:spPr>
      </p:pic>
      <p:pic>
        <p:nvPicPr>
          <p:cNvPr id="15" name="Picture 14" descr="image.png"/>
          <p:cNvPicPr>
            <a:picLocks noChangeAspect="1"/>
          </p:cNvPicPr>
          <p:nvPr/>
        </p:nvPicPr>
        <p:blipFill>
          <a:blip r:embed="rId6"/>
          <a:stretch>
            <a:fillRect/>
          </a:stretch>
        </p:blipFill>
        <p:spPr>
          <a:xfrm>
            <a:off x="11182350" y="285750"/>
            <a:ext cx="165100" cy="209550"/>
          </a:xfrm>
          <a:prstGeom prst="rect">
            <a:avLst/>
          </a:prstGeom>
        </p:spPr>
      </p:pic>
      <p:pic>
        <p:nvPicPr>
          <p:cNvPr id="16" name="Picture 15" descr="image.png"/>
          <p:cNvPicPr>
            <a:picLocks noChangeAspect="1"/>
          </p:cNvPicPr>
          <p:nvPr/>
        </p:nvPicPr>
        <p:blipFill>
          <a:blip r:embed="rId7"/>
          <a:stretch>
            <a:fillRect/>
          </a:stretch>
        </p:blipFill>
        <p:spPr>
          <a:xfrm>
            <a:off x="11360150" y="285750"/>
            <a:ext cx="165100" cy="209550"/>
          </a:xfrm>
          <a:prstGeom prst="rect">
            <a:avLst/>
          </a:prstGeom>
        </p:spPr>
      </p:pic>
      <p:sp>
        <p:nvSpPr>
          <p:cNvPr id="18" name="TextBox 17"/>
          <p:cNvSpPr txBox="1"/>
          <p:nvPr/>
        </p:nvSpPr>
        <p:spPr>
          <a:xfrm>
            <a:off x="5121546" y="205859"/>
            <a:ext cx="1904367" cy="184666"/>
          </a:xfrm>
          <a:prstGeom prst="rect">
            <a:avLst/>
          </a:prstGeom>
          <a:noFill/>
        </p:spPr>
        <p:txBody>
          <a:bodyPr wrap="none" lIns="0" tIns="0" rIns="0" bIns="0" anchor="ctr">
            <a:spAutoFit/>
          </a:bodyPr>
          <a:lstStyle/>
          <a:p>
            <a:r>
              <a:rPr lang="en-GB" sz="1200" spc="-100" dirty="0" smtClean="0">
                <a:solidFill>
                  <a:srgbClr val="000000"/>
                </a:solidFill>
                <a:latin typeface="Verdana"/>
              </a:rPr>
              <a:t>bioplastic</a:t>
            </a:r>
            <a:r>
              <a:rPr lang="en-GB" sz="1200" spc="-100" dirty="0" smtClean="0">
                <a:solidFill>
                  <a:srgbClr val="000000"/>
                </a:solidFill>
                <a:latin typeface="Verdana"/>
              </a:rPr>
              <a:t> from banana peels </a:t>
            </a:r>
            <a:endParaRPr sz="1200" spc="-100" dirty="0">
              <a:solidFill>
                <a:srgbClr val="000000"/>
              </a:solidFill>
              <a:latin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542290" y="1021080"/>
            <a:ext cx="6108700" cy="294639"/>
          </a:xfrm>
          <a:prstGeom prst="rect">
            <a:avLst/>
          </a:prstGeom>
          <a:noFill/>
        </p:spPr>
        <p:txBody>
          <a:bodyPr wrap="none" lIns="0" tIns="0" rIns="0" bIns="0" anchor="ctr">
            <a:spAutoFit/>
          </a:bodyPr>
          <a:lstStyle/>
          <a:p>
            <a:r>
              <a:rPr sz="2400" b="1" spc="-100" dirty="0">
                <a:solidFill>
                  <a:srgbClr val="000000"/>
                </a:solidFill>
                <a:latin typeface="Verdana"/>
              </a:rPr>
              <a:t>Methodology and Tinkering Process</a:t>
            </a:r>
          </a:p>
        </p:txBody>
      </p:sp>
      <p:sp>
        <p:nvSpPr>
          <p:cNvPr id="10" name="TextBox 9"/>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2" name="TextBox 11"/>
          <p:cNvSpPr txBox="1"/>
          <p:nvPr/>
        </p:nvSpPr>
        <p:spPr>
          <a:xfrm>
            <a:off x="11191240" y="6503670"/>
            <a:ext cx="77469" cy="97789"/>
          </a:xfrm>
          <a:prstGeom prst="rect">
            <a:avLst/>
          </a:prstGeom>
          <a:noFill/>
        </p:spPr>
        <p:txBody>
          <a:bodyPr wrap="none" lIns="0" tIns="0" rIns="0" bIns="0" anchor="ctr">
            <a:spAutoFit/>
          </a:bodyPr>
          <a:lstStyle/>
          <a:p>
            <a:r>
              <a:rPr sz="1200" spc="-100">
                <a:solidFill>
                  <a:srgbClr val="000000"/>
                </a:solidFill>
                <a:latin typeface="Calibri"/>
              </a:rPr>
              <a:t>5</a:t>
            </a:r>
          </a:p>
        </p:txBody>
      </p:sp>
      <p:pic>
        <p:nvPicPr>
          <p:cNvPr id="13" name="Picture 12" descr="image.png"/>
          <p:cNvPicPr>
            <a:picLocks noChangeAspect="1"/>
          </p:cNvPicPr>
          <p:nvPr/>
        </p:nvPicPr>
        <p:blipFill>
          <a:blip r:embed="rId5"/>
          <a:stretch>
            <a:fillRect/>
          </a:stretch>
        </p:blipFill>
        <p:spPr>
          <a:xfrm>
            <a:off x="444500" y="171450"/>
            <a:ext cx="946150" cy="438150"/>
          </a:xfrm>
          <a:prstGeom prst="rect">
            <a:avLst/>
          </a:prstGeom>
        </p:spPr>
      </p:pic>
      <p:pic>
        <p:nvPicPr>
          <p:cNvPr id="14" name="Picture 13" descr="image.png"/>
          <p:cNvPicPr>
            <a:picLocks noChangeAspect="1"/>
          </p:cNvPicPr>
          <p:nvPr/>
        </p:nvPicPr>
        <p:blipFill>
          <a:blip r:embed="rId6"/>
          <a:stretch>
            <a:fillRect/>
          </a:stretch>
        </p:blipFill>
        <p:spPr>
          <a:xfrm>
            <a:off x="11182350" y="285750"/>
            <a:ext cx="165100" cy="209550"/>
          </a:xfrm>
          <a:prstGeom prst="rect">
            <a:avLst/>
          </a:prstGeom>
        </p:spPr>
      </p:pic>
      <p:pic>
        <p:nvPicPr>
          <p:cNvPr id="15" name="Picture 14" descr="image.png"/>
          <p:cNvPicPr>
            <a:picLocks noChangeAspect="1"/>
          </p:cNvPicPr>
          <p:nvPr/>
        </p:nvPicPr>
        <p:blipFill>
          <a:blip r:embed="rId7"/>
          <a:stretch>
            <a:fillRect/>
          </a:stretch>
        </p:blipFill>
        <p:spPr>
          <a:xfrm>
            <a:off x="11360150" y="285750"/>
            <a:ext cx="165100" cy="209550"/>
          </a:xfrm>
          <a:prstGeom prst="rect">
            <a:avLst/>
          </a:prstGeom>
        </p:spPr>
      </p:pic>
      <p:sp>
        <p:nvSpPr>
          <p:cNvPr id="16" name="TextBox 15"/>
          <p:cNvSpPr txBox="1"/>
          <p:nvPr/>
        </p:nvSpPr>
        <p:spPr>
          <a:xfrm>
            <a:off x="444500" y="1540041"/>
            <a:ext cx="9821718" cy="3785652"/>
          </a:xfrm>
          <a:prstGeom prst="rect">
            <a:avLst/>
          </a:prstGeom>
          <a:noFill/>
        </p:spPr>
        <p:txBody>
          <a:bodyPr wrap="square" rtlCol="0">
            <a:spAutoFit/>
          </a:bodyPr>
          <a:lstStyle/>
          <a:p>
            <a:r>
              <a:rPr lang="en-IN" sz="2000" b="1" dirty="0">
                <a:latin typeface="Verdana" panose="020B0604030504040204" pitchFamily="34" charset="0"/>
                <a:ea typeface="Verdana" panose="020B0604030504040204" pitchFamily="34" charset="0"/>
              </a:rPr>
              <a:t>Project Approach</a:t>
            </a:r>
            <a:r>
              <a:rPr lang="en-IN" sz="2000" b="1" dirty="0" smtClean="0">
                <a:latin typeface="Verdana" panose="020B0604030504040204" pitchFamily="34" charset="0"/>
                <a:ea typeface="Verdana" panose="020B0604030504040204" pitchFamily="34" charset="0"/>
              </a:rPr>
              <a:t>:</a:t>
            </a:r>
            <a:r>
              <a:rPr lang="en-IN" dirty="0" smtClean="0">
                <a:latin typeface="Verdana" panose="020B0604030504040204" pitchFamily="34" charset="0"/>
                <a:ea typeface="Verdana" panose="020B0604030504040204" pitchFamily="34" charset="0"/>
              </a:rPr>
              <a:t/>
            </a:r>
            <a:br>
              <a:rPr lang="en-IN" dirty="0" smtClean="0">
                <a:latin typeface="Verdana" panose="020B0604030504040204" pitchFamily="34" charset="0"/>
                <a:ea typeface="Verdana" panose="020B0604030504040204" pitchFamily="34" charset="0"/>
              </a:rPr>
            </a:br>
            <a:r>
              <a:rPr lang="en-GB" dirty="0">
                <a:latin typeface="Verdana" panose="020B0604030504040204" pitchFamily="34" charset="0"/>
                <a:ea typeface="Verdana" panose="020B0604030504040204" pitchFamily="34" charset="0"/>
              </a:rPr>
              <a:t>We collected banana peels, cleaned and dried them, and then processed them to extract starch</a:t>
            </a:r>
            <a:r>
              <a:rPr lang="en-GB" dirty="0" smtClean="0">
                <a:latin typeface="Verdana" panose="020B0604030504040204" pitchFamily="34" charset="0"/>
                <a:ea typeface="Verdana" panose="020B0604030504040204" pitchFamily="34" charset="0"/>
              </a:rPr>
              <a:t>.</a:t>
            </a:r>
            <a:br>
              <a:rPr lang="en-GB" dirty="0" smtClean="0">
                <a:latin typeface="Verdana" panose="020B0604030504040204" pitchFamily="34" charset="0"/>
                <a:ea typeface="Verdana" panose="020B0604030504040204" pitchFamily="34" charset="0"/>
              </a:rPr>
            </a:br>
            <a:r>
              <a:rPr lang="en-GB" dirty="0" smtClean="0">
                <a:latin typeface="Verdana" panose="020B0604030504040204" pitchFamily="34" charset="0"/>
                <a:ea typeface="Verdana" panose="020B0604030504040204" pitchFamily="34" charset="0"/>
              </a:rPr>
              <a:t/>
            </a:r>
            <a:br>
              <a:rPr lang="en-GB" dirty="0" smtClean="0">
                <a:latin typeface="Verdana" panose="020B0604030504040204" pitchFamily="34" charset="0"/>
                <a:ea typeface="Verdana" panose="020B0604030504040204" pitchFamily="34" charset="0"/>
              </a:rPr>
            </a:br>
            <a:r>
              <a:rPr lang="en-IN" sz="2000" b="1" dirty="0">
                <a:latin typeface="Verdana" panose="020B0604030504040204" pitchFamily="34" charset="0"/>
                <a:ea typeface="Verdana" panose="020B0604030504040204" pitchFamily="34" charset="0"/>
              </a:rPr>
              <a:t>Tinkering Journey</a:t>
            </a:r>
            <a:r>
              <a:rPr lang="en-IN" sz="2000" b="1" dirty="0" smtClean="0">
                <a:latin typeface="Verdana" panose="020B0604030504040204" pitchFamily="34" charset="0"/>
                <a:ea typeface="Verdana" panose="020B0604030504040204" pitchFamily="34" charset="0"/>
              </a:rPr>
              <a:t>:</a:t>
            </a:r>
            <a:r>
              <a:rPr lang="en-IN" dirty="0" smtClean="0">
                <a:latin typeface="Verdana" panose="020B0604030504040204" pitchFamily="34" charset="0"/>
                <a:ea typeface="Verdana" panose="020B0604030504040204" pitchFamily="34" charset="0"/>
              </a:rPr>
              <a:t/>
            </a:r>
            <a:br>
              <a:rPr lang="en-IN" dirty="0" smtClean="0">
                <a:latin typeface="Verdana" panose="020B0604030504040204" pitchFamily="34" charset="0"/>
                <a:ea typeface="Verdana" panose="020B0604030504040204" pitchFamily="34" charset="0"/>
              </a:rPr>
            </a:br>
            <a:r>
              <a:rPr lang="en-IN" dirty="0" smtClean="0">
                <a:latin typeface="Verdana" panose="020B0604030504040204" pitchFamily="34" charset="0"/>
                <a:ea typeface="Verdana" panose="020B0604030504040204" pitchFamily="34" charset="0"/>
              </a:rPr>
              <a:t>T</a:t>
            </a:r>
            <a:r>
              <a:rPr lang="en-GB" dirty="0" err="1" smtClean="0">
                <a:latin typeface="Verdana" panose="020B0604030504040204" pitchFamily="34" charset="0"/>
                <a:ea typeface="Verdana" panose="020B0604030504040204" pitchFamily="34" charset="0"/>
              </a:rPr>
              <a:t>ried</a:t>
            </a:r>
            <a:r>
              <a:rPr lang="en-GB" dirty="0" smtClean="0">
                <a:latin typeface="Verdana" panose="020B0604030504040204" pitchFamily="34" charset="0"/>
                <a:ea typeface="Verdana" panose="020B0604030504040204" pitchFamily="34" charset="0"/>
              </a:rPr>
              <a:t> </a:t>
            </a:r>
            <a:r>
              <a:rPr lang="en-GB" dirty="0">
                <a:latin typeface="Verdana" panose="020B0604030504040204" pitchFamily="34" charset="0"/>
                <a:ea typeface="Verdana" panose="020B0604030504040204" pitchFamily="34" charset="0"/>
              </a:rPr>
              <a:t>different ratios of ingredients</a:t>
            </a:r>
          </a:p>
          <a:p>
            <a:r>
              <a:rPr lang="en-GB" dirty="0">
                <a:latin typeface="Verdana" panose="020B0604030504040204" pitchFamily="34" charset="0"/>
                <a:ea typeface="Verdana" panose="020B0604030504040204" pitchFamily="34" charset="0"/>
              </a:rPr>
              <a:t>Tested flexibility and strength</a:t>
            </a:r>
          </a:p>
          <a:p>
            <a:r>
              <a:rPr lang="en-GB" dirty="0">
                <a:latin typeface="Verdana" panose="020B0604030504040204" pitchFamily="34" charset="0"/>
                <a:ea typeface="Verdana" panose="020B0604030504040204" pitchFamily="34" charset="0"/>
              </a:rPr>
              <a:t>Improved the quality by adjusting components</a:t>
            </a:r>
          </a:p>
          <a:p>
            <a:r>
              <a:rPr lang="en-GB" dirty="0" smtClean="0">
                <a:latin typeface="Verdana" panose="020B0604030504040204" pitchFamily="34" charset="0"/>
                <a:ea typeface="Verdana" panose="020B0604030504040204" pitchFamily="34" charset="0"/>
              </a:rPr>
              <a:t/>
            </a:r>
            <a:br>
              <a:rPr lang="en-GB" dirty="0" smtClean="0">
                <a:latin typeface="Verdana" panose="020B0604030504040204" pitchFamily="34" charset="0"/>
                <a:ea typeface="Verdana" panose="020B0604030504040204" pitchFamily="34" charset="0"/>
              </a:rPr>
            </a:br>
            <a:r>
              <a:rPr lang="en-IN" sz="2000" b="1" dirty="0">
                <a:latin typeface="Verdana" panose="020B0604030504040204" pitchFamily="34" charset="0"/>
                <a:ea typeface="Verdana" panose="020B0604030504040204" pitchFamily="34" charset="0"/>
              </a:rPr>
              <a:t>Role of Mentoring</a:t>
            </a:r>
            <a:r>
              <a:rPr lang="en-IN" sz="2000" b="1" dirty="0" smtClean="0">
                <a:latin typeface="Verdana" panose="020B0604030504040204" pitchFamily="34" charset="0"/>
                <a:ea typeface="Verdana" panose="020B0604030504040204" pitchFamily="34" charset="0"/>
              </a:rPr>
              <a:t>:</a:t>
            </a:r>
            <a:r>
              <a:rPr lang="en-IN" dirty="0" smtClean="0">
                <a:latin typeface="Verdana" panose="020B0604030504040204" pitchFamily="34" charset="0"/>
                <a:ea typeface="Verdana" panose="020B0604030504040204" pitchFamily="34" charset="0"/>
              </a:rPr>
              <a:t/>
            </a:r>
            <a:br>
              <a:rPr lang="en-IN" dirty="0" smtClean="0">
                <a:latin typeface="Verdana" panose="020B0604030504040204" pitchFamily="34" charset="0"/>
                <a:ea typeface="Verdana" panose="020B0604030504040204" pitchFamily="34" charset="0"/>
              </a:rPr>
            </a:br>
            <a:r>
              <a:rPr lang="en-GB" dirty="0">
                <a:latin typeface="Verdana" panose="020B0604030504040204" pitchFamily="34" charset="0"/>
                <a:ea typeface="Verdana" panose="020B0604030504040204" pitchFamily="34" charset="0"/>
              </a:rPr>
              <a:t>Mentors guided us in improving the composition, avoiding cracks, and making stronger bioplastic.</a:t>
            </a:r>
          </a:p>
          <a:p>
            <a:endParaRPr lang="en-GB" b="1" dirty="0"/>
          </a:p>
        </p:txBody>
      </p:sp>
      <p:sp>
        <p:nvSpPr>
          <p:cNvPr id="18" name="TextBox 17"/>
          <p:cNvSpPr txBox="1"/>
          <p:nvPr/>
        </p:nvSpPr>
        <p:spPr>
          <a:xfrm>
            <a:off x="4933950" y="145245"/>
            <a:ext cx="1904367" cy="184666"/>
          </a:xfrm>
          <a:prstGeom prst="rect">
            <a:avLst/>
          </a:prstGeom>
          <a:noFill/>
        </p:spPr>
        <p:txBody>
          <a:bodyPr wrap="none" lIns="0" tIns="0" rIns="0" bIns="0" anchor="ctr">
            <a:spAutoFit/>
          </a:bodyPr>
          <a:lstStyle/>
          <a:p>
            <a:r>
              <a:rPr lang="en-GB" sz="1200" spc="-100" dirty="0" smtClean="0">
                <a:solidFill>
                  <a:srgbClr val="000000"/>
                </a:solidFill>
                <a:latin typeface="Verdana"/>
              </a:rPr>
              <a:t>bioplastic</a:t>
            </a:r>
            <a:r>
              <a:rPr lang="en-GB" sz="1200" spc="-100" dirty="0" smtClean="0">
                <a:solidFill>
                  <a:srgbClr val="000000"/>
                </a:solidFill>
                <a:latin typeface="Verdana"/>
              </a:rPr>
              <a:t> from banana peels </a:t>
            </a:r>
            <a:endParaRPr sz="1200" spc="-100" dirty="0">
              <a:solidFill>
                <a:srgbClr val="000000"/>
              </a:solidFill>
              <a:latin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66255"/>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542290" y="1021080"/>
            <a:ext cx="4673600" cy="294639"/>
          </a:xfrm>
          <a:prstGeom prst="rect">
            <a:avLst/>
          </a:prstGeom>
          <a:noFill/>
        </p:spPr>
        <p:txBody>
          <a:bodyPr wrap="none" lIns="0" tIns="0" rIns="0" bIns="0" anchor="ctr">
            <a:spAutoFit/>
          </a:bodyPr>
          <a:lstStyle/>
          <a:p>
            <a:r>
              <a:rPr sz="2400" b="1" spc="-100">
                <a:solidFill>
                  <a:srgbClr val="000000"/>
                </a:solidFill>
                <a:latin typeface="Verdana"/>
              </a:rPr>
              <a:t>Tools and Technology Used</a:t>
            </a:r>
          </a:p>
        </p:txBody>
      </p:sp>
      <p:sp>
        <p:nvSpPr>
          <p:cNvPr id="7" name="TextBox 6"/>
          <p:cNvSpPr txBox="1"/>
          <p:nvPr/>
        </p:nvSpPr>
        <p:spPr>
          <a:xfrm>
            <a:off x="490809" y="1477377"/>
            <a:ext cx="7387022" cy="1908215"/>
          </a:xfrm>
          <a:prstGeom prst="rect">
            <a:avLst/>
          </a:prstGeom>
          <a:noFill/>
        </p:spPr>
        <p:txBody>
          <a:bodyPr wrap="none" lIns="0" tIns="0" rIns="0" bIns="0" anchor="ctr">
            <a:spAutoFit/>
          </a:bodyPr>
          <a:lstStyle/>
          <a:p>
            <a:pPr marL="342900" indent="-342900">
              <a:buFont typeface="Arial" panose="020B0604020202020204" pitchFamily="34" charset="0"/>
              <a:buChar char="•"/>
            </a:pPr>
            <a:r>
              <a:rPr lang="en-IN" sz="2000" dirty="0">
                <a:latin typeface="Verdana" panose="020B0604030504040204" pitchFamily="34" charset="0"/>
                <a:ea typeface="Verdana" panose="020B0604030504040204" pitchFamily="34" charset="0"/>
              </a:rPr>
              <a:t>Mixer/Grinder – for making banana peel paste</a:t>
            </a:r>
          </a:p>
          <a:p>
            <a:pPr marL="342900" indent="-342900">
              <a:buFont typeface="Arial" panose="020B0604020202020204" pitchFamily="34" charset="0"/>
              <a:buChar char="•"/>
            </a:pPr>
            <a:r>
              <a:rPr lang="en-IN" sz="2000" dirty="0">
                <a:latin typeface="Verdana" panose="020B0604030504040204" pitchFamily="34" charset="0"/>
                <a:ea typeface="Verdana" panose="020B0604030504040204" pitchFamily="34" charset="0"/>
              </a:rPr>
              <a:t>Heating plate – to cook the mixture</a:t>
            </a:r>
          </a:p>
          <a:p>
            <a:pPr marL="342900" indent="-342900">
              <a:buFont typeface="Arial" panose="020B0604020202020204" pitchFamily="34" charset="0"/>
              <a:buChar char="•"/>
            </a:pPr>
            <a:r>
              <a:rPr lang="en-IN" sz="2000" dirty="0">
                <a:latin typeface="Verdana" panose="020B0604030504040204" pitchFamily="34" charset="0"/>
                <a:ea typeface="Verdana" panose="020B0604030504040204" pitchFamily="34" charset="0"/>
              </a:rPr>
              <a:t>Beaker &amp; stirrer – for mixing</a:t>
            </a:r>
          </a:p>
          <a:p>
            <a:pPr marL="342900" indent="-342900">
              <a:buFont typeface="Arial" panose="020B0604020202020204" pitchFamily="34" charset="0"/>
              <a:buChar char="•"/>
            </a:pPr>
            <a:r>
              <a:rPr lang="en-IN" sz="2000" dirty="0" err="1" smtClean="0">
                <a:latin typeface="Verdana" panose="020B0604030504040204" pitchFamily="34" charset="0"/>
                <a:ea typeface="Verdana" panose="020B0604030504040204" pitchFamily="34" charset="0"/>
              </a:rPr>
              <a:t>Molds</a:t>
            </a:r>
            <a:r>
              <a:rPr lang="en-IN" sz="2000" dirty="0" smtClean="0">
                <a:latin typeface="Verdana" panose="020B0604030504040204" pitchFamily="34" charset="0"/>
                <a:ea typeface="Verdana" panose="020B0604030504040204" pitchFamily="34" charset="0"/>
              </a:rPr>
              <a:t> </a:t>
            </a:r>
            <a:r>
              <a:rPr lang="en-IN" sz="2000" dirty="0">
                <a:latin typeface="Verdana" panose="020B0604030504040204" pitchFamily="34" charset="0"/>
                <a:ea typeface="Verdana" panose="020B0604030504040204" pitchFamily="34" charset="0"/>
              </a:rPr>
              <a:t>– to shape the plastic</a:t>
            </a:r>
          </a:p>
          <a:p>
            <a:pPr marL="342900" indent="-342900">
              <a:buFont typeface="Arial" panose="020B0604020202020204" pitchFamily="34" charset="0"/>
              <a:buChar char="•"/>
            </a:pPr>
            <a:r>
              <a:rPr lang="en-IN" sz="2000" dirty="0">
                <a:latin typeface="Verdana" panose="020B0604030504040204" pitchFamily="34" charset="0"/>
                <a:ea typeface="Verdana" panose="020B0604030504040204" pitchFamily="34" charset="0"/>
              </a:rPr>
              <a:t>Natural additives (like </a:t>
            </a:r>
            <a:r>
              <a:rPr lang="en-IN" sz="2000" dirty="0" smtClean="0">
                <a:latin typeface="Verdana" panose="020B0604030504040204" pitchFamily="34" charset="0"/>
                <a:ea typeface="Verdana" panose="020B0604030504040204" pitchFamily="34" charset="0"/>
              </a:rPr>
              <a:t>honey/</a:t>
            </a:r>
            <a:r>
              <a:rPr lang="en-IN" sz="2000" dirty="0" err="1" smtClean="0">
                <a:latin typeface="Verdana" panose="020B0604030504040204" pitchFamily="34" charset="0"/>
                <a:ea typeface="Verdana" panose="020B0604030504040204" pitchFamily="34" charset="0"/>
              </a:rPr>
              <a:t>glycerain</a:t>
            </a:r>
            <a:r>
              <a:rPr lang="en-IN" sz="2000" dirty="0">
                <a:latin typeface="Verdana" panose="020B0604030504040204" pitchFamily="34" charset="0"/>
                <a:ea typeface="Verdana" panose="020B0604030504040204" pitchFamily="34" charset="0"/>
              </a:rPr>
              <a:t>) – for flexibility</a:t>
            </a:r>
          </a:p>
          <a:p>
            <a:pPr marL="342900" indent="-342900">
              <a:buFont typeface="Arial" panose="020B0604020202020204" pitchFamily="34" charset="0"/>
              <a:buChar char="•"/>
            </a:pPr>
            <a:endParaRPr sz="2400" spc="-100" dirty="0">
              <a:solidFill>
                <a:srgbClr val="000000"/>
              </a:solidFill>
              <a:latin typeface="Verdana" panose="020B0604030504040204" pitchFamily="34" charset="0"/>
              <a:ea typeface="Verdana" panose="020B0604030504040204" pitchFamily="34" charset="0"/>
            </a:endParaRPr>
          </a:p>
        </p:txBody>
      </p:sp>
      <p:sp>
        <p:nvSpPr>
          <p:cNvPr id="9" name="TextBox 8"/>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1" name="TextBox 10"/>
          <p:cNvSpPr txBox="1"/>
          <p:nvPr/>
        </p:nvSpPr>
        <p:spPr>
          <a:xfrm>
            <a:off x="11191240" y="6502400"/>
            <a:ext cx="77469" cy="99059"/>
          </a:xfrm>
          <a:prstGeom prst="rect">
            <a:avLst/>
          </a:prstGeom>
          <a:noFill/>
        </p:spPr>
        <p:txBody>
          <a:bodyPr wrap="none" lIns="0" tIns="0" rIns="0" bIns="0" anchor="ctr">
            <a:spAutoFit/>
          </a:bodyPr>
          <a:lstStyle/>
          <a:p>
            <a:r>
              <a:rPr sz="1200" spc="-100">
                <a:solidFill>
                  <a:srgbClr val="000000"/>
                </a:solidFill>
                <a:latin typeface="Calibri"/>
              </a:rPr>
              <a:t>6</a:t>
            </a:r>
          </a:p>
        </p:txBody>
      </p:sp>
      <p:pic>
        <p:nvPicPr>
          <p:cNvPr id="12" name="Picture 11" descr="image.png"/>
          <p:cNvPicPr>
            <a:picLocks noChangeAspect="1"/>
          </p:cNvPicPr>
          <p:nvPr/>
        </p:nvPicPr>
        <p:blipFill>
          <a:blip r:embed="rId5"/>
          <a:stretch>
            <a:fillRect/>
          </a:stretch>
        </p:blipFill>
        <p:spPr>
          <a:xfrm>
            <a:off x="444500" y="171450"/>
            <a:ext cx="946150" cy="438150"/>
          </a:xfrm>
          <a:prstGeom prst="rect">
            <a:avLst/>
          </a:prstGeom>
        </p:spPr>
      </p:pic>
      <p:pic>
        <p:nvPicPr>
          <p:cNvPr id="13" name="Picture 12" descr="image.png"/>
          <p:cNvPicPr>
            <a:picLocks noChangeAspect="1"/>
          </p:cNvPicPr>
          <p:nvPr/>
        </p:nvPicPr>
        <p:blipFill>
          <a:blip r:embed="rId6"/>
          <a:stretch>
            <a:fillRect/>
          </a:stretch>
        </p:blipFill>
        <p:spPr>
          <a:xfrm>
            <a:off x="11182350" y="285750"/>
            <a:ext cx="165100" cy="209550"/>
          </a:xfrm>
          <a:prstGeom prst="rect">
            <a:avLst/>
          </a:prstGeom>
        </p:spPr>
      </p:pic>
      <p:pic>
        <p:nvPicPr>
          <p:cNvPr id="14" name="Picture 13" descr="image.png"/>
          <p:cNvPicPr>
            <a:picLocks noChangeAspect="1"/>
          </p:cNvPicPr>
          <p:nvPr/>
        </p:nvPicPr>
        <p:blipFill>
          <a:blip r:embed="rId7"/>
          <a:stretch>
            <a:fillRect/>
          </a:stretch>
        </p:blipFill>
        <p:spPr>
          <a:xfrm>
            <a:off x="11360150" y="285750"/>
            <a:ext cx="165100" cy="209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5418" y="88324"/>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542290" y="1021080"/>
            <a:ext cx="5600700" cy="294639"/>
          </a:xfrm>
          <a:prstGeom prst="rect">
            <a:avLst/>
          </a:prstGeom>
          <a:noFill/>
        </p:spPr>
        <p:txBody>
          <a:bodyPr wrap="none" lIns="0" tIns="0" rIns="0" bIns="0" anchor="ctr">
            <a:spAutoFit/>
          </a:bodyPr>
          <a:lstStyle/>
          <a:p>
            <a:r>
              <a:rPr sz="2400" b="1" spc="-100">
                <a:solidFill>
                  <a:srgbClr val="000000"/>
                </a:solidFill>
                <a:latin typeface="Verdana"/>
              </a:rPr>
              <a:t>Project Outcome &amp; Development</a:t>
            </a:r>
          </a:p>
        </p:txBody>
      </p:sp>
      <p:sp>
        <p:nvSpPr>
          <p:cNvPr id="7" name="TextBox 6"/>
          <p:cNvSpPr txBox="1"/>
          <p:nvPr/>
        </p:nvSpPr>
        <p:spPr>
          <a:xfrm>
            <a:off x="542290" y="1844456"/>
            <a:ext cx="65" cy="307777"/>
          </a:xfrm>
          <a:prstGeom prst="rect">
            <a:avLst/>
          </a:prstGeom>
          <a:noFill/>
        </p:spPr>
        <p:txBody>
          <a:bodyPr wrap="none" lIns="0" tIns="0" rIns="0" bIns="0" anchor="ctr">
            <a:spAutoFit/>
          </a:bodyPr>
          <a:lstStyle/>
          <a:p>
            <a:endParaRPr sz="2000" spc="-100" dirty="0">
              <a:solidFill>
                <a:srgbClr val="000000"/>
              </a:solidFill>
              <a:latin typeface="Verdana"/>
            </a:endParaRPr>
          </a:p>
        </p:txBody>
      </p:sp>
      <p:sp>
        <p:nvSpPr>
          <p:cNvPr id="9" name="TextBox 8"/>
          <p:cNvSpPr txBox="1"/>
          <p:nvPr/>
        </p:nvSpPr>
        <p:spPr>
          <a:xfrm>
            <a:off x="542290" y="3238281"/>
            <a:ext cx="65" cy="307777"/>
          </a:xfrm>
          <a:prstGeom prst="rect">
            <a:avLst/>
          </a:prstGeom>
          <a:noFill/>
        </p:spPr>
        <p:txBody>
          <a:bodyPr wrap="none" lIns="0" tIns="0" rIns="0" bIns="0" anchor="ctr">
            <a:spAutoFit/>
          </a:bodyPr>
          <a:lstStyle/>
          <a:p>
            <a:endParaRPr sz="2000" spc="-100" dirty="0">
              <a:solidFill>
                <a:srgbClr val="000000"/>
              </a:solidFill>
              <a:latin typeface="Verdana"/>
            </a:endParaRPr>
          </a:p>
        </p:txBody>
      </p:sp>
      <p:sp>
        <p:nvSpPr>
          <p:cNvPr id="11" name="TextBox 10"/>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3" name="TextBox 12"/>
          <p:cNvSpPr txBox="1"/>
          <p:nvPr/>
        </p:nvSpPr>
        <p:spPr>
          <a:xfrm>
            <a:off x="11191240" y="6503670"/>
            <a:ext cx="77469" cy="96520"/>
          </a:xfrm>
          <a:prstGeom prst="rect">
            <a:avLst/>
          </a:prstGeom>
          <a:noFill/>
        </p:spPr>
        <p:txBody>
          <a:bodyPr wrap="none" lIns="0" tIns="0" rIns="0" bIns="0" anchor="ctr">
            <a:spAutoFit/>
          </a:bodyPr>
          <a:lstStyle/>
          <a:p>
            <a:r>
              <a:rPr sz="1200" spc="-100">
                <a:solidFill>
                  <a:srgbClr val="000000"/>
                </a:solidFill>
                <a:latin typeface="Calibri"/>
              </a:rPr>
              <a:t>7</a:t>
            </a:r>
          </a:p>
        </p:txBody>
      </p:sp>
      <p:pic>
        <p:nvPicPr>
          <p:cNvPr id="14" name="Picture 13" descr="image.png"/>
          <p:cNvPicPr>
            <a:picLocks noChangeAspect="1"/>
          </p:cNvPicPr>
          <p:nvPr/>
        </p:nvPicPr>
        <p:blipFill>
          <a:blip r:embed="rId5"/>
          <a:stretch>
            <a:fillRect/>
          </a:stretch>
        </p:blipFill>
        <p:spPr>
          <a:xfrm>
            <a:off x="444500" y="171450"/>
            <a:ext cx="946150" cy="438150"/>
          </a:xfrm>
          <a:prstGeom prst="rect">
            <a:avLst/>
          </a:prstGeom>
        </p:spPr>
      </p:pic>
      <p:pic>
        <p:nvPicPr>
          <p:cNvPr id="15" name="Picture 14" descr="image.png"/>
          <p:cNvPicPr>
            <a:picLocks noChangeAspect="1"/>
          </p:cNvPicPr>
          <p:nvPr/>
        </p:nvPicPr>
        <p:blipFill>
          <a:blip r:embed="rId6"/>
          <a:stretch>
            <a:fillRect/>
          </a:stretch>
        </p:blipFill>
        <p:spPr>
          <a:xfrm>
            <a:off x="11182350" y="285750"/>
            <a:ext cx="165100" cy="209550"/>
          </a:xfrm>
          <a:prstGeom prst="rect">
            <a:avLst/>
          </a:prstGeom>
        </p:spPr>
      </p:pic>
      <p:pic>
        <p:nvPicPr>
          <p:cNvPr id="16" name="Picture 15" descr="image.png"/>
          <p:cNvPicPr>
            <a:picLocks noChangeAspect="1"/>
          </p:cNvPicPr>
          <p:nvPr/>
        </p:nvPicPr>
        <p:blipFill>
          <a:blip r:embed="rId7"/>
          <a:stretch>
            <a:fillRect/>
          </a:stretch>
        </p:blipFill>
        <p:spPr>
          <a:xfrm>
            <a:off x="11360150" y="285750"/>
            <a:ext cx="165100" cy="209550"/>
          </a:xfrm>
          <a:prstGeom prst="rect">
            <a:avLst/>
          </a:prstGeom>
        </p:spPr>
      </p:pic>
      <p:pic>
        <p:nvPicPr>
          <p:cNvPr id="17" name="Picture 16" descr="image.png"/>
          <p:cNvPicPr>
            <a:picLocks noChangeAspect="1"/>
          </p:cNvPicPr>
          <p:nvPr/>
        </p:nvPicPr>
        <p:blipFill>
          <a:blip r:embed="rId8"/>
          <a:stretch>
            <a:fillRect/>
          </a:stretch>
        </p:blipFill>
        <p:spPr>
          <a:xfrm>
            <a:off x="1606550" y="209550"/>
            <a:ext cx="1136650" cy="361950"/>
          </a:xfrm>
          <a:prstGeom prst="rect">
            <a:avLst/>
          </a:prstGeom>
        </p:spPr>
      </p:pic>
      <p:sp>
        <p:nvSpPr>
          <p:cNvPr id="18" name="TextBox 17"/>
          <p:cNvSpPr txBox="1"/>
          <p:nvPr/>
        </p:nvSpPr>
        <p:spPr>
          <a:xfrm>
            <a:off x="444500" y="1403529"/>
            <a:ext cx="10153354" cy="4708981"/>
          </a:xfrm>
          <a:prstGeom prst="rect">
            <a:avLst/>
          </a:prstGeom>
          <a:noFill/>
        </p:spPr>
        <p:txBody>
          <a:bodyPr wrap="square" rtlCol="0">
            <a:spAutoFit/>
          </a:bodyPr>
          <a:lstStyle/>
          <a:p>
            <a:r>
              <a:rPr lang="en-GB" sz="2000" b="1" dirty="0">
                <a:latin typeface="Verdana" panose="020B0604030504040204" pitchFamily="34" charset="0"/>
                <a:ea typeface="Verdana" panose="020B0604030504040204" pitchFamily="34" charset="0"/>
              </a:rPr>
              <a:t>Use Case</a:t>
            </a:r>
            <a:r>
              <a:rPr lang="en-GB" sz="2000" b="1" dirty="0" smtClean="0">
                <a:latin typeface="Verdana" panose="020B0604030504040204" pitchFamily="34" charset="0"/>
                <a:ea typeface="Verdana" panose="020B0604030504040204" pitchFamily="34" charset="0"/>
              </a:rPr>
              <a:t>:</a:t>
            </a:r>
            <a:br>
              <a:rPr lang="en-GB" sz="2000" b="1" dirty="0" smtClean="0">
                <a:latin typeface="Verdana" panose="020B0604030504040204" pitchFamily="34" charset="0"/>
                <a:ea typeface="Verdana" panose="020B0604030504040204" pitchFamily="34" charset="0"/>
              </a:rPr>
            </a:br>
            <a:endParaRPr lang="en-GB"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Packaging material</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Disposable items</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Eco-friendly </a:t>
            </a:r>
            <a:r>
              <a:rPr lang="en-GB" dirty="0" smtClean="0">
                <a:latin typeface="Verdana" panose="020B0604030504040204" pitchFamily="34" charset="0"/>
                <a:ea typeface="Verdana" panose="020B0604030504040204" pitchFamily="34" charset="0"/>
              </a:rPr>
              <a:t>sheets</a:t>
            </a:r>
          </a:p>
          <a:p>
            <a:endParaRPr lang="en-GB" sz="2000" dirty="0">
              <a:latin typeface="Verdana" panose="020B0604030504040204" pitchFamily="34" charset="0"/>
              <a:ea typeface="Verdana" panose="020B0604030504040204" pitchFamily="34" charset="0"/>
            </a:endParaRPr>
          </a:p>
          <a:p>
            <a:r>
              <a:rPr lang="en-GB" sz="2000" b="1" dirty="0">
                <a:latin typeface="Verdana" panose="020B0604030504040204" pitchFamily="34" charset="0"/>
                <a:ea typeface="Verdana" panose="020B0604030504040204" pitchFamily="34" charset="0"/>
              </a:rPr>
              <a:t>Developed Outcome</a:t>
            </a:r>
            <a:r>
              <a:rPr lang="en-GB" sz="2000" b="1" dirty="0" smtClean="0">
                <a:latin typeface="Verdana" panose="020B0604030504040204" pitchFamily="34" charset="0"/>
                <a:ea typeface="Verdana" panose="020B0604030504040204" pitchFamily="34" charset="0"/>
              </a:rPr>
              <a:t>:</a:t>
            </a:r>
            <a:r>
              <a:rPr lang="en-GB" b="1" dirty="0" smtClean="0">
                <a:latin typeface="Verdana" panose="020B0604030504040204" pitchFamily="34" charset="0"/>
                <a:ea typeface="Verdana" panose="020B0604030504040204" pitchFamily="34" charset="0"/>
              </a:rPr>
              <a:t/>
            </a:r>
            <a:br>
              <a:rPr lang="en-GB" b="1" dirty="0" smtClean="0">
                <a:latin typeface="Verdana" panose="020B0604030504040204" pitchFamily="34" charset="0"/>
                <a:ea typeface="Verdana" panose="020B0604030504040204" pitchFamily="34" charset="0"/>
              </a:rPr>
            </a:br>
            <a:r>
              <a:rPr lang="en-GB" dirty="0">
                <a:latin typeface="Verdana" panose="020B0604030504040204" pitchFamily="34" charset="0"/>
                <a:ea typeface="Verdana" panose="020B0604030504040204" pitchFamily="34" charset="0"/>
              </a:rPr>
              <a:t/>
            </a:r>
            <a:br>
              <a:rPr lang="en-GB" dirty="0">
                <a:latin typeface="Verdana" panose="020B0604030504040204" pitchFamily="34" charset="0"/>
                <a:ea typeface="Verdana" panose="020B0604030504040204" pitchFamily="34" charset="0"/>
              </a:rPr>
            </a:br>
            <a:r>
              <a:rPr lang="en-GB" dirty="0">
                <a:latin typeface="Verdana" panose="020B0604030504040204" pitchFamily="34" charset="0"/>
                <a:ea typeface="Verdana" panose="020B0604030504040204" pitchFamily="34" charset="0"/>
              </a:rPr>
              <a:t>We successfully created a flexible and biodegradable plastic sheet from banana peels</a:t>
            </a:r>
            <a:r>
              <a:rPr lang="en-GB" dirty="0" smtClean="0">
                <a:latin typeface="Verdana" panose="020B0604030504040204" pitchFamily="34" charset="0"/>
                <a:ea typeface="Verdana" panose="020B0604030504040204" pitchFamily="34" charset="0"/>
              </a:rPr>
              <a:t>.</a:t>
            </a:r>
            <a:br>
              <a:rPr lang="en-GB" dirty="0" smtClean="0">
                <a:latin typeface="Verdana" panose="020B0604030504040204" pitchFamily="34" charset="0"/>
                <a:ea typeface="Verdana" panose="020B0604030504040204" pitchFamily="34" charset="0"/>
              </a:rPr>
            </a:br>
            <a:endParaRPr lang="en-GB" dirty="0">
              <a:latin typeface="Verdana" panose="020B0604030504040204" pitchFamily="34" charset="0"/>
              <a:ea typeface="Verdana" panose="020B0604030504040204" pitchFamily="34" charset="0"/>
            </a:endParaRPr>
          </a:p>
          <a:p>
            <a:r>
              <a:rPr lang="en-GB" sz="2000" b="1" dirty="0">
                <a:latin typeface="Verdana" panose="020B0604030504040204" pitchFamily="34" charset="0"/>
                <a:ea typeface="Verdana" panose="020B0604030504040204" pitchFamily="34" charset="0"/>
              </a:rPr>
              <a:t>Challenges</a:t>
            </a:r>
            <a:r>
              <a:rPr lang="en-GB" sz="2000" b="1" dirty="0" smtClean="0">
                <a:latin typeface="Verdana" panose="020B0604030504040204" pitchFamily="34" charset="0"/>
                <a:ea typeface="Verdana" panose="020B0604030504040204" pitchFamily="34" charset="0"/>
              </a:rPr>
              <a:t>:</a:t>
            </a:r>
            <a:br>
              <a:rPr lang="en-GB" sz="2000" b="1" dirty="0" smtClean="0">
                <a:latin typeface="Verdana" panose="020B0604030504040204" pitchFamily="34" charset="0"/>
                <a:ea typeface="Verdana" panose="020B0604030504040204" pitchFamily="34" charset="0"/>
              </a:rPr>
            </a:br>
            <a:endParaRPr lang="en-GB"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Cracking during drying</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Balancing flexibility and strength</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Moisture control</a:t>
            </a:r>
          </a:p>
          <a:p>
            <a:pPr marL="285750" indent="-285750">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19" name="TextBox 18"/>
          <p:cNvSpPr txBox="1"/>
          <p:nvPr/>
        </p:nvSpPr>
        <p:spPr>
          <a:xfrm>
            <a:off x="4933950" y="145245"/>
            <a:ext cx="1904367" cy="184666"/>
          </a:xfrm>
          <a:prstGeom prst="rect">
            <a:avLst/>
          </a:prstGeom>
          <a:noFill/>
        </p:spPr>
        <p:txBody>
          <a:bodyPr wrap="none" lIns="0" tIns="0" rIns="0" bIns="0" anchor="ctr">
            <a:spAutoFit/>
          </a:bodyPr>
          <a:lstStyle/>
          <a:p>
            <a:r>
              <a:rPr lang="en-GB" sz="1200" spc="-100" dirty="0" smtClean="0">
                <a:solidFill>
                  <a:srgbClr val="000000"/>
                </a:solidFill>
                <a:latin typeface="Verdana"/>
              </a:rPr>
              <a:t>bioplastic</a:t>
            </a:r>
            <a:r>
              <a:rPr lang="en-GB" sz="1200" spc="-100" dirty="0" smtClean="0">
                <a:solidFill>
                  <a:srgbClr val="000000"/>
                </a:solidFill>
                <a:latin typeface="Verdana"/>
              </a:rPr>
              <a:t> from banana peels </a:t>
            </a:r>
            <a:endParaRPr sz="1200" spc="-100" dirty="0">
              <a:solidFill>
                <a:srgbClr val="000000"/>
              </a:solidFill>
              <a:latin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a:ln>
            <a:noFill/>
          </a:ln>
          <a:effectLst>
            <a:softEdge rad="112500"/>
          </a:effectLst>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4918363" y="164302"/>
            <a:ext cx="2355273" cy="184666"/>
          </a:xfrm>
          <a:prstGeom prst="rect">
            <a:avLst/>
          </a:prstGeom>
          <a:noFill/>
        </p:spPr>
        <p:txBody>
          <a:bodyPr wrap="square" lIns="0" tIns="0" rIns="0" bIns="0" anchor="ctr">
            <a:spAutoFit/>
          </a:bodyPr>
          <a:lstStyle/>
          <a:p>
            <a:r>
              <a:rPr lang="en-GB" sz="1200" spc="-100" dirty="0" smtClean="0">
                <a:solidFill>
                  <a:srgbClr val="000000"/>
                </a:solidFill>
                <a:latin typeface="Verdana"/>
              </a:rPr>
              <a:t>Bioplastic from banana peel</a:t>
            </a:r>
            <a:endParaRPr sz="1200" spc="-100" dirty="0">
              <a:solidFill>
                <a:srgbClr val="000000"/>
              </a:solidFill>
              <a:latin typeface="Verdana"/>
            </a:endParaRPr>
          </a:p>
        </p:txBody>
      </p:sp>
      <p:sp>
        <p:nvSpPr>
          <p:cNvPr id="6" name="TextBox 5"/>
          <p:cNvSpPr txBox="1"/>
          <p:nvPr/>
        </p:nvSpPr>
        <p:spPr>
          <a:xfrm>
            <a:off x="340210" y="678969"/>
            <a:ext cx="2733121" cy="369332"/>
          </a:xfrm>
          <a:prstGeom prst="rect">
            <a:avLst/>
          </a:prstGeom>
          <a:noFill/>
        </p:spPr>
        <p:txBody>
          <a:bodyPr wrap="square" lIns="0" tIns="0" rIns="0" bIns="0" anchor="ctr">
            <a:spAutoFit/>
          </a:bodyPr>
          <a:lstStyle/>
          <a:p>
            <a:r>
              <a:rPr sz="2400" b="1" spc="-100" dirty="0">
                <a:solidFill>
                  <a:srgbClr val="000000"/>
                </a:solidFill>
                <a:latin typeface="Verdana"/>
              </a:rPr>
              <a:t>Prototype </a:t>
            </a:r>
            <a:r>
              <a:rPr sz="2400" b="1" spc="-100" dirty="0" smtClean="0">
                <a:solidFill>
                  <a:srgbClr val="000000"/>
                </a:solidFill>
                <a:latin typeface="Verdana"/>
              </a:rPr>
              <a:t>Image</a:t>
            </a:r>
            <a:endParaRPr sz="2400" b="1" spc="-100" dirty="0">
              <a:solidFill>
                <a:srgbClr val="000000"/>
              </a:solidFill>
              <a:latin typeface="Verdana"/>
            </a:endParaRPr>
          </a:p>
        </p:txBody>
      </p:sp>
      <p:sp>
        <p:nvSpPr>
          <p:cNvPr id="7" name="TextBox 6"/>
          <p:cNvSpPr txBox="1"/>
          <p:nvPr/>
        </p:nvSpPr>
        <p:spPr>
          <a:xfrm>
            <a:off x="746760" y="2008286"/>
            <a:ext cx="65" cy="307777"/>
          </a:xfrm>
          <a:prstGeom prst="rect">
            <a:avLst/>
          </a:prstGeom>
          <a:noFill/>
        </p:spPr>
        <p:txBody>
          <a:bodyPr wrap="none" lIns="0" tIns="0" rIns="0" bIns="0" anchor="ctr">
            <a:spAutoFit/>
          </a:bodyPr>
          <a:lstStyle/>
          <a:p>
            <a:endParaRPr sz="2000" spc="-100" dirty="0">
              <a:solidFill>
                <a:srgbClr val="000000"/>
              </a:solidFill>
              <a:latin typeface="Verdana"/>
            </a:endParaRPr>
          </a:p>
        </p:txBody>
      </p:sp>
      <p:sp>
        <p:nvSpPr>
          <p:cNvPr id="8" name="TextBox 7"/>
          <p:cNvSpPr txBox="1"/>
          <p:nvPr/>
        </p:nvSpPr>
        <p:spPr>
          <a:xfrm>
            <a:off x="1390650" y="2925008"/>
            <a:ext cx="45719" cy="307777"/>
          </a:xfrm>
          <a:prstGeom prst="rect">
            <a:avLst/>
          </a:prstGeom>
          <a:noFill/>
        </p:spPr>
        <p:txBody>
          <a:bodyPr wrap="square" lIns="0" tIns="0" rIns="0" bIns="0" anchor="ctr">
            <a:spAutoFit/>
          </a:bodyPr>
          <a:lstStyle/>
          <a:p>
            <a:endParaRPr sz="2000" spc="-100" dirty="0">
              <a:solidFill>
                <a:srgbClr val="000000"/>
              </a:solidFill>
              <a:latin typeface="Verdana"/>
            </a:endParaRPr>
          </a:p>
        </p:txBody>
      </p:sp>
      <p:sp>
        <p:nvSpPr>
          <p:cNvPr id="10" name="TextBox 9"/>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2" name="TextBox 11"/>
          <p:cNvSpPr txBox="1"/>
          <p:nvPr/>
        </p:nvSpPr>
        <p:spPr>
          <a:xfrm>
            <a:off x="11191240" y="6502400"/>
            <a:ext cx="77469" cy="99059"/>
          </a:xfrm>
          <a:prstGeom prst="rect">
            <a:avLst/>
          </a:prstGeom>
          <a:noFill/>
        </p:spPr>
        <p:txBody>
          <a:bodyPr wrap="none" lIns="0" tIns="0" rIns="0" bIns="0" anchor="ctr">
            <a:spAutoFit/>
          </a:bodyPr>
          <a:lstStyle/>
          <a:p>
            <a:r>
              <a:rPr sz="1200" spc="-100">
                <a:solidFill>
                  <a:srgbClr val="000000"/>
                </a:solidFill>
                <a:latin typeface="Calibri"/>
              </a:rPr>
              <a:t>8</a:t>
            </a:r>
          </a:p>
        </p:txBody>
      </p:sp>
      <p:pic>
        <p:nvPicPr>
          <p:cNvPr id="13" name="Picture 12" descr="image.png"/>
          <p:cNvPicPr>
            <a:picLocks noChangeAspect="1"/>
          </p:cNvPicPr>
          <p:nvPr/>
        </p:nvPicPr>
        <p:blipFill>
          <a:blip r:embed="rId5"/>
          <a:stretch>
            <a:fillRect/>
          </a:stretch>
        </p:blipFill>
        <p:spPr>
          <a:xfrm>
            <a:off x="444500" y="171450"/>
            <a:ext cx="946150" cy="438150"/>
          </a:xfrm>
          <a:prstGeom prst="rect">
            <a:avLst/>
          </a:prstGeom>
        </p:spPr>
      </p:pic>
      <p:pic>
        <p:nvPicPr>
          <p:cNvPr id="14" name="Picture 13" descr="image.png"/>
          <p:cNvPicPr>
            <a:picLocks noChangeAspect="1"/>
          </p:cNvPicPr>
          <p:nvPr/>
        </p:nvPicPr>
        <p:blipFill>
          <a:blip r:embed="rId6"/>
          <a:stretch>
            <a:fillRect/>
          </a:stretch>
        </p:blipFill>
        <p:spPr>
          <a:xfrm>
            <a:off x="11182350" y="285750"/>
            <a:ext cx="165100" cy="209550"/>
          </a:xfrm>
          <a:prstGeom prst="rect">
            <a:avLst/>
          </a:prstGeom>
        </p:spPr>
      </p:pic>
      <p:pic>
        <p:nvPicPr>
          <p:cNvPr id="15" name="Picture 14" descr="image.png"/>
          <p:cNvPicPr>
            <a:picLocks noChangeAspect="1"/>
          </p:cNvPicPr>
          <p:nvPr/>
        </p:nvPicPr>
        <p:blipFill>
          <a:blip r:embed="rId7"/>
          <a:stretch>
            <a:fillRect/>
          </a:stretch>
        </p:blipFill>
        <p:spPr>
          <a:xfrm>
            <a:off x="11360150" y="285750"/>
            <a:ext cx="165100" cy="209550"/>
          </a:xfrm>
          <a:prstGeom prst="rect">
            <a:avLst/>
          </a:prstGeom>
        </p:spPr>
      </p:pic>
      <p:sp>
        <p:nvSpPr>
          <p:cNvPr id="16" name="TextBox 15"/>
          <p:cNvSpPr txBox="1"/>
          <p:nvPr/>
        </p:nvSpPr>
        <p:spPr>
          <a:xfrm>
            <a:off x="444500" y="1301289"/>
            <a:ext cx="9794009" cy="4553169"/>
          </a:xfrm>
          <a:prstGeom prst="rect">
            <a:avLst/>
          </a:prstGeom>
          <a:noFill/>
        </p:spPr>
        <p:txBody>
          <a:bodyPr wrap="square" rtlCol="0">
            <a:spAutoFit/>
          </a:bodyPr>
          <a:lstStyle/>
          <a:p>
            <a:endParaRPr lang="en-IN" dirty="0"/>
          </a:p>
        </p:txBody>
      </p:sp>
      <p:pic>
        <p:nvPicPr>
          <p:cNvPr id="17" name="Picture 16"/>
          <p:cNvPicPr>
            <a:picLocks noChangeAspect="1"/>
          </p:cNvPicPr>
          <p:nvPr/>
        </p:nvPicPr>
        <p:blipFill rotWithShape="1">
          <a:blip r:embed="rId8">
            <a:extLst>
              <a:ext uri="{28A0092B-C50C-407E-A947-70E740481C1C}">
                <a14:useLocalDpi xmlns:a14="http://schemas.microsoft.com/office/drawing/2010/main" val="0"/>
              </a:ext>
            </a:extLst>
          </a:blip>
          <a:srcRect l="2862" t="16768" r="3939" b="15757"/>
          <a:stretch/>
        </p:blipFill>
        <p:spPr>
          <a:xfrm>
            <a:off x="334472" y="1200959"/>
            <a:ext cx="4131107" cy="3987833"/>
          </a:xfrm>
          <a:prstGeom prst="rect">
            <a:avLst/>
          </a:prstGeom>
          <a:ln>
            <a:noFill/>
          </a:ln>
          <a:effectLst>
            <a:softEdge rad="112500"/>
          </a:effectLst>
        </p:spPr>
      </p:pic>
      <p:pic>
        <p:nvPicPr>
          <p:cNvPr id="18" name="Picture 17"/>
          <p:cNvPicPr>
            <a:picLocks noChangeAspect="1"/>
          </p:cNvPicPr>
          <p:nvPr/>
        </p:nvPicPr>
        <p:blipFill rotWithShape="1">
          <a:blip r:embed="rId9">
            <a:extLst>
              <a:ext uri="{28A0092B-C50C-407E-A947-70E740481C1C}">
                <a14:useLocalDpi xmlns:a14="http://schemas.microsoft.com/office/drawing/2010/main" val="0"/>
              </a:ext>
            </a:extLst>
          </a:blip>
          <a:srcRect l="3940" t="21414" r="707" b="7878"/>
          <a:stretch/>
        </p:blipFill>
        <p:spPr>
          <a:xfrm>
            <a:off x="6692900" y="1301289"/>
            <a:ext cx="3990109" cy="3945023"/>
          </a:xfrm>
          <a:prstGeom prst="rect">
            <a:avLst/>
          </a:prstGeom>
          <a:ln>
            <a:noFill/>
          </a:ln>
          <a:effectLst>
            <a:softEdge rad="112500"/>
          </a:effectLst>
        </p:spPr>
      </p:pic>
      <p:sp>
        <p:nvSpPr>
          <p:cNvPr id="19" name="TextBox 18"/>
          <p:cNvSpPr txBox="1"/>
          <p:nvPr/>
        </p:nvSpPr>
        <p:spPr>
          <a:xfrm>
            <a:off x="444500" y="5424035"/>
            <a:ext cx="4156364" cy="400110"/>
          </a:xfrm>
          <a:prstGeom prst="rect">
            <a:avLst/>
          </a:prstGeom>
          <a:noFill/>
        </p:spPr>
        <p:txBody>
          <a:bodyPr wrap="square" rtlCol="0">
            <a:spAutoFit/>
          </a:bodyPr>
          <a:lstStyle/>
          <a:p>
            <a:pPr algn="ctr"/>
            <a:r>
              <a:rPr lang="en-GB" sz="2000" b="1" dirty="0" smtClean="0">
                <a:latin typeface="Verdana" panose="020B0604030504040204" pitchFamily="34" charset="0"/>
                <a:ea typeface="Verdana" panose="020B0604030504040204" pitchFamily="34" charset="0"/>
              </a:rPr>
              <a:t>With Paper Pulp </a:t>
            </a:r>
            <a:endParaRPr lang="en-IN" sz="2000" b="1" dirty="0">
              <a:latin typeface="Verdana" panose="020B0604030504040204" pitchFamily="34" charset="0"/>
              <a:ea typeface="Verdana" panose="020B0604030504040204" pitchFamily="34" charset="0"/>
            </a:endParaRPr>
          </a:p>
        </p:txBody>
      </p:sp>
      <p:sp>
        <p:nvSpPr>
          <p:cNvPr id="20" name="TextBox 19"/>
          <p:cNvSpPr txBox="1"/>
          <p:nvPr/>
        </p:nvSpPr>
        <p:spPr>
          <a:xfrm>
            <a:off x="6803159" y="5465865"/>
            <a:ext cx="4003386" cy="400110"/>
          </a:xfrm>
          <a:prstGeom prst="rect">
            <a:avLst/>
          </a:prstGeom>
          <a:noFill/>
        </p:spPr>
        <p:txBody>
          <a:bodyPr wrap="square" rtlCol="0">
            <a:spAutoFit/>
          </a:bodyPr>
          <a:lstStyle/>
          <a:p>
            <a:pPr algn="ctr"/>
            <a:r>
              <a:rPr lang="en-GB" sz="2000" b="1" dirty="0" smtClean="0">
                <a:latin typeface="Verdana" panose="020B0604030504040204" pitchFamily="34" charset="0"/>
                <a:ea typeface="Verdana" panose="020B0604030504040204" pitchFamily="34" charset="0"/>
              </a:rPr>
              <a:t>Without  Paper </a:t>
            </a:r>
            <a:r>
              <a:rPr lang="en-GB" sz="2000" b="1" dirty="0">
                <a:latin typeface="Verdana" panose="020B0604030504040204" pitchFamily="34" charset="0"/>
                <a:ea typeface="Verdana" panose="020B0604030504040204" pitchFamily="34" charset="0"/>
              </a:rPr>
              <a:t>P</a:t>
            </a:r>
            <a:r>
              <a:rPr lang="en-GB" sz="2000" b="1" dirty="0" smtClean="0">
                <a:latin typeface="Verdana" panose="020B0604030504040204" pitchFamily="34" charset="0"/>
                <a:ea typeface="Verdana" panose="020B0604030504040204" pitchFamily="34" charset="0"/>
              </a:rPr>
              <a:t>ulp </a:t>
            </a:r>
            <a:endParaRPr lang="en-IN" sz="2000" b="1" dirty="0">
              <a:latin typeface="Verdana" panose="020B0604030504040204" pitchFamily="34" charset="0"/>
              <a:ea typeface="Verdan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38546" y="232936"/>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6" name="TextBox 5"/>
          <p:cNvSpPr txBox="1"/>
          <p:nvPr/>
        </p:nvSpPr>
        <p:spPr>
          <a:xfrm>
            <a:off x="542290" y="1021080"/>
            <a:ext cx="3138170" cy="294639"/>
          </a:xfrm>
          <a:prstGeom prst="rect">
            <a:avLst/>
          </a:prstGeom>
          <a:noFill/>
        </p:spPr>
        <p:txBody>
          <a:bodyPr wrap="none" lIns="0" tIns="0" rIns="0" bIns="0" anchor="ctr">
            <a:spAutoFit/>
          </a:bodyPr>
          <a:lstStyle/>
          <a:p>
            <a:r>
              <a:rPr sz="2400" b="1" spc="-100">
                <a:solidFill>
                  <a:srgbClr val="000000"/>
                </a:solidFill>
                <a:latin typeface="Verdana"/>
              </a:rPr>
              <a:t>Learning Outcome</a:t>
            </a:r>
          </a:p>
        </p:txBody>
      </p:sp>
      <p:sp>
        <p:nvSpPr>
          <p:cNvPr id="7" name="TextBox 6"/>
          <p:cNvSpPr txBox="1"/>
          <p:nvPr/>
        </p:nvSpPr>
        <p:spPr>
          <a:xfrm>
            <a:off x="542290" y="1727093"/>
            <a:ext cx="9931746" cy="1692771"/>
          </a:xfrm>
          <a:prstGeom prst="rect">
            <a:avLst/>
          </a:prstGeom>
          <a:noFill/>
        </p:spPr>
        <p:txBody>
          <a:bodyPr wrap="square" lIns="0" tIns="0" rIns="0" bIns="0" anchor="ctr">
            <a:spAutoFit/>
          </a:bodyPr>
          <a:lstStyle/>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Learned about biodegradable materials</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Understood real-life application of biotechnology</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Developed problem-solving skills</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Improved teamwork and coordination</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Learned from trial and error and mentor feedback</a:t>
            </a:r>
          </a:p>
          <a:p>
            <a:pPr marL="342900" indent="-342900">
              <a:buFont typeface="Arial" panose="020B0604020202020204" pitchFamily="34" charset="0"/>
              <a:buChar char="•"/>
            </a:pPr>
            <a:endParaRPr sz="2000" spc="-100" dirty="0">
              <a:solidFill>
                <a:srgbClr val="000000"/>
              </a:solidFill>
              <a:latin typeface="Verdana" panose="020B0604030504040204" pitchFamily="34" charset="0"/>
              <a:ea typeface="Verdana" panose="020B0604030504040204" pitchFamily="34" charset="0"/>
            </a:endParaRPr>
          </a:p>
        </p:txBody>
      </p:sp>
      <p:sp>
        <p:nvSpPr>
          <p:cNvPr id="11" name="TextBox 10"/>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3" name="TextBox 12"/>
          <p:cNvSpPr txBox="1"/>
          <p:nvPr/>
        </p:nvSpPr>
        <p:spPr>
          <a:xfrm>
            <a:off x="11191240" y="6502400"/>
            <a:ext cx="77469" cy="99059"/>
          </a:xfrm>
          <a:prstGeom prst="rect">
            <a:avLst/>
          </a:prstGeom>
          <a:noFill/>
        </p:spPr>
        <p:txBody>
          <a:bodyPr wrap="none" lIns="0" tIns="0" rIns="0" bIns="0" anchor="ctr">
            <a:spAutoFit/>
          </a:bodyPr>
          <a:lstStyle/>
          <a:p>
            <a:r>
              <a:rPr sz="1200" spc="-100">
                <a:solidFill>
                  <a:srgbClr val="000000"/>
                </a:solidFill>
                <a:latin typeface="Calibri"/>
              </a:rPr>
              <a:t>9</a:t>
            </a:r>
          </a:p>
        </p:txBody>
      </p:sp>
      <p:pic>
        <p:nvPicPr>
          <p:cNvPr id="14" name="Picture 13" descr="image.png"/>
          <p:cNvPicPr>
            <a:picLocks noChangeAspect="1"/>
          </p:cNvPicPr>
          <p:nvPr/>
        </p:nvPicPr>
        <p:blipFill>
          <a:blip r:embed="rId5"/>
          <a:stretch>
            <a:fillRect/>
          </a:stretch>
        </p:blipFill>
        <p:spPr>
          <a:xfrm>
            <a:off x="444500" y="171450"/>
            <a:ext cx="946150" cy="438150"/>
          </a:xfrm>
          <a:prstGeom prst="rect">
            <a:avLst/>
          </a:prstGeom>
        </p:spPr>
      </p:pic>
      <p:pic>
        <p:nvPicPr>
          <p:cNvPr id="15" name="Picture 14" descr="image.png"/>
          <p:cNvPicPr>
            <a:picLocks noChangeAspect="1"/>
          </p:cNvPicPr>
          <p:nvPr/>
        </p:nvPicPr>
        <p:blipFill>
          <a:blip r:embed="rId6"/>
          <a:stretch>
            <a:fillRect/>
          </a:stretch>
        </p:blipFill>
        <p:spPr>
          <a:xfrm>
            <a:off x="11182350" y="285750"/>
            <a:ext cx="165100" cy="209550"/>
          </a:xfrm>
          <a:prstGeom prst="rect">
            <a:avLst/>
          </a:prstGeom>
        </p:spPr>
      </p:pic>
      <p:pic>
        <p:nvPicPr>
          <p:cNvPr id="16" name="Picture 15" descr="image.png"/>
          <p:cNvPicPr>
            <a:picLocks noChangeAspect="1"/>
          </p:cNvPicPr>
          <p:nvPr/>
        </p:nvPicPr>
        <p:blipFill>
          <a:blip r:embed="rId7"/>
          <a:stretch>
            <a:fillRect/>
          </a:stretch>
        </p:blipFill>
        <p:spPr>
          <a:xfrm>
            <a:off x="11360150" y="285750"/>
            <a:ext cx="165100" cy="209550"/>
          </a:xfrm>
          <a:prstGeom prst="rect">
            <a:avLst/>
          </a:prstGeom>
        </p:spPr>
      </p:pic>
      <p:sp>
        <p:nvSpPr>
          <p:cNvPr id="17" name="TextBox 16"/>
          <p:cNvSpPr txBox="1"/>
          <p:nvPr/>
        </p:nvSpPr>
        <p:spPr>
          <a:xfrm>
            <a:off x="5391727" y="285750"/>
            <a:ext cx="2355273" cy="184666"/>
          </a:xfrm>
          <a:prstGeom prst="rect">
            <a:avLst/>
          </a:prstGeom>
          <a:noFill/>
        </p:spPr>
        <p:txBody>
          <a:bodyPr wrap="square" lIns="0" tIns="0" rIns="0" bIns="0" anchor="ctr">
            <a:spAutoFit/>
          </a:bodyPr>
          <a:lstStyle/>
          <a:p>
            <a:r>
              <a:rPr lang="en-GB" sz="1200" spc="-100" dirty="0" smtClean="0">
                <a:solidFill>
                  <a:srgbClr val="000000"/>
                </a:solidFill>
                <a:latin typeface="Verdana"/>
              </a:rPr>
              <a:t>Bioplastic from banana peel</a:t>
            </a:r>
            <a:endParaRPr sz="1200" spc="-100" dirty="0">
              <a:solidFill>
                <a:srgbClr val="000000"/>
              </a:solidFill>
              <a:latin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207818"/>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5638800" y="454475"/>
            <a:ext cx="2757055" cy="184666"/>
          </a:xfrm>
          <a:prstGeom prst="rect">
            <a:avLst/>
          </a:prstGeom>
          <a:noFill/>
        </p:spPr>
        <p:txBody>
          <a:bodyPr wrap="square" lIns="0" tIns="0" rIns="0" bIns="0" anchor="ctr">
            <a:spAutoFit/>
          </a:bodyPr>
          <a:lstStyle/>
          <a:p>
            <a:r>
              <a:rPr lang="en-GB" sz="1200" spc="-100" dirty="0" smtClean="0">
                <a:solidFill>
                  <a:srgbClr val="000000"/>
                </a:solidFill>
                <a:latin typeface="Verdana"/>
              </a:rPr>
              <a:t>Bioplastic from banana peels </a:t>
            </a:r>
            <a:endParaRPr sz="1200" spc="-100" dirty="0">
              <a:solidFill>
                <a:srgbClr val="000000"/>
              </a:solidFill>
              <a:latin typeface="Verdana"/>
            </a:endParaRPr>
          </a:p>
        </p:txBody>
      </p:sp>
      <p:sp>
        <p:nvSpPr>
          <p:cNvPr id="6" name="TextBox 5"/>
          <p:cNvSpPr txBox="1"/>
          <p:nvPr/>
        </p:nvSpPr>
        <p:spPr>
          <a:xfrm>
            <a:off x="542290" y="1021080"/>
            <a:ext cx="4585970" cy="293369"/>
          </a:xfrm>
          <a:prstGeom prst="rect">
            <a:avLst/>
          </a:prstGeom>
          <a:noFill/>
        </p:spPr>
        <p:txBody>
          <a:bodyPr wrap="none" lIns="0" tIns="0" rIns="0" bIns="0" anchor="ctr">
            <a:spAutoFit/>
          </a:bodyPr>
          <a:lstStyle/>
          <a:p>
            <a:r>
              <a:rPr sz="2400" b="1" spc="-100">
                <a:solidFill>
                  <a:srgbClr val="000000"/>
                </a:solidFill>
                <a:latin typeface="Verdana"/>
              </a:rPr>
              <a:t>Conclusion &amp; Future Scope</a:t>
            </a:r>
          </a:p>
        </p:txBody>
      </p:sp>
      <p:sp>
        <p:nvSpPr>
          <p:cNvPr id="17" name="TextBox 16"/>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9" name="TextBox 18"/>
          <p:cNvSpPr txBox="1"/>
          <p:nvPr/>
        </p:nvSpPr>
        <p:spPr>
          <a:xfrm>
            <a:off x="11113770" y="6502400"/>
            <a:ext cx="153670" cy="99059"/>
          </a:xfrm>
          <a:prstGeom prst="rect">
            <a:avLst/>
          </a:prstGeom>
          <a:noFill/>
        </p:spPr>
        <p:txBody>
          <a:bodyPr wrap="none" lIns="0" tIns="0" rIns="0" bIns="0" anchor="ctr">
            <a:spAutoFit/>
          </a:bodyPr>
          <a:lstStyle/>
          <a:p>
            <a:r>
              <a:rPr sz="1200" spc="-100">
                <a:solidFill>
                  <a:srgbClr val="000000"/>
                </a:solidFill>
                <a:latin typeface="Calibri"/>
              </a:rPr>
              <a:t>10</a:t>
            </a:r>
          </a:p>
        </p:txBody>
      </p:sp>
      <p:pic>
        <p:nvPicPr>
          <p:cNvPr id="20" name="Picture 19" descr="image.png"/>
          <p:cNvPicPr>
            <a:picLocks noChangeAspect="1"/>
          </p:cNvPicPr>
          <p:nvPr/>
        </p:nvPicPr>
        <p:blipFill>
          <a:blip r:embed="rId5"/>
          <a:stretch>
            <a:fillRect/>
          </a:stretch>
        </p:blipFill>
        <p:spPr>
          <a:xfrm>
            <a:off x="444500" y="171450"/>
            <a:ext cx="946150" cy="438150"/>
          </a:xfrm>
          <a:prstGeom prst="rect">
            <a:avLst/>
          </a:prstGeom>
        </p:spPr>
      </p:pic>
      <p:pic>
        <p:nvPicPr>
          <p:cNvPr id="21" name="Picture 20" descr="image.png"/>
          <p:cNvPicPr>
            <a:picLocks noChangeAspect="1"/>
          </p:cNvPicPr>
          <p:nvPr/>
        </p:nvPicPr>
        <p:blipFill>
          <a:blip r:embed="rId6"/>
          <a:stretch>
            <a:fillRect/>
          </a:stretch>
        </p:blipFill>
        <p:spPr>
          <a:xfrm>
            <a:off x="11182350" y="285750"/>
            <a:ext cx="165100" cy="209550"/>
          </a:xfrm>
          <a:prstGeom prst="rect">
            <a:avLst/>
          </a:prstGeom>
        </p:spPr>
      </p:pic>
      <p:pic>
        <p:nvPicPr>
          <p:cNvPr id="22" name="Picture 21" descr="image.png"/>
          <p:cNvPicPr>
            <a:picLocks noChangeAspect="1"/>
          </p:cNvPicPr>
          <p:nvPr/>
        </p:nvPicPr>
        <p:blipFill>
          <a:blip r:embed="rId7"/>
          <a:stretch>
            <a:fillRect/>
          </a:stretch>
        </p:blipFill>
        <p:spPr>
          <a:xfrm>
            <a:off x="11360150" y="285750"/>
            <a:ext cx="165100" cy="209550"/>
          </a:xfrm>
          <a:prstGeom prst="rect">
            <a:avLst/>
          </a:prstGeom>
        </p:spPr>
      </p:pic>
      <p:sp>
        <p:nvSpPr>
          <p:cNvPr id="23" name="TextBox 22"/>
          <p:cNvSpPr txBox="1"/>
          <p:nvPr/>
        </p:nvSpPr>
        <p:spPr>
          <a:xfrm>
            <a:off x="444500" y="1524000"/>
            <a:ext cx="9530773" cy="3200876"/>
          </a:xfrm>
          <a:prstGeom prst="rect">
            <a:avLst/>
          </a:prstGeom>
          <a:noFill/>
        </p:spPr>
        <p:txBody>
          <a:bodyPr wrap="square" rtlCol="0">
            <a:spAutoFit/>
          </a:bodyPr>
          <a:lstStyle/>
          <a:p>
            <a:r>
              <a:rPr lang="en-GB" sz="2000" b="1" dirty="0">
                <a:latin typeface="Verdana" panose="020B0604030504040204" pitchFamily="34" charset="0"/>
                <a:ea typeface="Verdana" panose="020B0604030504040204" pitchFamily="34" charset="0"/>
              </a:rPr>
              <a:t>Conclusion</a:t>
            </a:r>
            <a:r>
              <a:rPr lang="en-GB" sz="2000" b="1" dirty="0" smtClean="0">
                <a:latin typeface="Verdana" panose="020B0604030504040204" pitchFamily="34" charset="0"/>
                <a:ea typeface="Verdana" panose="020B0604030504040204" pitchFamily="34" charset="0"/>
              </a:rPr>
              <a:t>:</a:t>
            </a:r>
            <a:br>
              <a:rPr lang="en-GB" sz="2000" b="1" dirty="0" smtClean="0">
                <a:latin typeface="Verdana" panose="020B0604030504040204" pitchFamily="34" charset="0"/>
                <a:ea typeface="Verdana" panose="020B0604030504040204" pitchFamily="34" charset="0"/>
              </a:rPr>
            </a:br>
            <a:r>
              <a:rPr lang="en-GB" dirty="0"/>
              <a:t/>
            </a:r>
            <a:br>
              <a:rPr lang="en-GB" dirty="0"/>
            </a:br>
            <a:r>
              <a:rPr lang="en-GB" dirty="0">
                <a:latin typeface="Verdana" panose="020B0604030504040204" pitchFamily="34" charset="0"/>
                <a:ea typeface="Verdana" panose="020B0604030504040204" pitchFamily="34" charset="0"/>
              </a:rPr>
              <a:t>This project shows that banana peels, which are usually thrown away, can be turned into useful bioplastic. It is a small step toward reducing plastic pollution</a:t>
            </a:r>
            <a:r>
              <a:rPr lang="en-GB" dirty="0" smtClean="0">
                <a:latin typeface="Verdana" panose="020B0604030504040204" pitchFamily="34" charset="0"/>
                <a:ea typeface="Verdana" panose="020B0604030504040204" pitchFamily="34" charset="0"/>
              </a:rPr>
              <a:t>.</a:t>
            </a:r>
            <a:br>
              <a:rPr lang="en-GB" dirty="0" smtClean="0">
                <a:latin typeface="Verdana" panose="020B0604030504040204" pitchFamily="34" charset="0"/>
                <a:ea typeface="Verdana" panose="020B0604030504040204" pitchFamily="34" charset="0"/>
              </a:rPr>
            </a:br>
            <a:endParaRPr lang="en-GB" dirty="0">
              <a:latin typeface="Verdana" panose="020B0604030504040204" pitchFamily="34" charset="0"/>
              <a:ea typeface="Verdana" panose="020B0604030504040204" pitchFamily="34" charset="0"/>
            </a:endParaRPr>
          </a:p>
          <a:p>
            <a:r>
              <a:rPr lang="en-GB" sz="2000" b="1" dirty="0">
                <a:latin typeface="Verdana" panose="020B0604030504040204" pitchFamily="34" charset="0"/>
                <a:ea typeface="Verdana" panose="020B0604030504040204" pitchFamily="34" charset="0"/>
              </a:rPr>
              <a:t>Future Scope</a:t>
            </a:r>
            <a:r>
              <a:rPr lang="en-GB" sz="2000" b="1" dirty="0" smtClean="0">
                <a:latin typeface="Verdana" panose="020B0604030504040204" pitchFamily="34" charset="0"/>
                <a:ea typeface="Verdana" panose="020B0604030504040204" pitchFamily="34" charset="0"/>
              </a:rPr>
              <a:t>:</a:t>
            </a:r>
            <a:endParaRPr lang="en-GB" sz="20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Improve strength and durability</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Make waterproof bioplastic</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Scale for industrial use</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Replace single-use plastics</a:t>
            </a:r>
          </a:p>
          <a:p>
            <a:endParaRPr lang="en-IN" dirty="0">
              <a:latin typeface="Verdana" panose="020B0604030504040204" pitchFamily="34" charset="0"/>
              <a:ea typeface="Verdan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5155037" y="357974"/>
            <a:ext cx="1881925" cy="184666"/>
          </a:xfrm>
          <a:prstGeom prst="rect">
            <a:avLst/>
          </a:prstGeom>
          <a:noFill/>
        </p:spPr>
        <p:txBody>
          <a:bodyPr wrap="none" lIns="0" tIns="0" rIns="0" bIns="0" anchor="ctr">
            <a:spAutoFit/>
          </a:bodyPr>
          <a:lstStyle/>
          <a:p>
            <a:r>
              <a:rPr lang="en-GB" sz="1200" spc="-100" dirty="0" smtClean="0">
                <a:solidFill>
                  <a:srgbClr val="000000"/>
                </a:solidFill>
                <a:latin typeface="Verdana"/>
              </a:rPr>
              <a:t>Bioplastic from Banana peels</a:t>
            </a:r>
            <a:endParaRPr sz="1200" spc="-100" dirty="0">
              <a:solidFill>
                <a:srgbClr val="000000"/>
              </a:solidFill>
              <a:latin typeface="Verdana"/>
            </a:endParaRPr>
          </a:p>
        </p:txBody>
      </p:sp>
      <p:sp>
        <p:nvSpPr>
          <p:cNvPr id="6" name="TextBox 5"/>
          <p:cNvSpPr txBox="1"/>
          <p:nvPr/>
        </p:nvSpPr>
        <p:spPr>
          <a:xfrm>
            <a:off x="565150" y="1327150"/>
            <a:ext cx="10698480" cy="295909"/>
          </a:xfrm>
          <a:prstGeom prst="rect">
            <a:avLst/>
          </a:prstGeom>
          <a:noFill/>
        </p:spPr>
        <p:txBody>
          <a:bodyPr wrap="none" lIns="0" tIns="0" rIns="0" bIns="0" anchor="ctr">
            <a:spAutoFit/>
          </a:bodyPr>
          <a:lstStyle/>
          <a:p>
            <a:r>
              <a:rPr sz="2400" b="1" spc="-100" dirty="0">
                <a:solidFill>
                  <a:srgbClr val="000000"/>
                </a:solidFill>
                <a:latin typeface="Verdana"/>
              </a:rPr>
              <a:t>Do you want to apply for </a:t>
            </a:r>
            <a:r>
              <a:rPr sz="2400" b="1" spc="-100" dirty="0" err="1">
                <a:solidFill>
                  <a:srgbClr val="000000"/>
                </a:solidFill>
                <a:latin typeface="Verdana"/>
              </a:rPr>
              <a:t>PoC</a:t>
            </a:r>
            <a:r>
              <a:rPr sz="2400" b="1" spc="-100" dirty="0">
                <a:solidFill>
                  <a:srgbClr val="000000"/>
                </a:solidFill>
                <a:latin typeface="Verdana"/>
              </a:rPr>
              <a:t>/Prototype Development support</a:t>
            </a:r>
          </a:p>
        </p:txBody>
      </p:sp>
      <p:sp>
        <p:nvSpPr>
          <p:cNvPr id="7" name="TextBox 6"/>
          <p:cNvSpPr txBox="1"/>
          <p:nvPr/>
        </p:nvSpPr>
        <p:spPr>
          <a:xfrm>
            <a:off x="1024890" y="1691639"/>
            <a:ext cx="9776460" cy="293370"/>
          </a:xfrm>
          <a:prstGeom prst="rect">
            <a:avLst/>
          </a:prstGeom>
          <a:noFill/>
        </p:spPr>
        <p:txBody>
          <a:bodyPr wrap="none" lIns="0" tIns="0" rIns="0" bIns="0" anchor="ctr">
            <a:spAutoFit/>
          </a:bodyPr>
          <a:lstStyle/>
          <a:p>
            <a:r>
              <a:rPr sz="2400" b="1" spc="-100" dirty="0">
                <a:solidFill>
                  <a:srgbClr val="000000"/>
                </a:solidFill>
                <a:latin typeface="Verdana"/>
              </a:rPr>
              <a:t>under Students Startup and Innovation Policy (SSIP 2.0)</a:t>
            </a:r>
          </a:p>
        </p:txBody>
      </p:sp>
      <p:sp>
        <p:nvSpPr>
          <p:cNvPr id="8" name="TextBox 7"/>
          <p:cNvSpPr txBox="1"/>
          <p:nvPr/>
        </p:nvSpPr>
        <p:spPr>
          <a:xfrm>
            <a:off x="3830320" y="2063750"/>
            <a:ext cx="4166870" cy="237489"/>
          </a:xfrm>
          <a:prstGeom prst="rect">
            <a:avLst/>
          </a:prstGeom>
          <a:noFill/>
        </p:spPr>
        <p:txBody>
          <a:bodyPr wrap="none" lIns="0" tIns="0" rIns="0" bIns="0" anchor="ctr">
            <a:spAutoFit/>
          </a:bodyPr>
          <a:lstStyle/>
          <a:p>
            <a:r>
              <a:rPr sz="2400" b="1" spc="-100">
                <a:solidFill>
                  <a:srgbClr val="000000"/>
                </a:solidFill>
                <a:latin typeface="Verdana"/>
              </a:rPr>
              <a:t>under GUIITAR Council?</a:t>
            </a:r>
          </a:p>
        </p:txBody>
      </p:sp>
      <p:sp>
        <p:nvSpPr>
          <p:cNvPr id="10" name="TextBox 9"/>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12" name="TextBox 11"/>
          <p:cNvSpPr txBox="1"/>
          <p:nvPr/>
        </p:nvSpPr>
        <p:spPr>
          <a:xfrm>
            <a:off x="11113770" y="6502400"/>
            <a:ext cx="153670" cy="97790"/>
          </a:xfrm>
          <a:prstGeom prst="rect">
            <a:avLst/>
          </a:prstGeom>
          <a:noFill/>
        </p:spPr>
        <p:txBody>
          <a:bodyPr wrap="none" lIns="0" tIns="0" rIns="0" bIns="0" anchor="ctr">
            <a:spAutoFit/>
          </a:bodyPr>
          <a:lstStyle/>
          <a:p>
            <a:r>
              <a:rPr sz="1200" spc="-100">
                <a:solidFill>
                  <a:srgbClr val="000000"/>
                </a:solidFill>
                <a:latin typeface="Calibri"/>
              </a:rPr>
              <a:t>11</a:t>
            </a:r>
          </a:p>
        </p:txBody>
      </p:sp>
      <p:pic>
        <p:nvPicPr>
          <p:cNvPr id="13" name="Picture 12" descr="image.png"/>
          <p:cNvPicPr>
            <a:picLocks noChangeAspect="1"/>
          </p:cNvPicPr>
          <p:nvPr/>
        </p:nvPicPr>
        <p:blipFill>
          <a:blip r:embed="rId5"/>
          <a:stretch>
            <a:fillRect/>
          </a:stretch>
        </p:blipFill>
        <p:spPr>
          <a:xfrm>
            <a:off x="444500" y="171450"/>
            <a:ext cx="946150" cy="438150"/>
          </a:xfrm>
          <a:prstGeom prst="rect">
            <a:avLst/>
          </a:prstGeom>
        </p:spPr>
      </p:pic>
      <p:pic>
        <p:nvPicPr>
          <p:cNvPr id="14" name="Picture 13" descr="image.png"/>
          <p:cNvPicPr>
            <a:picLocks noChangeAspect="1"/>
          </p:cNvPicPr>
          <p:nvPr/>
        </p:nvPicPr>
        <p:blipFill>
          <a:blip r:embed="rId6"/>
          <a:stretch>
            <a:fillRect/>
          </a:stretch>
        </p:blipFill>
        <p:spPr>
          <a:xfrm>
            <a:off x="11182350" y="285750"/>
            <a:ext cx="165100" cy="209550"/>
          </a:xfrm>
          <a:prstGeom prst="rect">
            <a:avLst/>
          </a:prstGeom>
        </p:spPr>
      </p:pic>
      <p:pic>
        <p:nvPicPr>
          <p:cNvPr id="15" name="Picture 14" descr="image.png"/>
          <p:cNvPicPr>
            <a:picLocks noChangeAspect="1"/>
          </p:cNvPicPr>
          <p:nvPr/>
        </p:nvPicPr>
        <p:blipFill>
          <a:blip r:embed="rId7"/>
          <a:stretch>
            <a:fillRect/>
          </a:stretch>
        </p:blipFill>
        <p:spPr>
          <a:xfrm>
            <a:off x="11360150" y="285750"/>
            <a:ext cx="165100" cy="209550"/>
          </a:xfrm>
          <a:prstGeom prst="rect">
            <a:avLst/>
          </a:prstGeom>
        </p:spPr>
      </p:pic>
      <p:sp>
        <p:nvSpPr>
          <p:cNvPr id="16" name="TextBox 15"/>
          <p:cNvSpPr txBox="1"/>
          <p:nvPr/>
        </p:nvSpPr>
        <p:spPr>
          <a:xfrm>
            <a:off x="221673" y="2808665"/>
            <a:ext cx="8298873" cy="1754326"/>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Yes, this idea has potential for </a:t>
            </a:r>
            <a:r>
              <a:rPr lang="en-GB" dirty="0" err="1">
                <a:latin typeface="Verdana" panose="020B0604030504040204" pitchFamily="34" charset="0"/>
                <a:ea typeface="Verdana" panose="020B0604030504040204" pitchFamily="34" charset="0"/>
              </a:rPr>
              <a:t>startup</a:t>
            </a:r>
            <a:r>
              <a:rPr lang="en-GB" dirty="0">
                <a:latin typeface="Verdana" panose="020B0604030504040204" pitchFamily="34" charset="0"/>
                <a:ea typeface="Verdana" panose="020B0604030504040204" pitchFamily="34" charset="0"/>
              </a:rPr>
              <a:t> support because:</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Low-cost raw material</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Eco-friendly product</a:t>
            </a:r>
          </a:p>
          <a:p>
            <a:pPr marL="285750" indent="-285750">
              <a:buFont typeface="Arial" panose="020B0604020202020204" pitchFamily="34" charset="0"/>
              <a:buChar char="•"/>
            </a:pPr>
            <a:r>
              <a:rPr lang="en-GB" dirty="0">
                <a:latin typeface="Verdana" panose="020B0604030504040204" pitchFamily="34" charset="0"/>
                <a:ea typeface="Verdana" panose="020B0604030504040204" pitchFamily="34" charset="0"/>
              </a:rPr>
              <a:t>High demand in sustainable markets</a:t>
            </a:r>
          </a:p>
          <a:p>
            <a:r>
              <a:rPr lang="en-GB" dirty="0"/>
              <a:t/>
            </a:r>
            <a:br>
              <a:rPr lang="en-GB" dirty="0"/>
            </a:b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6372860"/>
            <a:ext cx="12192000" cy="485139"/>
          </a:xfrm>
          <a:prstGeom prst="rect">
            <a:avLst/>
          </a:prstGeom>
        </p:spPr>
      </p:pic>
      <p:pic>
        <p:nvPicPr>
          <p:cNvPr id="4" name="Picture 3" descr="image.png"/>
          <p:cNvPicPr>
            <a:picLocks noChangeAspect="1"/>
          </p:cNvPicPr>
          <p:nvPr/>
        </p:nvPicPr>
        <p:blipFill>
          <a:blip r:embed="rId4"/>
          <a:stretch>
            <a:fillRect/>
          </a:stretch>
        </p:blipFill>
        <p:spPr>
          <a:xfrm>
            <a:off x="0" y="6343650"/>
            <a:ext cx="12192000" cy="50800"/>
          </a:xfrm>
          <a:prstGeom prst="rect">
            <a:avLst/>
          </a:prstGeom>
        </p:spPr>
      </p:pic>
      <p:sp>
        <p:nvSpPr>
          <p:cNvPr id="5" name="TextBox 4"/>
          <p:cNvSpPr txBox="1"/>
          <p:nvPr/>
        </p:nvSpPr>
        <p:spPr>
          <a:xfrm>
            <a:off x="929640" y="5346700"/>
            <a:ext cx="1695450" cy="199389"/>
          </a:xfrm>
          <a:prstGeom prst="rect">
            <a:avLst/>
          </a:prstGeom>
          <a:noFill/>
        </p:spPr>
        <p:txBody>
          <a:bodyPr wrap="none" lIns="0" tIns="0" rIns="0" bIns="0" anchor="ctr">
            <a:spAutoFit/>
          </a:bodyPr>
          <a:lstStyle/>
          <a:p>
            <a:r>
              <a:rPr sz="2000" b="1" spc="-100">
                <a:solidFill>
                  <a:srgbClr val="000000"/>
                </a:solidFill>
                <a:latin typeface="Verdana"/>
              </a:rPr>
              <a:t>Thank You..</a:t>
            </a:r>
          </a:p>
        </p:txBody>
      </p:sp>
      <p:sp>
        <p:nvSpPr>
          <p:cNvPr id="6" name="TextBox 5"/>
          <p:cNvSpPr txBox="1"/>
          <p:nvPr/>
        </p:nvSpPr>
        <p:spPr>
          <a:xfrm>
            <a:off x="929640" y="6502400"/>
            <a:ext cx="718820" cy="99059"/>
          </a:xfrm>
          <a:prstGeom prst="rect">
            <a:avLst/>
          </a:prstGeom>
          <a:noFill/>
        </p:spPr>
        <p:txBody>
          <a:bodyPr wrap="none" lIns="0" tIns="0" rIns="0" bIns="0" anchor="ctr">
            <a:spAutoFit/>
          </a:bodyPr>
          <a:lstStyle/>
          <a:p>
            <a:r>
              <a:rPr sz="1200" spc="-100">
                <a:solidFill>
                  <a:srgbClr val="000000"/>
                </a:solidFill>
                <a:latin typeface="Calibri"/>
              </a:rPr>
              <a:t>08-04-2026 </a:t>
            </a:r>
          </a:p>
        </p:txBody>
      </p:sp>
      <p:sp>
        <p:nvSpPr>
          <p:cNvPr id="8" name="TextBox 7"/>
          <p:cNvSpPr txBox="1"/>
          <p:nvPr/>
        </p:nvSpPr>
        <p:spPr>
          <a:xfrm>
            <a:off x="11113770" y="6502400"/>
            <a:ext cx="153670" cy="97790"/>
          </a:xfrm>
          <a:prstGeom prst="rect">
            <a:avLst/>
          </a:prstGeom>
          <a:noFill/>
        </p:spPr>
        <p:txBody>
          <a:bodyPr wrap="none" lIns="0" tIns="0" rIns="0" bIns="0" anchor="ctr">
            <a:spAutoFit/>
          </a:bodyPr>
          <a:lstStyle/>
          <a:p>
            <a:r>
              <a:rPr sz="1200" spc="-100">
                <a:solidFill>
                  <a:srgbClr val="000000"/>
                </a:solidFill>
                <a:latin typeface="Calibri"/>
              </a:rPr>
              <a:t>12</a:t>
            </a:r>
          </a:p>
        </p:txBody>
      </p:sp>
      <p:pic>
        <p:nvPicPr>
          <p:cNvPr id="9" name="Picture 8" descr="image.png"/>
          <p:cNvPicPr>
            <a:picLocks noChangeAspect="1"/>
          </p:cNvPicPr>
          <p:nvPr/>
        </p:nvPicPr>
        <p:blipFill>
          <a:blip r:embed="rId5"/>
          <a:stretch>
            <a:fillRect/>
          </a:stretch>
        </p:blipFill>
        <p:spPr>
          <a:xfrm>
            <a:off x="444500" y="171450"/>
            <a:ext cx="946150" cy="438150"/>
          </a:xfrm>
          <a:prstGeom prst="rect">
            <a:avLst/>
          </a:prstGeom>
        </p:spPr>
      </p:pic>
      <p:pic>
        <p:nvPicPr>
          <p:cNvPr id="10" name="Picture 9" descr="image.png"/>
          <p:cNvPicPr>
            <a:picLocks noChangeAspect="1"/>
          </p:cNvPicPr>
          <p:nvPr/>
        </p:nvPicPr>
        <p:blipFill>
          <a:blip r:embed="rId6"/>
          <a:stretch>
            <a:fillRect/>
          </a:stretch>
        </p:blipFill>
        <p:spPr>
          <a:xfrm>
            <a:off x="444500" y="5334000"/>
            <a:ext cx="165100" cy="222250"/>
          </a:xfrm>
          <a:prstGeom prst="rect">
            <a:avLst/>
          </a:prstGeom>
        </p:spPr>
      </p:pic>
      <p:pic>
        <p:nvPicPr>
          <p:cNvPr id="11" name="Picture 10" descr="image.png"/>
          <p:cNvPicPr>
            <a:picLocks noChangeAspect="1"/>
          </p:cNvPicPr>
          <p:nvPr/>
        </p:nvPicPr>
        <p:blipFill>
          <a:blip r:embed="rId7"/>
          <a:stretch>
            <a:fillRect/>
          </a:stretch>
        </p:blipFill>
        <p:spPr>
          <a:xfrm>
            <a:off x="628650" y="5334000"/>
            <a:ext cx="165100" cy="222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68</TotalTime>
  <Words>405</Words>
  <Application>Microsoft Office PowerPoint</Application>
  <PresentationFormat>Widescreen</PresentationFormat>
  <Paragraphs>131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HILONI</cp:lastModifiedBy>
  <cp:revision>8</cp:revision>
  <dcterms:created xsi:type="dcterms:W3CDTF">2013-01-27T09:14:16Z</dcterms:created>
  <dcterms:modified xsi:type="dcterms:W3CDTF">2026-04-22T15:39:13Z</dcterms:modified>
  <cp:category/>
</cp:coreProperties>
</file>
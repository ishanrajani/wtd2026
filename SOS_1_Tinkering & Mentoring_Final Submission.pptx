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0D60B93-69B9-4B09-8069-B373A3781F0E}">
  <a:tblStyle styleId="{50D60B93-69B9-4B09-8069-B373A3781F0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" name="Google Shape;88;p1:notes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23-Apr-2025</a:t>
            </a:r>
            <a:endParaRPr/>
          </a:p>
        </p:txBody>
      </p:sp>
      <p:sp>
        <p:nvSpPr>
          <p:cNvPr id="89" name="Google Shape;89;p1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 of the Faculty</a:t>
            </a:r>
            <a:endParaRPr/>
          </a:p>
        </p:txBody>
      </p:sp>
      <p:sp>
        <p:nvSpPr>
          <p:cNvPr id="90" name="Google Shape;90;p1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Title of the Lecture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1" name="Google Shape;111;p2:notes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23-Apr-2025</a:t>
            </a:r>
            <a:endParaRPr/>
          </a:p>
        </p:txBody>
      </p:sp>
      <p:sp>
        <p:nvSpPr>
          <p:cNvPr id="112" name="Google Shape;112;p2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 of the Faculty</a:t>
            </a:r>
            <a:endParaRPr/>
          </a:p>
        </p:txBody>
      </p:sp>
      <p:sp>
        <p:nvSpPr>
          <p:cNvPr id="113" name="Google Shape;113;p2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Title of the Lecture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" name="Google Shape;133;p3:notes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23-Apr-2025</a:t>
            </a:r>
            <a:endParaRPr/>
          </a:p>
        </p:txBody>
      </p:sp>
      <p:sp>
        <p:nvSpPr>
          <p:cNvPr id="134" name="Google Shape;134;p3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 of the Faculty</a:t>
            </a:r>
            <a:endParaRPr/>
          </a:p>
        </p:txBody>
      </p:sp>
      <p:sp>
        <p:nvSpPr>
          <p:cNvPr id="135" name="Google Shape;135;p3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Title of the Lecture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5" name="Google Shape;155;p4:notes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23-Apr-2025</a:t>
            </a:r>
            <a:endParaRPr/>
          </a:p>
        </p:txBody>
      </p:sp>
      <p:sp>
        <p:nvSpPr>
          <p:cNvPr id="156" name="Google Shape;156;p4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 of the Faculty</a:t>
            </a:r>
            <a:endParaRPr/>
          </a:p>
        </p:txBody>
      </p:sp>
      <p:sp>
        <p:nvSpPr>
          <p:cNvPr id="157" name="Google Shape;157;p4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Title of the Lecture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7" name="Google Shape;177;p5:notes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23-Apr-2025</a:t>
            </a:r>
            <a:endParaRPr/>
          </a:p>
        </p:txBody>
      </p:sp>
      <p:sp>
        <p:nvSpPr>
          <p:cNvPr id="178" name="Google Shape;178;p5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 of the Faculty</a:t>
            </a:r>
            <a:endParaRPr/>
          </a:p>
        </p:txBody>
      </p:sp>
      <p:sp>
        <p:nvSpPr>
          <p:cNvPr id="179" name="Google Shape;179;p5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Title of the Lecture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dbe07fbeb6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dbe07fbeb6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g3dbe07fbeb6_0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9" name="Google Shape;199;g3dbe07fbeb6_0_28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23-Apr-2025</a:t>
            </a:r>
            <a:endParaRPr/>
          </a:p>
        </p:txBody>
      </p:sp>
      <p:sp>
        <p:nvSpPr>
          <p:cNvPr id="200" name="Google Shape;200;g3dbe07fbeb6_0_28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 of the Faculty</a:t>
            </a:r>
            <a:endParaRPr/>
          </a:p>
        </p:txBody>
      </p:sp>
      <p:sp>
        <p:nvSpPr>
          <p:cNvPr id="201" name="Google Shape;201;g3dbe07fbeb6_0_28:notes"/>
          <p:cNvSpPr txBox="1"/>
          <p:nvPr>
            <p:ph idx="3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Title of the Lecture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be07fbeb6_0_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3dbe07fbeb6_0_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g3dbe07fbeb6_0_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4" name="Google Shape;224;g3dbe07fbeb6_0_53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23-Apr-2025</a:t>
            </a:r>
            <a:endParaRPr/>
          </a:p>
        </p:txBody>
      </p:sp>
      <p:sp>
        <p:nvSpPr>
          <p:cNvPr id="225" name="Google Shape;225;g3dbe07fbeb6_0_53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 of the Faculty</a:t>
            </a:r>
            <a:endParaRPr/>
          </a:p>
        </p:txBody>
      </p:sp>
      <p:sp>
        <p:nvSpPr>
          <p:cNvPr id="226" name="Google Shape;226;g3dbe07fbeb6_0_53:notes"/>
          <p:cNvSpPr txBox="1"/>
          <p:nvPr>
            <p:ph idx="3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Title of the Lecture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dbe07fbeb6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g3dbe07fbeb6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" name="Google Shape;250;g3dbe07fbeb6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1" name="Google Shape;251;g3dbe07fbeb6_0_7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23-Apr-2025</a:t>
            </a:r>
            <a:endParaRPr/>
          </a:p>
        </p:txBody>
      </p:sp>
      <p:sp>
        <p:nvSpPr>
          <p:cNvPr id="252" name="Google Shape;252;g3dbe07fbeb6_0_7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 of the Faculty</a:t>
            </a:r>
            <a:endParaRPr/>
          </a:p>
        </p:txBody>
      </p:sp>
      <p:sp>
        <p:nvSpPr>
          <p:cNvPr id="253" name="Google Shape;253;g3dbe07fbeb6_0_7:notes"/>
          <p:cNvSpPr txBox="1"/>
          <p:nvPr>
            <p:ph idx="3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Title of the Lecture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2" name="Google Shape;27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3" name="Google Shape;273;p6:notes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23-Apr-2025</a:t>
            </a:r>
            <a:endParaRPr/>
          </a:p>
        </p:txBody>
      </p:sp>
      <p:sp>
        <p:nvSpPr>
          <p:cNvPr id="274" name="Google Shape;274;p6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 of the Faculty</a:t>
            </a:r>
            <a:endParaRPr/>
          </a:p>
        </p:txBody>
      </p:sp>
      <p:sp>
        <p:nvSpPr>
          <p:cNvPr id="275" name="Google Shape;275;p6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Title of the Lecture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4" name="Google Shape;29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5" name="Google Shape;295;p7:notes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23-Apr-2025</a:t>
            </a:r>
            <a:endParaRPr/>
          </a:p>
        </p:txBody>
      </p:sp>
      <p:sp>
        <p:nvSpPr>
          <p:cNvPr id="296" name="Google Shape;296;p7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 of the Faculty</a:t>
            </a:r>
            <a:endParaRPr/>
          </a:p>
        </p:txBody>
      </p:sp>
      <p:sp>
        <p:nvSpPr>
          <p:cNvPr id="297" name="Google Shape;297;p7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Title of the Lecture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dbe07fbeb6_0_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g3dbe07fbeb6_0_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7" name="Google Shape;317;g3dbe07fbeb6_0_8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8" name="Google Shape;318;g3dbe07fbeb6_0_83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23-Apr-2025</a:t>
            </a:r>
            <a:endParaRPr/>
          </a:p>
        </p:txBody>
      </p:sp>
      <p:sp>
        <p:nvSpPr>
          <p:cNvPr id="319" name="Google Shape;319;g3dbe07fbeb6_0_83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 of the Faculty</a:t>
            </a:r>
            <a:endParaRPr/>
          </a:p>
        </p:txBody>
      </p:sp>
      <p:sp>
        <p:nvSpPr>
          <p:cNvPr id="320" name="Google Shape;320;g3dbe07fbeb6_0_83:notes"/>
          <p:cNvSpPr txBox="1"/>
          <p:nvPr>
            <p:ph idx="3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Title of the Lecture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0" name="Google Shape;34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1" name="Google Shape;341;p8:notes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23-Apr-2025</a:t>
            </a:r>
            <a:endParaRPr/>
          </a:p>
        </p:txBody>
      </p:sp>
      <p:sp>
        <p:nvSpPr>
          <p:cNvPr id="342" name="Google Shape;342;p8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 of the Faculty</a:t>
            </a:r>
            <a:endParaRPr/>
          </a:p>
        </p:txBody>
      </p:sp>
      <p:sp>
        <p:nvSpPr>
          <p:cNvPr id="343" name="Google Shape;343;p8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Title of the Lecture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6" name="Google Shape;36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7" name="Google Shape;367;p9:notes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23-Apr-2025</a:t>
            </a:r>
            <a:endParaRPr/>
          </a:p>
        </p:txBody>
      </p:sp>
      <p:sp>
        <p:nvSpPr>
          <p:cNvPr id="368" name="Google Shape;368;p9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 of the Faculty</a:t>
            </a:r>
            <a:endParaRPr/>
          </a:p>
        </p:txBody>
      </p:sp>
      <p:sp>
        <p:nvSpPr>
          <p:cNvPr id="369" name="Google Shape;369;p9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Title of the Lecture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8" name="Google Shape;38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9" name="Google Shape;389;p10:notes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23-Apr-2025</a:t>
            </a:r>
            <a:endParaRPr/>
          </a:p>
        </p:txBody>
      </p:sp>
      <p:sp>
        <p:nvSpPr>
          <p:cNvPr id="390" name="Google Shape;390;p10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 of the Faculty</a:t>
            </a:r>
            <a:endParaRPr/>
          </a:p>
        </p:txBody>
      </p:sp>
      <p:sp>
        <p:nvSpPr>
          <p:cNvPr id="391" name="Google Shape;391;p10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Title of the Lecture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dbe07fbeb6_0_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g3dbe07fbeb6_0_1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0" name="Google Shape;410;g3dbe07fbeb6_0_1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1" name="Google Shape;411;g3dbe07fbeb6_0_111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23-Apr-2025</a:t>
            </a:r>
            <a:endParaRPr/>
          </a:p>
        </p:txBody>
      </p:sp>
      <p:sp>
        <p:nvSpPr>
          <p:cNvPr id="412" name="Google Shape;412;g3dbe07fbeb6_0_111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 of the Faculty</a:t>
            </a:r>
            <a:endParaRPr/>
          </a:p>
        </p:txBody>
      </p:sp>
      <p:sp>
        <p:nvSpPr>
          <p:cNvPr id="413" name="Google Shape;413;g3dbe07fbeb6_0_111:notes"/>
          <p:cNvSpPr txBox="1"/>
          <p:nvPr>
            <p:ph idx="3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Title of the Lecture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" name="Google Shape;43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2" name="Google Shape;43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3" name="Google Shape;433;p11:notes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23-Apr-2025</a:t>
            </a:r>
            <a:endParaRPr/>
          </a:p>
        </p:txBody>
      </p:sp>
      <p:sp>
        <p:nvSpPr>
          <p:cNvPr id="434" name="Google Shape;434;p11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 of the Faculty</a:t>
            </a:r>
            <a:endParaRPr/>
          </a:p>
        </p:txBody>
      </p:sp>
      <p:sp>
        <p:nvSpPr>
          <p:cNvPr id="435" name="Google Shape;435;p11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Title of the Lecture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2" name="Google Shape;45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3" name="Google Shape;45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4" name="Google Shape;454;p12:notes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23-Apr-2025</a:t>
            </a:r>
            <a:endParaRPr/>
          </a:p>
        </p:txBody>
      </p:sp>
      <p:sp>
        <p:nvSpPr>
          <p:cNvPr id="455" name="Google Shape;455;p12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 of the Faculty</a:t>
            </a:r>
            <a:endParaRPr/>
          </a:p>
        </p:txBody>
      </p:sp>
      <p:sp>
        <p:nvSpPr>
          <p:cNvPr id="456" name="Google Shape;456;p12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Title of the Lecture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7.jpg"/><Relationship Id="rId5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6.jpg"/><Relationship Id="rId5" Type="http://schemas.openxmlformats.org/officeDocument/2006/relationships/image" Target="../media/image2.jpg"/><Relationship Id="rId6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1.jpg"/><Relationship Id="rId5" Type="http://schemas.openxmlformats.org/officeDocument/2006/relationships/image" Target="../media/image9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13"/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93" name="Google Shape;93;p13"/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13"/>
            <p:cNvSpPr/>
            <p:nvPr/>
          </p:nvSpPr>
          <p:spPr>
            <a:xfrm flipH="1" rot="10800000">
              <a:off x="0" y="6347341"/>
              <a:ext cx="12192000" cy="45719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7740">
                  <a:srgbClr val="00B0F0"/>
                </a:gs>
                <a:gs pos="46000">
                  <a:srgbClr val="00B0F0"/>
                </a:gs>
                <a:gs pos="57000">
                  <a:srgbClr val="FFC000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5" name="Google Shape;9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96" name="Google Shape;96;p13"/>
          <p:cNvGrpSpPr/>
          <p:nvPr/>
        </p:nvGrpSpPr>
        <p:grpSpPr>
          <a:xfrm>
            <a:off x="529337" y="896634"/>
            <a:ext cx="10824463" cy="891025"/>
            <a:chOff x="529337" y="896634"/>
            <a:chExt cx="10824463" cy="891025"/>
          </a:xfrm>
        </p:grpSpPr>
        <p:pic>
          <p:nvPicPr>
            <p:cNvPr id="97" name="Google Shape;97;p13"/>
            <p:cNvPicPr preferRelativeResize="0"/>
            <p:nvPr/>
          </p:nvPicPr>
          <p:blipFill rotWithShape="1">
            <a:blip r:embed="rId3">
              <a:alphaModFix/>
            </a:blip>
            <a:srcRect b="26058" l="0" r="0" t="27019"/>
            <a:stretch/>
          </p:blipFill>
          <p:spPr>
            <a:xfrm>
              <a:off x="529337" y="896634"/>
              <a:ext cx="1898904" cy="8910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8" name="Google Shape;98;p13"/>
            <p:cNvGrpSpPr/>
            <p:nvPr/>
          </p:nvGrpSpPr>
          <p:grpSpPr>
            <a:xfrm>
              <a:off x="11015286" y="1236138"/>
              <a:ext cx="338514" cy="212015"/>
              <a:chOff x="521095" y="429142"/>
              <a:chExt cx="463644" cy="290385"/>
            </a:xfrm>
          </p:grpSpPr>
          <p:sp>
            <p:nvSpPr>
              <p:cNvPr id="99" name="Google Shape;99;p13"/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rect b="b" l="l" r="r" t="t"/>
                <a:pathLst>
                  <a:path extrusionOk="0" h="7170" w="5273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solidFill>
                <a:srgbClr val="0DE5CB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r>
                  <a:t/>
                </a:r>
                <a:endParaRPr b="0" i="0" sz="18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" name="Google Shape;100;p13"/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rect b="b" l="l" r="r" t="t"/>
                <a:pathLst>
                  <a:path extrusionOk="0" h="7170" w="5273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r>
                  <a:t/>
                </a:r>
                <a:endParaRPr b="0" i="0" sz="18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01" name="Google Shape;101;p13"/>
          <p:cNvSpPr/>
          <p:nvPr/>
        </p:nvSpPr>
        <p:spPr>
          <a:xfrm>
            <a:off x="2653067" y="288643"/>
            <a:ext cx="709040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Tinkering &amp; Mentoring - VACC 201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3"/>
          <p:cNvSpPr/>
          <p:nvPr/>
        </p:nvSpPr>
        <p:spPr>
          <a:xfrm>
            <a:off x="2805467" y="1186543"/>
            <a:ext cx="5993949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Final Project Presentation &amp;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Demonstration</a:t>
            </a:r>
            <a:endParaRPr b="1" i="0" sz="2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103" name="Google Shape;103;p13"/>
          <p:cNvGrpSpPr/>
          <p:nvPr/>
        </p:nvGrpSpPr>
        <p:grpSpPr>
          <a:xfrm>
            <a:off x="690015" y="2490879"/>
            <a:ext cx="10351554" cy="3720011"/>
            <a:chOff x="407362" y="2296796"/>
            <a:chExt cx="6816900" cy="3977888"/>
          </a:xfrm>
        </p:grpSpPr>
        <p:sp>
          <p:nvSpPr>
            <p:cNvPr id="104" name="Google Shape;104;p13"/>
            <p:cNvSpPr txBox="1"/>
            <p:nvPr/>
          </p:nvSpPr>
          <p:spPr>
            <a:xfrm>
              <a:off x="407362" y="2296796"/>
              <a:ext cx="6816900" cy="128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Arial"/>
                <a:buNone/>
              </a:pPr>
              <a:r>
                <a:rPr b="1" i="0" lang="en-US" sz="36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ChitoPack - Shrimp-Shell </a:t>
              </a:r>
              <a:endParaRPr b="1" i="0" sz="3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Arial"/>
                <a:buNone/>
              </a:pPr>
              <a:r>
                <a:rPr b="1" i="0" lang="en-US" sz="36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Biodegradable Packaging</a:t>
              </a:r>
              <a:endParaRPr b="1" i="0" sz="6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05" name="Google Shape;105;p13"/>
            <p:cNvSpPr txBox="1"/>
            <p:nvPr/>
          </p:nvSpPr>
          <p:spPr>
            <a:xfrm>
              <a:off x="501235" y="4332484"/>
              <a:ext cx="3592500" cy="194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Date: 05/05/2026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Name of the Presenter: SOS_01</a:t>
              </a:r>
              <a:endPara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Email Id:25sc02003@gsfcuniversity.ac.in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Mobile No.: 8140671519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Faculty Mentor Name: Dr. Sejalben Rathod</a:t>
              </a:r>
              <a:endPara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106" name="Google Shape;106;p13"/>
          <p:cNvSpPr txBox="1"/>
          <p:nvPr/>
        </p:nvSpPr>
        <p:spPr>
          <a:xfrm>
            <a:off x="6512458" y="4454068"/>
            <a:ext cx="48414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Team No.:SOS_01 </a:t>
            </a:r>
            <a:endParaRPr b="0" i="0" sz="1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Semester: 2nd</a:t>
            </a:r>
            <a:endParaRPr b="0" i="0" sz="1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Program: BSc Biotechnology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School: School of Science </a:t>
            </a:r>
            <a:endParaRPr b="0" i="0" sz="1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14"/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116" name="Google Shape;116;p14"/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14"/>
            <p:cNvSpPr/>
            <p:nvPr/>
          </p:nvSpPr>
          <p:spPr>
            <a:xfrm flipH="1" rot="10800000">
              <a:off x="0" y="6347341"/>
              <a:ext cx="12192000" cy="45719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7740">
                  <a:srgbClr val="00B0F0"/>
                </a:gs>
                <a:gs pos="46000">
                  <a:srgbClr val="00B0F0"/>
                </a:gs>
                <a:gs pos="57000">
                  <a:srgbClr val="FFC000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8" name="Google Shape;11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</a:rPr>
              <a:t>05-May-2026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9" name="Google Shape;11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</a:rPr>
              <a:t>SOS_01, BSc Biotechnology, School of Science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0" name="Google Shape;12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21" name="Google Shape;121;p14"/>
          <p:cNvSpPr txBox="1"/>
          <p:nvPr/>
        </p:nvSpPr>
        <p:spPr>
          <a:xfrm>
            <a:off x="450774" y="900322"/>
            <a:ext cx="491370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Student Team</a:t>
            </a:r>
            <a:endParaRPr b="1" i="0" sz="2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122" name="Google Shape;122;p14"/>
          <p:cNvGraphicFramePr/>
          <p:nvPr/>
        </p:nvGraphicFramePr>
        <p:xfrm>
          <a:off x="457199" y="1600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{50D60B93-69B9-4B09-8069-B373A3781F0E}</a:tableStyleId>
              </a:tblPr>
              <a:tblGrid>
                <a:gridCol w="4536050"/>
                <a:gridCol w="2448875"/>
                <a:gridCol w="3820375"/>
              </a:tblGrid>
              <a:tr h="362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Name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Enrollment No.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Key Responsibility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AGARWAL KHUSHI BHARATBHAI</a:t>
                      </a:r>
                      <a:endParaRPr sz="1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25SC02001</a:t>
                      </a:r>
                      <a:endParaRPr sz="1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Review Literature</a:t>
                      </a:r>
                      <a:endParaRPr sz="1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AMAN KUMAR MALAKAR</a:t>
                      </a:r>
                      <a:endParaRPr sz="1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25SC02002</a:t>
                      </a:r>
                      <a:endParaRPr sz="1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Protocol development</a:t>
                      </a:r>
                      <a:endParaRPr sz="1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AYESHA HAYAT ANSARI </a:t>
                      </a:r>
                      <a:endParaRPr sz="1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25SC02003</a:t>
                      </a:r>
                      <a:endParaRPr sz="1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Ideation &amp; Team Leader</a:t>
                      </a:r>
                      <a:endParaRPr sz="1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BANJARA DARSHAN PRADEEPBHAI</a:t>
                      </a:r>
                      <a:endParaRPr sz="1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25SC02004</a:t>
                      </a:r>
                      <a:endParaRPr sz="1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Lab procurement</a:t>
                      </a:r>
                      <a:endParaRPr sz="1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BARIYA JIYA BIPINBHAI</a:t>
                      </a:r>
                      <a:endParaRPr sz="1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25SC02005</a:t>
                      </a:r>
                      <a:endParaRPr sz="1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Product Testings</a:t>
                      </a:r>
                      <a:endParaRPr sz="1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BAROT KHYATI ANANTBHAI</a:t>
                      </a:r>
                      <a:endParaRPr sz="1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25SC02006</a:t>
                      </a:r>
                      <a:endParaRPr sz="1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Compile report/data</a:t>
                      </a:r>
                      <a:endParaRPr sz="1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23" name="Google Shape;123;p14"/>
          <p:cNvGrpSpPr/>
          <p:nvPr/>
        </p:nvGrpSpPr>
        <p:grpSpPr>
          <a:xfrm>
            <a:off x="450775" y="170727"/>
            <a:ext cx="11072266" cy="441809"/>
            <a:chOff x="450775" y="170727"/>
            <a:chExt cx="11072266" cy="441809"/>
          </a:xfrm>
        </p:grpSpPr>
        <p:pic>
          <p:nvPicPr>
            <p:cNvPr id="124" name="Google Shape;124;p14"/>
            <p:cNvPicPr preferRelativeResize="0"/>
            <p:nvPr/>
          </p:nvPicPr>
          <p:blipFill rotWithShape="1">
            <a:blip r:embed="rId3">
              <a:alphaModFix/>
            </a:blip>
            <a:srcRect b="26060" l="0" r="0" t="2701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" name="Google Shape;125;p14"/>
            <p:cNvSpPr txBox="1"/>
            <p:nvPr/>
          </p:nvSpPr>
          <p:spPr>
            <a:xfrm>
              <a:off x="4038600" y="209068"/>
              <a:ext cx="41148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Chitopack- shrimp shell packaging</a:t>
              </a:r>
              <a:endPara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126" name="Google Shape;126;p14"/>
            <p:cNvGrpSpPr/>
            <p:nvPr/>
          </p:nvGrpSpPr>
          <p:grpSpPr>
            <a:xfrm>
              <a:off x="11184535" y="285617"/>
              <a:ext cx="338507" cy="212010"/>
              <a:chOff x="521095" y="429142"/>
              <a:chExt cx="463645" cy="290385"/>
            </a:xfrm>
          </p:grpSpPr>
          <p:sp>
            <p:nvSpPr>
              <p:cNvPr id="127" name="Google Shape;127;p14"/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rect b="b" l="l" r="r" t="t"/>
                <a:pathLst>
                  <a:path extrusionOk="0" h="7170" w="5273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solidFill>
                <a:srgbClr val="0DE5CB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r>
                  <a:t/>
                </a:r>
                <a:endParaRPr b="0" i="0" sz="18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p14"/>
              <p:cNvSpPr/>
              <p:nvPr/>
            </p:nvSpPr>
            <p:spPr>
              <a:xfrm>
                <a:off x="771183" y="429142"/>
                <a:ext cx="213557" cy="290385"/>
              </a:xfrm>
              <a:custGeom>
                <a:rect b="b" l="l" r="r" t="t"/>
                <a:pathLst>
                  <a:path extrusionOk="0" h="7170" w="5273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r>
                  <a:t/>
                </a:r>
                <a:endParaRPr b="0" i="0" sz="18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15"/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138" name="Google Shape;138;p15"/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15"/>
            <p:cNvSpPr/>
            <p:nvPr/>
          </p:nvSpPr>
          <p:spPr>
            <a:xfrm flipH="1" rot="10800000">
              <a:off x="0" y="6347341"/>
              <a:ext cx="12192000" cy="45719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7740">
                  <a:srgbClr val="00B0F0"/>
                </a:gs>
                <a:gs pos="46000">
                  <a:srgbClr val="00B0F0"/>
                </a:gs>
                <a:gs pos="57000">
                  <a:srgbClr val="FFC000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0" name="Google Shape;140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</a:rPr>
              <a:t>05-May-2026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1" name="Google Shape;141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SOS_01, BSc Biotechnology, School of Science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2" name="Google Shape;142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grpSp>
        <p:nvGrpSpPr>
          <p:cNvPr id="143" name="Google Shape;143;p15"/>
          <p:cNvGrpSpPr/>
          <p:nvPr/>
        </p:nvGrpSpPr>
        <p:grpSpPr>
          <a:xfrm>
            <a:off x="450775" y="170727"/>
            <a:ext cx="11072282" cy="441809"/>
            <a:chOff x="450775" y="170727"/>
            <a:chExt cx="11072282" cy="441809"/>
          </a:xfrm>
        </p:grpSpPr>
        <p:pic>
          <p:nvPicPr>
            <p:cNvPr id="144" name="Google Shape;144;p15"/>
            <p:cNvPicPr preferRelativeResize="0"/>
            <p:nvPr/>
          </p:nvPicPr>
          <p:blipFill rotWithShape="1">
            <a:blip r:embed="rId3">
              <a:alphaModFix/>
            </a:blip>
            <a:srcRect b="26058" l="0" r="0" t="27019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" name="Google Shape;145;p15"/>
            <p:cNvSpPr txBox="1"/>
            <p:nvPr/>
          </p:nvSpPr>
          <p:spPr>
            <a:xfrm>
              <a:off x="4038600" y="209068"/>
              <a:ext cx="4114800" cy="365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en-US" sz="1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Chitopack- shrimp shell packaging</a:t>
              </a:r>
              <a:endPara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146" name="Google Shape;146;p15"/>
            <p:cNvGrpSpPr/>
            <p:nvPr/>
          </p:nvGrpSpPr>
          <p:grpSpPr>
            <a:xfrm>
              <a:off x="11184543" y="285624"/>
              <a:ext cx="338514" cy="212015"/>
              <a:chOff x="521095" y="429142"/>
              <a:chExt cx="463644" cy="290385"/>
            </a:xfrm>
          </p:grpSpPr>
          <p:sp>
            <p:nvSpPr>
              <p:cNvPr id="147" name="Google Shape;147;p15"/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rect b="b" l="l" r="r" t="t"/>
                <a:pathLst>
                  <a:path extrusionOk="0" h="7170" w="5273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solidFill>
                <a:srgbClr val="0DE5CB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r>
                  <a:t/>
                </a:r>
                <a:endParaRPr b="0" i="0" sz="18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15"/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rect b="b" l="l" r="r" t="t"/>
                <a:pathLst>
                  <a:path extrusionOk="0" h="7170" w="5273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r>
                  <a:t/>
                </a:r>
                <a:endParaRPr b="0" i="0" sz="18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49" name="Google Shape;149;p15"/>
          <p:cNvSpPr txBox="1"/>
          <p:nvPr/>
        </p:nvSpPr>
        <p:spPr>
          <a:xfrm>
            <a:off x="604887" y="1237657"/>
            <a:ext cx="491370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Faculty Mentor</a:t>
            </a:r>
            <a:endParaRPr b="1" i="0" sz="2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150" name="Google Shape;150;p15"/>
          <p:cNvGraphicFramePr/>
          <p:nvPr/>
        </p:nvGraphicFramePr>
        <p:xfrm>
          <a:off x="604887" y="200300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{50D60B93-69B9-4B09-8069-B373A3781F0E}</a:tableStyleId>
              </a:tblPr>
              <a:tblGrid>
                <a:gridCol w="4211500"/>
                <a:gridCol w="2773425"/>
                <a:gridCol w="3820375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Name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Designation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Department, School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DR. SEJAL RATHOD </a:t>
                      </a:r>
                      <a:endParaRPr sz="1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ASSISTANT PROFESSOR</a:t>
                      </a:r>
                      <a:endParaRPr sz="1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DEPARTMENT OF LIFE SCIENCE, SCHOOL OF SCIENCE </a:t>
                      </a:r>
                      <a:endParaRPr sz="1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16"/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160" name="Google Shape;160;p16"/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16"/>
            <p:cNvSpPr/>
            <p:nvPr/>
          </p:nvSpPr>
          <p:spPr>
            <a:xfrm flipH="1" rot="10800000">
              <a:off x="0" y="6347341"/>
              <a:ext cx="12192000" cy="45719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7740">
                  <a:srgbClr val="00B0F0"/>
                </a:gs>
                <a:gs pos="46000">
                  <a:srgbClr val="00B0F0"/>
                </a:gs>
                <a:gs pos="57000">
                  <a:srgbClr val="FFC000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2" name="Google Shape;16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</a:rPr>
              <a:t>05-May-2026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3" name="Google Shape;16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SOS_01, BSc Biotechnology, School of Science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4" name="Google Shape;16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grpSp>
        <p:nvGrpSpPr>
          <p:cNvPr id="165" name="Google Shape;165;p16"/>
          <p:cNvGrpSpPr/>
          <p:nvPr/>
        </p:nvGrpSpPr>
        <p:grpSpPr>
          <a:xfrm>
            <a:off x="450775" y="170727"/>
            <a:ext cx="11072282" cy="441809"/>
            <a:chOff x="450775" y="170727"/>
            <a:chExt cx="11072282" cy="441809"/>
          </a:xfrm>
        </p:grpSpPr>
        <p:pic>
          <p:nvPicPr>
            <p:cNvPr id="166" name="Google Shape;166;p16"/>
            <p:cNvPicPr preferRelativeResize="0"/>
            <p:nvPr/>
          </p:nvPicPr>
          <p:blipFill rotWithShape="1">
            <a:blip r:embed="rId3">
              <a:alphaModFix/>
            </a:blip>
            <a:srcRect b="26058" l="0" r="0" t="27019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" name="Google Shape;167;p16"/>
            <p:cNvSpPr txBox="1"/>
            <p:nvPr/>
          </p:nvSpPr>
          <p:spPr>
            <a:xfrm>
              <a:off x="4038600" y="209068"/>
              <a:ext cx="4114800" cy="365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en-US" sz="1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Chitopack- shrimp shell packaging</a:t>
              </a:r>
              <a:endPara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168" name="Google Shape;168;p16"/>
            <p:cNvGrpSpPr/>
            <p:nvPr/>
          </p:nvGrpSpPr>
          <p:grpSpPr>
            <a:xfrm>
              <a:off x="11184543" y="285624"/>
              <a:ext cx="338514" cy="212015"/>
              <a:chOff x="521095" y="429142"/>
              <a:chExt cx="463644" cy="290385"/>
            </a:xfrm>
          </p:grpSpPr>
          <p:sp>
            <p:nvSpPr>
              <p:cNvPr id="169" name="Google Shape;169;p16"/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rect b="b" l="l" r="r" t="t"/>
                <a:pathLst>
                  <a:path extrusionOk="0" h="7170" w="5273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solidFill>
                <a:srgbClr val="0DE5CB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r>
                  <a:t/>
                </a:r>
                <a:endParaRPr b="0" i="0" sz="18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16"/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rect b="b" l="l" r="r" t="t"/>
                <a:pathLst>
                  <a:path extrusionOk="0" h="7170" w="5273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r>
                  <a:t/>
                </a:r>
                <a:endParaRPr b="0" i="0" sz="18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71" name="Google Shape;171;p16"/>
          <p:cNvSpPr txBox="1"/>
          <p:nvPr/>
        </p:nvSpPr>
        <p:spPr>
          <a:xfrm>
            <a:off x="450774" y="900322"/>
            <a:ext cx="624797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Introduction of Tinkering Project</a:t>
            </a:r>
            <a:endParaRPr b="1" i="0" sz="2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72" name="Google Shape;172;p16"/>
          <p:cNvSpPr txBox="1"/>
          <p:nvPr/>
        </p:nvSpPr>
        <p:spPr>
          <a:xfrm>
            <a:off x="450774" y="1698638"/>
            <a:ext cx="11072400" cy="27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Title of Tinkering Project: </a:t>
            </a:r>
            <a:r>
              <a:rPr b="0" i="0" lang="en-US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ChitoPack- Shrimp-shell Biodegradable Packaging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Sector: </a:t>
            </a:r>
            <a:r>
              <a:rPr b="0" i="0" lang="en-US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Environment/Sustainable Packaging</a:t>
            </a:r>
            <a:endParaRPr b="0" i="0" sz="2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Brief:</a:t>
            </a: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Plastic packaging causes environmental pollution.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        Shrim shells are waste but contain useful biopolymer(chitin).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Aim: </a:t>
            </a: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Develop biodegradable packaging using shrimp shell waste.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oogle Shape;181;p17"/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182" name="Google Shape;182;p17"/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17"/>
            <p:cNvSpPr/>
            <p:nvPr/>
          </p:nvSpPr>
          <p:spPr>
            <a:xfrm flipH="1" rot="10800000">
              <a:off x="0" y="6347341"/>
              <a:ext cx="12192000" cy="45719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7740">
                  <a:srgbClr val="00B0F0"/>
                </a:gs>
                <a:gs pos="46000">
                  <a:srgbClr val="00B0F0"/>
                </a:gs>
                <a:gs pos="57000">
                  <a:srgbClr val="FFC000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4" name="Google Shape;184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</a:rPr>
              <a:t>05-May-2026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5" name="Google Shape;185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</a:rPr>
              <a:t>SOS_01, BSc Biotechnology, School of Science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6" name="Google Shape;186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grpSp>
        <p:nvGrpSpPr>
          <p:cNvPr id="187" name="Google Shape;187;p17"/>
          <p:cNvGrpSpPr/>
          <p:nvPr/>
        </p:nvGrpSpPr>
        <p:grpSpPr>
          <a:xfrm>
            <a:off x="450775" y="170727"/>
            <a:ext cx="11072282" cy="441809"/>
            <a:chOff x="450775" y="170727"/>
            <a:chExt cx="11072282" cy="441809"/>
          </a:xfrm>
        </p:grpSpPr>
        <p:pic>
          <p:nvPicPr>
            <p:cNvPr id="188" name="Google Shape;188;p17"/>
            <p:cNvPicPr preferRelativeResize="0"/>
            <p:nvPr/>
          </p:nvPicPr>
          <p:blipFill rotWithShape="1">
            <a:blip r:embed="rId3">
              <a:alphaModFix/>
            </a:blip>
            <a:srcRect b="26058" l="0" r="0" t="27019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" name="Google Shape;189;p17"/>
            <p:cNvSpPr txBox="1"/>
            <p:nvPr/>
          </p:nvSpPr>
          <p:spPr>
            <a:xfrm>
              <a:off x="4038600" y="209068"/>
              <a:ext cx="4114800" cy="365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en-US" sz="1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Chitopack- shrimp shell packaging</a:t>
              </a:r>
              <a:endPara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190" name="Google Shape;190;p17"/>
            <p:cNvGrpSpPr/>
            <p:nvPr/>
          </p:nvGrpSpPr>
          <p:grpSpPr>
            <a:xfrm>
              <a:off x="11184543" y="285624"/>
              <a:ext cx="338514" cy="212015"/>
              <a:chOff x="521095" y="429142"/>
              <a:chExt cx="463644" cy="290385"/>
            </a:xfrm>
          </p:grpSpPr>
          <p:sp>
            <p:nvSpPr>
              <p:cNvPr id="191" name="Google Shape;191;p17"/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rect b="b" l="l" r="r" t="t"/>
                <a:pathLst>
                  <a:path extrusionOk="0" h="7170" w="5273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solidFill>
                <a:srgbClr val="0DE5CB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r>
                  <a:t/>
                </a:r>
                <a:endParaRPr b="0" i="0" sz="18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17"/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rect b="b" l="l" r="r" t="t"/>
                <a:pathLst>
                  <a:path extrusionOk="0" h="7170" w="5273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r>
                  <a:t/>
                </a:r>
                <a:endParaRPr b="0" i="0" sz="18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93" name="Google Shape;193;p17"/>
          <p:cNvSpPr txBox="1"/>
          <p:nvPr/>
        </p:nvSpPr>
        <p:spPr>
          <a:xfrm>
            <a:off x="450774" y="900322"/>
            <a:ext cx="658702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Methodology and Tinkering Process</a:t>
            </a:r>
            <a:endParaRPr b="1" i="0" sz="2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4" name="Google Shape;194;p17"/>
          <p:cNvSpPr txBox="1"/>
          <p:nvPr/>
        </p:nvSpPr>
        <p:spPr>
          <a:xfrm>
            <a:off x="450774" y="1698638"/>
            <a:ext cx="110724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Project</a:t>
            </a:r>
            <a:r>
              <a:rPr b="1"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Approach:</a:t>
            </a:r>
            <a:endParaRPr b="1"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●"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Focused on converting shrimp shell waste into biodegradable material.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●"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Used low-cost and simple lab methods for development.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Tinkering Journey:</a:t>
            </a:r>
            <a:endParaRPr b="1"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●"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Initial trials resulted in coarse and unstable mixtures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●"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Adjusted ratio of shrimp, starch, and water.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●"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Modified process to achieve moldable consistency.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●"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Final prototype developed using shot glass mould.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oogle Shape;203;p18"/>
          <p:cNvGrpSpPr/>
          <p:nvPr/>
        </p:nvGrpSpPr>
        <p:grpSpPr>
          <a:xfrm>
            <a:off x="0" y="6347460"/>
            <a:ext cx="12192000" cy="510393"/>
            <a:chOff x="0" y="6347460"/>
            <a:chExt cx="12192000" cy="510393"/>
          </a:xfrm>
        </p:grpSpPr>
        <p:sp>
          <p:nvSpPr>
            <p:cNvPr id="204" name="Google Shape;204;p18"/>
            <p:cNvSpPr/>
            <p:nvPr/>
          </p:nvSpPr>
          <p:spPr>
            <a:xfrm>
              <a:off x="0" y="6374853"/>
              <a:ext cx="12192000" cy="483000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18"/>
            <p:cNvSpPr/>
            <p:nvPr/>
          </p:nvSpPr>
          <p:spPr>
            <a:xfrm flipH="1" rot="10800000">
              <a:off x="0" y="6347460"/>
              <a:ext cx="12192000" cy="456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7740">
                  <a:srgbClr val="00B0F0"/>
                </a:gs>
                <a:gs pos="46000">
                  <a:srgbClr val="00B0F0"/>
                </a:gs>
                <a:gs pos="57000">
                  <a:srgbClr val="FFC000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6" name="Google Shape;206;p1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</a:rPr>
              <a:t>05-May-2026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7" name="Google Shape;207;p1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</a:rPr>
              <a:t>SOS_01, BSc Biotechnology, School of Science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8" name="Google Shape;208;p1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grpSp>
        <p:nvGrpSpPr>
          <p:cNvPr id="209" name="Google Shape;209;p18"/>
          <p:cNvGrpSpPr/>
          <p:nvPr/>
        </p:nvGrpSpPr>
        <p:grpSpPr>
          <a:xfrm>
            <a:off x="450775" y="170727"/>
            <a:ext cx="11072266" cy="441809"/>
            <a:chOff x="450775" y="170727"/>
            <a:chExt cx="11072266" cy="441809"/>
          </a:xfrm>
        </p:grpSpPr>
        <p:pic>
          <p:nvPicPr>
            <p:cNvPr id="210" name="Google Shape;210;p18"/>
            <p:cNvPicPr preferRelativeResize="0"/>
            <p:nvPr/>
          </p:nvPicPr>
          <p:blipFill rotWithShape="1">
            <a:blip r:embed="rId3">
              <a:alphaModFix/>
            </a:blip>
            <a:srcRect b="26060" l="0" r="0" t="2701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1" name="Google Shape;211;p18"/>
            <p:cNvSpPr txBox="1"/>
            <p:nvPr/>
          </p:nvSpPr>
          <p:spPr>
            <a:xfrm>
              <a:off x="4038600" y="209068"/>
              <a:ext cx="41148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en-US" sz="1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Chitopack- shrimp shell packaging</a:t>
              </a:r>
              <a:endPara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212" name="Google Shape;212;p18"/>
            <p:cNvGrpSpPr/>
            <p:nvPr/>
          </p:nvGrpSpPr>
          <p:grpSpPr>
            <a:xfrm>
              <a:off x="11184535" y="285617"/>
              <a:ext cx="338507" cy="212010"/>
              <a:chOff x="521095" y="429142"/>
              <a:chExt cx="463645" cy="290385"/>
            </a:xfrm>
          </p:grpSpPr>
          <p:sp>
            <p:nvSpPr>
              <p:cNvPr id="213" name="Google Shape;213;p18"/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rect b="b" l="l" r="r" t="t"/>
                <a:pathLst>
                  <a:path extrusionOk="0" h="7170" w="5273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solidFill>
                <a:srgbClr val="0DE5CB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r>
                  <a:t/>
                </a:r>
                <a:endParaRPr b="0" i="0" sz="18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18"/>
              <p:cNvSpPr/>
              <p:nvPr/>
            </p:nvSpPr>
            <p:spPr>
              <a:xfrm>
                <a:off x="771183" y="429142"/>
                <a:ext cx="213557" cy="290385"/>
              </a:xfrm>
              <a:custGeom>
                <a:rect b="b" l="l" r="r" t="t"/>
                <a:pathLst>
                  <a:path extrusionOk="0" h="7170" w="5273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r>
                  <a:t/>
                </a:r>
                <a:endParaRPr b="0" i="0" sz="18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15" name="Google Shape;215;p18"/>
          <p:cNvSpPr txBox="1"/>
          <p:nvPr/>
        </p:nvSpPr>
        <p:spPr>
          <a:xfrm>
            <a:off x="450774" y="900322"/>
            <a:ext cx="658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Methodology and Tinkering Process</a:t>
            </a:r>
            <a:endParaRPr b="1" i="0" sz="2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16" name="Google Shape;216;p18" title="WhatsApp Image 2026-05-04 at 5.23.51 PM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7350" y="1569787"/>
            <a:ext cx="3731279" cy="3718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8" title="WhatsApp Image 2026-05-04 at 5.20.48 PM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6000" y="1958775"/>
            <a:ext cx="5432900" cy="3042424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8"/>
          <p:cNvSpPr txBox="1"/>
          <p:nvPr/>
        </p:nvSpPr>
        <p:spPr>
          <a:xfrm>
            <a:off x="1879275" y="5399400"/>
            <a:ext cx="3407400" cy="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Fig.1 Raw Material(Shrimp shells)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8"/>
          <p:cNvSpPr txBox="1"/>
          <p:nvPr/>
        </p:nvSpPr>
        <p:spPr>
          <a:xfrm>
            <a:off x="6137800" y="5199300"/>
            <a:ext cx="5349300" cy="7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Fig.2 Demineralisation with Glacial acetic acid(left)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Raw materai (right)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" name="Google Shape;228;p19"/>
          <p:cNvGrpSpPr/>
          <p:nvPr/>
        </p:nvGrpSpPr>
        <p:grpSpPr>
          <a:xfrm>
            <a:off x="0" y="6347460"/>
            <a:ext cx="12192000" cy="510393"/>
            <a:chOff x="0" y="6347460"/>
            <a:chExt cx="12192000" cy="510393"/>
          </a:xfrm>
        </p:grpSpPr>
        <p:sp>
          <p:nvSpPr>
            <p:cNvPr id="229" name="Google Shape;229;p19"/>
            <p:cNvSpPr/>
            <p:nvPr/>
          </p:nvSpPr>
          <p:spPr>
            <a:xfrm>
              <a:off x="0" y="6374853"/>
              <a:ext cx="12192000" cy="483000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19"/>
            <p:cNvSpPr/>
            <p:nvPr/>
          </p:nvSpPr>
          <p:spPr>
            <a:xfrm flipH="1" rot="10800000">
              <a:off x="0" y="6347460"/>
              <a:ext cx="12192000" cy="456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7740">
                  <a:srgbClr val="00B0F0"/>
                </a:gs>
                <a:gs pos="46000">
                  <a:srgbClr val="00B0F0"/>
                </a:gs>
                <a:gs pos="57000">
                  <a:srgbClr val="FFC000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1" name="Google Shape;231;p1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</a:rPr>
              <a:t>05-May-2026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2" name="Google Shape;232;p1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</a:rPr>
              <a:t>SOS_01, BSc Biotechnology, School of Science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3" name="Google Shape;233;p1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grpSp>
        <p:nvGrpSpPr>
          <p:cNvPr id="234" name="Google Shape;234;p19"/>
          <p:cNvGrpSpPr/>
          <p:nvPr/>
        </p:nvGrpSpPr>
        <p:grpSpPr>
          <a:xfrm>
            <a:off x="450775" y="170727"/>
            <a:ext cx="11072266" cy="441809"/>
            <a:chOff x="450775" y="170727"/>
            <a:chExt cx="11072266" cy="441809"/>
          </a:xfrm>
        </p:grpSpPr>
        <p:pic>
          <p:nvPicPr>
            <p:cNvPr id="235" name="Google Shape;235;p19"/>
            <p:cNvPicPr preferRelativeResize="0"/>
            <p:nvPr/>
          </p:nvPicPr>
          <p:blipFill rotWithShape="1">
            <a:blip r:embed="rId3">
              <a:alphaModFix/>
            </a:blip>
            <a:srcRect b="26060" l="0" r="0" t="2701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6" name="Google Shape;236;p19"/>
            <p:cNvSpPr txBox="1"/>
            <p:nvPr/>
          </p:nvSpPr>
          <p:spPr>
            <a:xfrm>
              <a:off x="4038600" y="209068"/>
              <a:ext cx="41148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en-US" sz="1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Chitopack- shrimp shell packaging</a:t>
              </a:r>
              <a:endPara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237" name="Google Shape;237;p19"/>
            <p:cNvGrpSpPr/>
            <p:nvPr/>
          </p:nvGrpSpPr>
          <p:grpSpPr>
            <a:xfrm>
              <a:off x="11184535" y="285617"/>
              <a:ext cx="338507" cy="212010"/>
              <a:chOff x="521095" y="429142"/>
              <a:chExt cx="463645" cy="290385"/>
            </a:xfrm>
          </p:grpSpPr>
          <p:sp>
            <p:nvSpPr>
              <p:cNvPr id="238" name="Google Shape;238;p19"/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rect b="b" l="l" r="r" t="t"/>
                <a:pathLst>
                  <a:path extrusionOk="0" h="7170" w="5273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solidFill>
                <a:srgbClr val="0DE5CB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r>
                  <a:t/>
                </a:r>
                <a:endParaRPr b="0" i="0" sz="18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" name="Google Shape;239;p19"/>
              <p:cNvSpPr/>
              <p:nvPr/>
            </p:nvSpPr>
            <p:spPr>
              <a:xfrm>
                <a:off x="771183" y="429142"/>
                <a:ext cx="213557" cy="290385"/>
              </a:xfrm>
              <a:custGeom>
                <a:rect b="b" l="l" r="r" t="t"/>
                <a:pathLst>
                  <a:path extrusionOk="0" h="7170" w="5273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r>
                  <a:t/>
                </a:r>
                <a:endParaRPr b="0" i="0" sz="18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40" name="Google Shape;240;p19"/>
          <p:cNvSpPr txBox="1"/>
          <p:nvPr/>
        </p:nvSpPr>
        <p:spPr>
          <a:xfrm>
            <a:off x="450774" y="900322"/>
            <a:ext cx="658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Methodology and Tinkering Process</a:t>
            </a:r>
            <a:endParaRPr b="1" i="0" sz="2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41" name="Google Shape;241;p19" title="WhatsApp Image 2026-05-04 at 5.20.48 PM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9375" y="1512675"/>
            <a:ext cx="4939652" cy="3058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19" title="WhatsApp Image 2026-05-04 at 5.20.47 PM.jpeg"/>
          <p:cNvPicPr preferRelativeResize="0"/>
          <p:nvPr/>
        </p:nvPicPr>
        <p:blipFill rotWithShape="1">
          <a:blip r:embed="rId5">
            <a:alphaModFix/>
          </a:blip>
          <a:srcRect b="569" l="0" r="0" t="-4100"/>
          <a:stretch/>
        </p:blipFill>
        <p:spPr>
          <a:xfrm>
            <a:off x="5522900" y="1529450"/>
            <a:ext cx="1897049" cy="304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19" title="WhatsApp Image 2026-05-04 at 5.18.00 PM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71800" y="1271500"/>
            <a:ext cx="3551249" cy="3982024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9"/>
          <p:cNvSpPr txBox="1"/>
          <p:nvPr/>
        </p:nvSpPr>
        <p:spPr>
          <a:xfrm>
            <a:off x="846200" y="4571150"/>
            <a:ext cx="37260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Fig.3 Drying of treated shrimp shells.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9"/>
          <p:cNvSpPr txBox="1"/>
          <p:nvPr/>
        </p:nvSpPr>
        <p:spPr>
          <a:xfrm>
            <a:off x="5440025" y="4571150"/>
            <a:ext cx="2062800" cy="6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Fig.4 Shrimp shell powder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9"/>
          <p:cNvSpPr txBox="1"/>
          <p:nvPr/>
        </p:nvSpPr>
        <p:spPr>
          <a:xfrm>
            <a:off x="7971875" y="5355900"/>
            <a:ext cx="3551100" cy="6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Fig.5 Drying of mould and trial of thin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films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Google Shape;255;p20"/>
          <p:cNvGrpSpPr/>
          <p:nvPr/>
        </p:nvGrpSpPr>
        <p:grpSpPr>
          <a:xfrm>
            <a:off x="0" y="6347460"/>
            <a:ext cx="12192000" cy="510393"/>
            <a:chOff x="0" y="6347460"/>
            <a:chExt cx="12192000" cy="510393"/>
          </a:xfrm>
        </p:grpSpPr>
        <p:sp>
          <p:nvSpPr>
            <p:cNvPr id="256" name="Google Shape;256;p20"/>
            <p:cNvSpPr/>
            <p:nvPr/>
          </p:nvSpPr>
          <p:spPr>
            <a:xfrm>
              <a:off x="0" y="6374853"/>
              <a:ext cx="12192000" cy="483000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20"/>
            <p:cNvSpPr/>
            <p:nvPr/>
          </p:nvSpPr>
          <p:spPr>
            <a:xfrm flipH="1" rot="10800000">
              <a:off x="0" y="6347460"/>
              <a:ext cx="12192000" cy="456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7740">
                  <a:srgbClr val="00B0F0"/>
                </a:gs>
                <a:gs pos="46000">
                  <a:srgbClr val="00B0F0"/>
                </a:gs>
                <a:gs pos="57000">
                  <a:srgbClr val="FFC000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8" name="Google Shape;258;p2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</a:rPr>
              <a:t>05-May-2026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9" name="Google Shape;259;p2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</a:rPr>
              <a:t>SOS_01, BSc Biotechnology, School of Science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0" name="Google Shape;260;p2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grpSp>
        <p:nvGrpSpPr>
          <p:cNvPr id="261" name="Google Shape;261;p20"/>
          <p:cNvGrpSpPr/>
          <p:nvPr/>
        </p:nvGrpSpPr>
        <p:grpSpPr>
          <a:xfrm>
            <a:off x="450775" y="170727"/>
            <a:ext cx="11072266" cy="441809"/>
            <a:chOff x="450775" y="170727"/>
            <a:chExt cx="11072266" cy="441809"/>
          </a:xfrm>
        </p:grpSpPr>
        <p:pic>
          <p:nvPicPr>
            <p:cNvPr id="262" name="Google Shape;262;p20"/>
            <p:cNvPicPr preferRelativeResize="0"/>
            <p:nvPr/>
          </p:nvPicPr>
          <p:blipFill rotWithShape="1">
            <a:blip r:embed="rId3">
              <a:alphaModFix/>
            </a:blip>
            <a:srcRect b="26060" l="0" r="0" t="2701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3" name="Google Shape;263;p20"/>
            <p:cNvSpPr txBox="1"/>
            <p:nvPr/>
          </p:nvSpPr>
          <p:spPr>
            <a:xfrm>
              <a:off x="4038600" y="209068"/>
              <a:ext cx="41148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en-US" sz="1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Chitopack- shrimp shell packaging</a:t>
              </a:r>
              <a:endPara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264" name="Google Shape;264;p20"/>
            <p:cNvGrpSpPr/>
            <p:nvPr/>
          </p:nvGrpSpPr>
          <p:grpSpPr>
            <a:xfrm>
              <a:off x="11184535" y="285617"/>
              <a:ext cx="338507" cy="212010"/>
              <a:chOff x="521095" y="429142"/>
              <a:chExt cx="463645" cy="290385"/>
            </a:xfrm>
          </p:grpSpPr>
          <p:sp>
            <p:nvSpPr>
              <p:cNvPr id="265" name="Google Shape;265;p20"/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rect b="b" l="l" r="r" t="t"/>
                <a:pathLst>
                  <a:path extrusionOk="0" h="7170" w="5273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solidFill>
                <a:srgbClr val="0DE5CB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r>
                  <a:t/>
                </a:r>
                <a:endParaRPr b="0" i="0" sz="18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" name="Google Shape;266;p20"/>
              <p:cNvSpPr/>
              <p:nvPr/>
            </p:nvSpPr>
            <p:spPr>
              <a:xfrm>
                <a:off x="771183" y="429142"/>
                <a:ext cx="213557" cy="290385"/>
              </a:xfrm>
              <a:custGeom>
                <a:rect b="b" l="l" r="r" t="t"/>
                <a:pathLst>
                  <a:path extrusionOk="0" h="7170" w="5273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r>
                  <a:t/>
                </a:r>
                <a:endParaRPr b="0" i="0" sz="18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67" name="Google Shape;267;p20"/>
          <p:cNvSpPr txBox="1"/>
          <p:nvPr/>
        </p:nvSpPr>
        <p:spPr>
          <a:xfrm>
            <a:off x="450774" y="900322"/>
            <a:ext cx="658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Methodology and Tinkering Process</a:t>
            </a:r>
            <a:endParaRPr b="1" i="0" sz="2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68" name="Google Shape;268;p20"/>
          <p:cNvSpPr txBox="1"/>
          <p:nvPr/>
        </p:nvSpPr>
        <p:spPr>
          <a:xfrm>
            <a:off x="450774" y="1698638"/>
            <a:ext cx="110724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Role of Mentoring:</a:t>
            </a:r>
            <a:endParaRPr b="1"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●"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Guidance in refining problem statement and approach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●"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Suggestions for improving material building and new approach.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●"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Feedback helped in iterative improvements of prototype.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7" name="Google Shape;277;p21"/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278" name="Google Shape;278;p21"/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21"/>
            <p:cNvSpPr/>
            <p:nvPr/>
          </p:nvSpPr>
          <p:spPr>
            <a:xfrm flipH="1" rot="10800000">
              <a:off x="0" y="6347341"/>
              <a:ext cx="12192000" cy="45719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7740">
                  <a:srgbClr val="00B0F0"/>
                </a:gs>
                <a:gs pos="46000">
                  <a:srgbClr val="00B0F0"/>
                </a:gs>
                <a:gs pos="57000">
                  <a:srgbClr val="FFC000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0" name="Google Shape;280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</a:rPr>
              <a:t>05-May-2026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81" name="Google Shape;281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SOS_01, BSc Biotechnology, School of Science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82" name="Google Shape;282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grpSp>
        <p:nvGrpSpPr>
          <p:cNvPr id="283" name="Google Shape;283;p21"/>
          <p:cNvGrpSpPr/>
          <p:nvPr/>
        </p:nvGrpSpPr>
        <p:grpSpPr>
          <a:xfrm>
            <a:off x="450775" y="170727"/>
            <a:ext cx="11072282" cy="441809"/>
            <a:chOff x="450775" y="170727"/>
            <a:chExt cx="11072282" cy="441809"/>
          </a:xfrm>
        </p:grpSpPr>
        <p:pic>
          <p:nvPicPr>
            <p:cNvPr id="284" name="Google Shape;284;p21"/>
            <p:cNvPicPr preferRelativeResize="0"/>
            <p:nvPr/>
          </p:nvPicPr>
          <p:blipFill rotWithShape="1">
            <a:blip r:embed="rId3">
              <a:alphaModFix/>
            </a:blip>
            <a:srcRect b="26058" l="0" r="0" t="27019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5" name="Google Shape;285;p21"/>
            <p:cNvSpPr txBox="1"/>
            <p:nvPr/>
          </p:nvSpPr>
          <p:spPr>
            <a:xfrm>
              <a:off x="4038600" y="209068"/>
              <a:ext cx="4114800" cy="365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en-US" sz="1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Chitopack- shrimp shell packaging</a:t>
              </a:r>
              <a:endPara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286" name="Google Shape;286;p21"/>
            <p:cNvGrpSpPr/>
            <p:nvPr/>
          </p:nvGrpSpPr>
          <p:grpSpPr>
            <a:xfrm>
              <a:off x="11184543" y="285624"/>
              <a:ext cx="338514" cy="212015"/>
              <a:chOff x="521095" y="429142"/>
              <a:chExt cx="463644" cy="290385"/>
            </a:xfrm>
          </p:grpSpPr>
          <p:sp>
            <p:nvSpPr>
              <p:cNvPr id="287" name="Google Shape;287;p21"/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rect b="b" l="l" r="r" t="t"/>
                <a:pathLst>
                  <a:path extrusionOk="0" h="7170" w="5273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solidFill>
                <a:srgbClr val="0DE5CB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r>
                  <a:t/>
                </a:r>
                <a:endParaRPr b="0" i="0" sz="18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" name="Google Shape;288;p21"/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rect b="b" l="l" r="r" t="t"/>
                <a:pathLst>
                  <a:path extrusionOk="0" h="7170" w="5273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r>
                  <a:t/>
                </a:r>
                <a:endParaRPr b="0" i="0" sz="18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89" name="Google Shape;289;p21"/>
          <p:cNvSpPr txBox="1"/>
          <p:nvPr/>
        </p:nvSpPr>
        <p:spPr>
          <a:xfrm>
            <a:off x="450774" y="900322"/>
            <a:ext cx="1099432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Tools and Technology Used</a:t>
            </a:r>
            <a:endParaRPr b="1" i="0" sz="2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0" name="Google Shape;290;p21"/>
          <p:cNvSpPr txBox="1"/>
          <p:nvPr/>
        </p:nvSpPr>
        <p:spPr>
          <a:xfrm>
            <a:off x="450774" y="1698638"/>
            <a:ext cx="110724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AutoNum type="arabicPeriod"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Beaker and glassware: For cleaning and mixing of shrimp shells.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556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AutoNum type="arabicPeriod"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Heat source: Sunlight and Oven for drying process.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556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AutoNum type="arabicPeriod"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Mortar Pestle and Grinder: For crushing dried shrimp shells to powder form.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556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AutoNum type="arabicPeriod"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Thin glass mould and shots glass: For shaping/moulding.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9" name="Google Shape;299;p22"/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300" name="Google Shape;300;p22"/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22"/>
            <p:cNvSpPr/>
            <p:nvPr/>
          </p:nvSpPr>
          <p:spPr>
            <a:xfrm flipH="1" rot="10800000">
              <a:off x="0" y="6347341"/>
              <a:ext cx="12192000" cy="45719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7740">
                  <a:srgbClr val="00B0F0"/>
                </a:gs>
                <a:gs pos="46000">
                  <a:srgbClr val="00B0F0"/>
                </a:gs>
                <a:gs pos="57000">
                  <a:srgbClr val="FFC000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2" name="Google Shape;302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</a:rPr>
              <a:t>05-May-2026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3" name="Google Shape;303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SOS_01, BSc Biotechnology, School of Science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4" name="Google Shape;304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grpSp>
        <p:nvGrpSpPr>
          <p:cNvPr id="305" name="Google Shape;305;p22"/>
          <p:cNvGrpSpPr/>
          <p:nvPr/>
        </p:nvGrpSpPr>
        <p:grpSpPr>
          <a:xfrm>
            <a:off x="450775" y="170727"/>
            <a:ext cx="11072282" cy="441809"/>
            <a:chOff x="450775" y="170727"/>
            <a:chExt cx="11072282" cy="441809"/>
          </a:xfrm>
        </p:grpSpPr>
        <p:pic>
          <p:nvPicPr>
            <p:cNvPr id="306" name="Google Shape;306;p22"/>
            <p:cNvPicPr preferRelativeResize="0"/>
            <p:nvPr/>
          </p:nvPicPr>
          <p:blipFill rotWithShape="1">
            <a:blip r:embed="rId3">
              <a:alphaModFix/>
            </a:blip>
            <a:srcRect b="26058" l="0" r="0" t="27019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2"/>
            <p:cNvSpPr txBox="1"/>
            <p:nvPr/>
          </p:nvSpPr>
          <p:spPr>
            <a:xfrm>
              <a:off x="4038600" y="209068"/>
              <a:ext cx="4114800" cy="365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en-US" sz="1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Chitopack- shrimp shell packaging</a:t>
              </a:r>
              <a:endPara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308" name="Google Shape;308;p22"/>
            <p:cNvGrpSpPr/>
            <p:nvPr/>
          </p:nvGrpSpPr>
          <p:grpSpPr>
            <a:xfrm>
              <a:off x="11184543" y="285624"/>
              <a:ext cx="338514" cy="212015"/>
              <a:chOff x="521095" y="429142"/>
              <a:chExt cx="463644" cy="290385"/>
            </a:xfrm>
          </p:grpSpPr>
          <p:sp>
            <p:nvSpPr>
              <p:cNvPr id="309" name="Google Shape;309;p22"/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rect b="b" l="l" r="r" t="t"/>
                <a:pathLst>
                  <a:path extrusionOk="0" h="7170" w="5273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solidFill>
                <a:srgbClr val="0DE5CB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r>
                  <a:t/>
                </a:r>
                <a:endParaRPr b="0" i="0" sz="18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" name="Google Shape;310;p22"/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rect b="b" l="l" r="r" t="t"/>
                <a:pathLst>
                  <a:path extrusionOk="0" h="7170" w="5273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r>
                  <a:t/>
                </a:r>
                <a:endParaRPr b="0" i="0" sz="18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11" name="Google Shape;311;p22"/>
          <p:cNvSpPr txBox="1"/>
          <p:nvPr/>
        </p:nvSpPr>
        <p:spPr>
          <a:xfrm>
            <a:off x="450774" y="900322"/>
            <a:ext cx="68747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Project Outcome &amp; Development</a:t>
            </a:r>
            <a:endParaRPr b="1" i="0" sz="2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12" name="Google Shape;312;p22"/>
          <p:cNvSpPr txBox="1"/>
          <p:nvPr/>
        </p:nvSpPr>
        <p:spPr>
          <a:xfrm>
            <a:off x="450774" y="1698638"/>
            <a:ext cx="11072400" cy="3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Use case:</a:t>
            </a:r>
            <a:endParaRPr b="1" i="0" sz="2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Biodegradable cushion packaging for small fragile items.</a:t>
            </a:r>
            <a:endParaRPr b="0" i="0" sz="2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Description of the Developed Outcome:</a:t>
            </a:r>
            <a:endParaRPr b="1" i="0" sz="2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●"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Prepared a biodegradable composite using shrimp shell waster and starch.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●"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Achieved moldable paste consistency after multiple trials.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●"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Successfully formed a shot glass-shaped prototype using inner mould.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●"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Shape retention after drying.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13" name="Google Shape;31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5066" y="209068"/>
            <a:ext cx="1136330" cy="3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2" name="Google Shape;322;p23"/>
          <p:cNvGrpSpPr/>
          <p:nvPr/>
        </p:nvGrpSpPr>
        <p:grpSpPr>
          <a:xfrm>
            <a:off x="0" y="6347460"/>
            <a:ext cx="12192000" cy="510393"/>
            <a:chOff x="0" y="6347460"/>
            <a:chExt cx="12192000" cy="510393"/>
          </a:xfrm>
        </p:grpSpPr>
        <p:sp>
          <p:nvSpPr>
            <p:cNvPr id="323" name="Google Shape;323;p23"/>
            <p:cNvSpPr/>
            <p:nvPr/>
          </p:nvSpPr>
          <p:spPr>
            <a:xfrm>
              <a:off x="0" y="6374853"/>
              <a:ext cx="12192000" cy="483000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23"/>
            <p:cNvSpPr/>
            <p:nvPr/>
          </p:nvSpPr>
          <p:spPr>
            <a:xfrm flipH="1" rot="10800000">
              <a:off x="0" y="6347460"/>
              <a:ext cx="12192000" cy="456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7740">
                  <a:srgbClr val="00B0F0"/>
                </a:gs>
                <a:gs pos="46000">
                  <a:srgbClr val="00B0F0"/>
                </a:gs>
                <a:gs pos="57000">
                  <a:srgbClr val="FFC000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5" name="Google Shape;325;p2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</a:rPr>
              <a:t>05-May-2026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26" name="Google Shape;326;p2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SOS_01, BSc Biotechnology, School of Science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27" name="Google Shape;327;p2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grpSp>
        <p:nvGrpSpPr>
          <p:cNvPr id="328" name="Google Shape;328;p23"/>
          <p:cNvGrpSpPr/>
          <p:nvPr/>
        </p:nvGrpSpPr>
        <p:grpSpPr>
          <a:xfrm>
            <a:off x="450775" y="170727"/>
            <a:ext cx="11072266" cy="441809"/>
            <a:chOff x="450775" y="170727"/>
            <a:chExt cx="11072266" cy="441809"/>
          </a:xfrm>
        </p:grpSpPr>
        <p:pic>
          <p:nvPicPr>
            <p:cNvPr id="329" name="Google Shape;329;p23"/>
            <p:cNvPicPr preferRelativeResize="0"/>
            <p:nvPr/>
          </p:nvPicPr>
          <p:blipFill rotWithShape="1">
            <a:blip r:embed="rId3">
              <a:alphaModFix/>
            </a:blip>
            <a:srcRect b="26060" l="0" r="0" t="2701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0" name="Google Shape;330;p23"/>
            <p:cNvSpPr txBox="1"/>
            <p:nvPr/>
          </p:nvSpPr>
          <p:spPr>
            <a:xfrm>
              <a:off x="4038600" y="209068"/>
              <a:ext cx="41148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en-US" sz="1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Chitopack- shrimp shell packaging</a:t>
              </a:r>
              <a:endPara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331" name="Google Shape;331;p23"/>
            <p:cNvGrpSpPr/>
            <p:nvPr/>
          </p:nvGrpSpPr>
          <p:grpSpPr>
            <a:xfrm>
              <a:off x="11184535" y="285617"/>
              <a:ext cx="338507" cy="212010"/>
              <a:chOff x="521095" y="429142"/>
              <a:chExt cx="463645" cy="290385"/>
            </a:xfrm>
          </p:grpSpPr>
          <p:sp>
            <p:nvSpPr>
              <p:cNvPr id="332" name="Google Shape;332;p23"/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rect b="b" l="l" r="r" t="t"/>
                <a:pathLst>
                  <a:path extrusionOk="0" h="7170" w="5273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solidFill>
                <a:srgbClr val="0DE5CB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r>
                  <a:t/>
                </a:r>
                <a:endParaRPr b="0" i="0" sz="18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23"/>
              <p:cNvSpPr/>
              <p:nvPr/>
            </p:nvSpPr>
            <p:spPr>
              <a:xfrm>
                <a:off x="771183" y="429142"/>
                <a:ext cx="213557" cy="290385"/>
              </a:xfrm>
              <a:custGeom>
                <a:rect b="b" l="l" r="r" t="t"/>
                <a:pathLst>
                  <a:path extrusionOk="0" h="7170" w="5273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r>
                  <a:t/>
                </a:r>
                <a:endParaRPr b="0" i="0" sz="18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34" name="Google Shape;334;p23"/>
          <p:cNvSpPr txBox="1"/>
          <p:nvPr/>
        </p:nvSpPr>
        <p:spPr>
          <a:xfrm>
            <a:off x="450774" y="900322"/>
            <a:ext cx="687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Project Outcome &amp; Development</a:t>
            </a:r>
            <a:endParaRPr b="1" i="0" sz="2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35" name="Google Shape;335;p23"/>
          <p:cNvSpPr txBox="1"/>
          <p:nvPr/>
        </p:nvSpPr>
        <p:spPr>
          <a:xfrm>
            <a:off x="450774" y="1698638"/>
            <a:ext cx="11072400" cy="50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Development Process &amp; Challenges: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●"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Difficulty in achieving fine powder from shells.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●"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Initial mixtures showed water separation and instability.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●"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Early sample was brittle after drying(cracks developed).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●"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Improvements made by:Adjusting composition ratio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                                 Applying heat for better holding.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                                 Adding plastisizer(glycerin).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●"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Additional trials: Attempted formation of thin film structures.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                      Observed uneven texture and drying inconsistencies.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36" name="Google Shape;33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5066" y="209068"/>
            <a:ext cx="1136330" cy="3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5" name="Google Shape;345;p24"/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346" name="Google Shape;346;p24"/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24"/>
            <p:cNvSpPr/>
            <p:nvPr/>
          </p:nvSpPr>
          <p:spPr>
            <a:xfrm flipH="1" rot="10800000">
              <a:off x="0" y="6347341"/>
              <a:ext cx="12192000" cy="45719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7740">
                  <a:srgbClr val="00B0F0"/>
                </a:gs>
                <a:gs pos="46000">
                  <a:srgbClr val="00B0F0"/>
                </a:gs>
                <a:gs pos="57000">
                  <a:srgbClr val="FFC000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8" name="Google Shape;348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</a:rPr>
              <a:t>05-May-2026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49" name="Google Shape;349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SOS_01, BSc Biotechnology, School of Science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50" name="Google Shape;350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grpSp>
        <p:nvGrpSpPr>
          <p:cNvPr id="351" name="Google Shape;351;p24"/>
          <p:cNvGrpSpPr/>
          <p:nvPr/>
        </p:nvGrpSpPr>
        <p:grpSpPr>
          <a:xfrm>
            <a:off x="450775" y="170727"/>
            <a:ext cx="11072282" cy="441809"/>
            <a:chOff x="450775" y="170727"/>
            <a:chExt cx="11072282" cy="441809"/>
          </a:xfrm>
        </p:grpSpPr>
        <p:pic>
          <p:nvPicPr>
            <p:cNvPr id="352" name="Google Shape;352;p24"/>
            <p:cNvPicPr preferRelativeResize="0"/>
            <p:nvPr/>
          </p:nvPicPr>
          <p:blipFill rotWithShape="1">
            <a:blip r:embed="rId3">
              <a:alphaModFix/>
            </a:blip>
            <a:srcRect b="26058" l="0" r="0" t="27019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3" name="Google Shape;353;p24"/>
            <p:cNvSpPr txBox="1"/>
            <p:nvPr/>
          </p:nvSpPr>
          <p:spPr>
            <a:xfrm>
              <a:off x="4038600" y="209068"/>
              <a:ext cx="4114800" cy="365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en-US" sz="1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Chitopack- shrimp shell packaging</a:t>
              </a:r>
              <a:endPara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354" name="Google Shape;354;p24"/>
            <p:cNvGrpSpPr/>
            <p:nvPr/>
          </p:nvGrpSpPr>
          <p:grpSpPr>
            <a:xfrm>
              <a:off x="11184543" y="285624"/>
              <a:ext cx="338514" cy="212015"/>
              <a:chOff x="521095" y="429142"/>
              <a:chExt cx="463644" cy="290385"/>
            </a:xfrm>
          </p:grpSpPr>
          <p:sp>
            <p:nvSpPr>
              <p:cNvPr id="355" name="Google Shape;355;p24"/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rect b="b" l="l" r="r" t="t"/>
                <a:pathLst>
                  <a:path extrusionOk="0" h="7170" w="5273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solidFill>
                <a:srgbClr val="0DE5CB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r>
                  <a:t/>
                </a:r>
                <a:endParaRPr b="0" i="0" sz="18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24"/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rect b="b" l="l" r="r" t="t"/>
                <a:pathLst>
                  <a:path extrusionOk="0" h="7170" w="5273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r>
                  <a:t/>
                </a:r>
                <a:endParaRPr b="0" i="0" sz="18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57" name="Google Shape;357;p24"/>
          <p:cNvSpPr txBox="1"/>
          <p:nvPr/>
        </p:nvSpPr>
        <p:spPr>
          <a:xfrm>
            <a:off x="450774" y="900322"/>
            <a:ext cx="491370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Prototype Image/Video</a:t>
            </a:r>
            <a:endParaRPr b="1" i="0" sz="2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58" name="Google Shape;358;p24"/>
          <p:cNvSpPr/>
          <p:nvPr/>
        </p:nvSpPr>
        <p:spPr>
          <a:xfrm>
            <a:off x="654120" y="1842114"/>
            <a:ext cx="10790975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59" name="Google Shape;359;p24" title="WhatsApp Image 2026-05-04 at 5.18.00 PM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47925" y="973250"/>
            <a:ext cx="3547726" cy="4643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24" title="WhatsApp Image 2026-05-04 at 6.35.09 PM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38325" y="1649775"/>
            <a:ext cx="4226149" cy="3967125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24"/>
          <p:cNvSpPr txBox="1"/>
          <p:nvPr/>
        </p:nvSpPr>
        <p:spPr>
          <a:xfrm>
            <a:off x="1138350" y="5616900"/>
            <a:ext cx="422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Fig. Initial prototype(3D mold structure)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4"/>
          <p:cNvSpPr txBox="1"/>
          <p:nvPr/>
        </p:nvSpPr>
        <p:spPr>
          <a:xfrm>
            <a:off x="6647925" y="5634900"/>
            <a:ext cx="35478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Fig. Recent prototype(3D molded structure and thin film trial samples)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1" name="Google Shape;371;p25"/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372" name="Google Shape;372;p25"/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25"/>
            <p:cNvSpPr/>
            <p:nvPr/>
          </p:nvSpPr>
          <p:spPr>
            <a:xfrm flipH="1" rot="10800000">
              <a:off x="0" y="6347341"/>
              <a:ext cx="12192000" cy="45719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7740">
                  <a:srgbClr val="00B0F0"/>
                </a:gs>
                <a:gs pos="46000">
                  <a:srgbClr val="00B0F0"/>
                </a:gs>
                <a:gs pos="57000">
                  <a:srgbClr val="FFC000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4" name="Google Shape;374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</a:rPr>
              <a:t>05-May-2026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75" name="Google Shape;375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SOS_01, BSc Biotechnology, School of Science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76" name="Google Shape;376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grpSp>
        <p:nvGrpSpPr>
          <p:cNvPr id="377" name="Google Shape;377;p25"/>
          <p:cNvGrpSpPr/>
          <p:nvPr/>
        </p:nvGrpSpPr>
        <p:grpSpPr>
          <a:xfrm>
            <a:off x="450775" y="170727"/>
            <a:ext cx="11072282" cy="441809"/>
            <a:chOff x="450775" y="170727"/>
            <a:chExt cx="11072282" cy="441809"/>
          </a:xfrm>
        </p:grpSpPr>
        <p:pic>
          <p:nvPicPr>
            <p:cNvPr id="378" name="Google Shape;378;p25"/>
            <p:cNvPicPr preferRelativeResize="0"/>
            <p:nvPr/>
          </p:nvPicPr>
          <p:blipFill rotWithShape="1">
            <a:blip r:embed="rId3">
              <a:alphaModFix/>
            </a:blip>
            <a:srcRect b="26058" l="0" r="0" t="27019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9" name="Google Shape;379;p25"/>
            <p:cNvSpPr txBox="1"/>
            <p:nvPr/>
          </p:nvSpPr>
          <p:spPr>
            <a:xfrm>
              <a:off x="4038600" y="209068"/>
              <a:ext cx="4114800" cy="365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en-US" sz="1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Chitopack- shrimp shell packaging</a:t>
              </a:r>
              <a:endPara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380" name="Google Shape;380;p25"/>
            <p:cNvGrpSpPr/>
            <p:nvPr/>
          </p:nvGrpSpPr>
          <p:grpSpPr>
            <a:xfrm>
              <a:off x="11184543" y="285624"/>
              <a:ext cx="338514" cy="212015"/>
              <a:chOff x="521095" y="429142"/>
              <a:chExt cx="463644" cy="290385"/>
            </a:xfrm>
          </p:grpSpPr>
          <p:sp>
            <p:nvSpPr>
              <p:cNvPr id="381" name="Google Shape;381;p25"/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rect b="b" l="l" r="r" t="t"/>
                <a:pathLst>
                  <a:path extrusionOk="0" h="7170" w="5273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solidFill>
                <a:srgbClr val="0DE5CB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r>
                  <a:t/>
                </a:r>
                <a:endParaRPr b="0" i="0" sz="18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" name="Google Shape;382;p25"/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rect b="b" l="l" r="r" t="t"/>
                <a:pathLst>
                  <a:path extrusionOk="0" h="7170" w="5273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r>
                  <a:t/>
                </a:r>
                <a:endParaRPr b="0" i="0" sz="18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83" name="Google Shape;383;p25"/>
          <p:cNvSpPr txBox="1"/>
          <p:nvPr/>
        </p:nvSpPr>
        <p:spPr>
          <a:xfrm>
            <a:off x="450774" y="900322"/>
            <a:ext cx="491370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Learning Outcome</a:t>
            </a:r>
            <a:endParaRPr b="1" i="0" sz="2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84" name="Google Shape;384;p25"/>
          <p:cNvSpPr txBox="1"/>
          <p:nvPr/>
        </p:nvSpPr>
        <p:spPr>
          <a:xfrm>
            <a:off x="450774" y="1698638"/>
            <a:ext cx="110724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Key Learnings from the Project:</a:t>
            </a:r>
            <a:endParaRPr b="1"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556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●"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Understood conversion of biological waste into useful material.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556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●"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Gained hands on experience in material preparation and molding techniques.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556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●"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Learned importance of trial and error in prototyping.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556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●"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Developed skills in problem solving and process optimization.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393;p26"/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394" name="Google Shape;394;p26"/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p26"/>
            <p:cNvSpPr/>
            <p:nvPr/>
          </p:nvSpPr>
          <p:spPr>
            <a:xfrm flipH="1" rot="10800000">
              <a:off x="0" y="6347341"/>
              <a:ext cx="12192000" cy="45719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7740">
                  <a:srgbClr val="00B0F0"/>
                </a:gs>
                <a:gs pos="46000">
                  <a:srgbClr val="00B0F0"/>
                </a:gs>
                <a:gs pos="57000">
                  <a:srgbClr val="FFC000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6" name="Google Shape;396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</a:rPr>
              <a:t>05-May-2026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97" name="Google Shape;397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SOS_01, BSc Biotechnology, School of Science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98" name="Google Shape;398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grpSp>
        <p:nvGrpSpPr>
          <p:cNvPr id="399" name="Google Shape;399;p26"/>
          <p:cNvGrpSpPr/>
          <p:nvPr/>
        </p:nvGrpSpPr>
        <p:grpSpPr>
          <a:xfrm>
            <a:off x="450775" y="170727"/>
            <a:ext cx="11072282" cy="441809"/>
            <a:chOff x="450775" y="170727"/>
            <a:chExt cx="11072282" cy="441809"/>
          </a:xfrm>
        </p:grpSpPr>
        <p:pic>
          <p:nvPicPr>
            <p:cNvPr id="400" name="Google Shape;400;p26"/>
            <p:cNvPicPr preferRelativeResize="0"/>
            <p:nvPr/>
          </p:nvPicPr>
          <p:blipFill rotWithShape="1">
            <a:blip r:embed="rId3">
              <a:alphaModFix/>
            </a:blip>
            <a:srcRect b="26058" l="0" r="0" t="27019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1" name="Google Shape;401;p26"/>
            <p:cNvSpPr txBox="1"/>
            <p:nvPr/>
          </p:nvSpPr>
          <p:spPr>
            <a:xfrm>
              <a:off x="4038600" y="209068"/>
              <a:ext cx="4114800" cy="365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en-US" sz="1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Chitopack- shrimp shell packaging</a:t>
              </a:r>
              <a:endPara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402" name="Google Shape;402;p26"/>
            <p:cNvGrpSpPr/>
            <p:nvPr/>
          </p:nvGrpSpPr>
          <p:grpSpPr>
            <a:xfrm>
              <a:off x="11184543" y="285624"/>
              <a:ext cx="338514" cy="212015"/>
              <a:chOff x="521095" y="429142"/>
              <a:chExt cx="463644" cy="290385"/>
            </a:xfrm>
          </p:grpSpPr>
          <p:sp>
            <p:nvSpPr>
              <p:cNvPr id="403" name="Google Shape;403;p26"/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rect b="b" l="l" r="r" t="t"/>
                <a:pathLst>
                  <a:path extrusionOk="0" h="7170" w="5273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solidFill>
                <a:srgbClr val="0DE5CB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r>
                  <a:t/>
                </a:r>
                <a:endParaRPr b="0" i="0" sz="18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" name="Google Shape;404;p26"/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rect b="b" l="l" r="r" t="t"/>
                <a:pathLst>
                  <a:path extrusionOk="0" h="7170" w="5273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r>
                  <a:t/>
                </a:r>
                <a:endParaRPr b="0" i="0" sz="18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05" name="Google Shape;405;p26"/>
          <p:cNvSpPr txBox="1"/>
          <p:nvPr/>
        </p:nvSpPr>
        <p:spPr>
          <a:xfrm>
            <a:off x="450774" y="900322"/>
            <a:ext cx="491370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Conclusion &amp; Future Scope</a:t>
            </a:r>
            <a:endParaRPr b="1" i="0" sz="2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06" name="Google Shape;406;p26"/>
          <p:cNvSpPr/>
          <p:nvPr/>
        </p:nvSpPr>
        <p:spPr>
          <a:xfrm>
            <a:off x="643850" y="1785783"/>
            <a:ext cx="10801200" cy="3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Conclusion</a:t>
            </a:r>
            <a:r>
              <a:rPr b="1"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endParaRPr b="1"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556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●"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Developed a biodegradable composite from shrimp shell waste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556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●"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Achieved moldable structure (shot glass prototype)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Demonstrated feasibility of eco-friendly packaging.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Future scope:</a:t>
            </a:r>
            <a:endParaRPr b="1"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Improve strength and flexibility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Develop uniform thin films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Scale for real-world packaging applications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5" name="Google Shape;415;p27"/>
          <p:cNvGrpSpPr/>
          <p:nvPr/>
        </p:nvGrpSpPr>
        <p:grpSpPr>
          <a:xfrm>
            <a:off x="0" y="6347460"/>
            <a:ext cx="12192000" cy="510393"/>
            <a:chOff x="0" y="6347460"/>
            <a:chExt cx="12192000" cy="510393"/>
          </a:xfrm>
        </p:grpSpPr>
        <p:sp>
          <p:nvSpPr>
            <p:cNvPr id="416" name="Google Shape;416;p27"/>
            <p:cNvSpPr/>
            <p:nvPr/>
          </p:nvSpPr>
          <p:spPr>
            <a:xfrm>
              <a:off x="0" y="6374853"/>
              <a:ext cx="12192000" cy="483000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27"/>
            <p:cNvSpPr/>
            <p:nvPr/>
          </p:nvSpPr>
          <p:spPr>
            <a:xfrm flipH="1" rot="10800000">
              <a:off x="0" y="6347460"/>
              <a:ext cx="12192000" cy="456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7740">
                  <a:srgbClr val="00B0F0"/>
                </a:gs>
                <a:gs pos="46000">
                  <a:srgbClr val="00B0F0"/>
                </a:gs>
                <a:gs pos="57000">
                  <a:srgbClr val="FFC000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8" name="Google Shape;418;p2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</a:rPr>
              <a:t>05-May-2026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19" name="Google Shape;419;p2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SOS_01, BSc Biotechnology, School of Science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20" name="Google Shape;420;p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grpSp>
        <p:nvGrpSpPr>
          <p:cNvPr id="421" name="Google Shape;421;p27"/>
          <p:cNvGrpSpPr/>
          <p:nvPr/>
        </p:nvGrpSpPr>
        <p:grpSpPr>
          <a:xfrm>
            <a:off x="450775" y="170727"/>
            <a:ext cx="11072266" cy="441809"/>
            <a:chOff x="450775" y="170727"/>
            <a:chExt cx="11072266" cy="441809"/>
          </a:xfrm>
        </p:grpSpPr>
        <p:pic>
          <p:nvPicPr>
            <p:cNvPr id="422" name="Google Shape;422;p27"/>
            <p:cNvPicPr preferRelativeResize="0"/>
            <p:nvPr/>
          </p:nvPicPr>
          <p:blipFill rotWithShape="1">
            <a:blip r:embed="rId3">
              <a:alphaModFix/>
            </a:blip>
            <a:srcRect b="26060" l="0" r="0" t="27018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3" name="Google Shape;423;p27"/>
            <p:cNvSpPr txBox="1"/>
            <p:nvPr/>
          </p:nvSpPr>
          <p:spPr>
            <a:xfrm>
              <a:off x="4038600" y="209068"/>
              <a:ext cx="41148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en-US" sz="1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Chitopack- shrimp shell packaging</a:t>
              </a:r>
              <a:endPara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424" name="Google Shape;424;p27"/>
            <p:cNvGrpSpPr/>
            <p:nvPr/>
          </p:nvGrpSpPr>
          <p:grpSpPr>
            <a:xfrm>
              <a:off x="11184535" y="285617"/>
              <a:ext cx="338507" cy="212010"/>
              <a:chOff x="521095" y="429142"/>
              <a:chExt cx="463645" cy="290385"/>
            </a:xfrm>
          </p:grpSpPr>
          <p:sp>
            <p:nvSpPr>
              <p:cNvPr id="425" name="Google Shape;425;p27"/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rect b="b" l="l" r="r" t="t"/>
                <a:pathLst>
                  <a:path extrusionOk="0" h="7170" w="5273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solidFill>
                <a:srgbClr val="0DE5CB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r>
                  <a:t/>
                </a:r>
                <a:endParaRPr b="0" i="0" sz="18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6" name="Google Shape;426;p27"/>
              <p:cNvSpPr/>
              <p:nvPr/>
            </p:nvSpPr>
            <p:spPr>
              <a:xfrm>
                <a:off x="771183" y="429142"/>
                <a:ext cx="213557" cy="290385"/>
              </a:xfrm>
              <a:custGeom>
                <a:rect b="b" l="l" r="r" t="t"/>
                <a:pathLst>
                  <a:path extrusionOk="0" h="7170" w="5273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r>
                  <a:t/>
                </a:r>
                <a:endParaRPr b="0" i="0" sz="18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27" name="Google Shape;427;p27"/>
          <p:cNvSpPr txBox="1"/>
          <p:nvPr/>
        </p:nvSpPr>
        <p:spPr>
          <a:xfrm>
            <a:off x="450774" y="900322"/>
            <a:ext cx="491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Conclusion &amp; Future Scope</a:t>
            </a:r>
            <a:endParaRPr b="1" i="0" sz="2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28" name="Google Shape;428;p27"/>
          <p:cNvSpPr/>
          <p:nvPr/>
        </p:nvSpPr>
        <p:spPr>
          <a:xfrm>
            <a:off x="643850" y="1785783"/>
            <a:ext cx="10801200" cy="3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Applications/Impact:</a:t>
            </a:r>
            <a:endParaRPr b="1"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556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●"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Sustainable packaging for small fragile items.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556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●"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Utilization of marine waste(shrimp shells).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556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●"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Reduces plastic pollution.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Reflection on Project Experience:</a:t>
            </a:r>
            <a:endParaRPr b="1"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●"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Learned importance of trial-and-error in prototyping.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●"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Gained hands-on experience in material development.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●"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Improved teamwork and problem-solving skills.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7" name="Google Shape;437;p28"/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438" name="Google Shape;438;p28"/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" name="Google Shape;439;p28"/>
            <p:cNvSpPr/>
            <p:nvPr/>
          </p:nvSpPr>
          <p:spPr>
            <a:xfrm flipH="1" rot="10800000">
              <a:off x="0" y="6347341"/>
              <a:ext cx="12192000" cy="45719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7740">
                  <a:srgbClr val="00B0F0"/>
                </a:gs>
                <a:gs pos="46000">
                  <a:srgbClr val="00B0F0"/>
                </a:gs>
                <a:gs pos="57000">
                  <a:srgbClr val="FFC000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0" name="Google Shape;440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</a:rPr>
              <a:t>05-May-2026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41" name="Google Shape;441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SOS_01, BSc Biotechnology, School of Science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42" name="Google Shape;442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grpSp>
        <p:nvGrpSpPr>
          <p:cNvPr id="443" name="Google Shape;443;p28"/>
          <p:cNvGrpSpPr/>
          <p:nvPr/>
        </p:nvGrpSpPr>
        <p:grpSpPr>
          <a:xfrm>
            <a:off x="450775" y="170727"/>
            <a:ext cx="11072282" cy="441809"/>
            <a:chOff x="450775" y="170727"/>
            <a:chExt cx="11072282" cy="441809"/>
          </a:xfrm>
        </p:grpSpPr>
        <p:pic>
          <p:nvPicPr>
            <p:cNvPr id="444" name="Google Shape;444;p28"/>
            <p:cNvPicPr preferRelativeResize="0"/>
            <p:nvPr/>
          </p:nvPicPr>
          <p:blipFill rotWithShape="1">
            <a:blip r:embed="rId3">
              <a:alphaModFix/>
            </a:blip>
            <a:srcRect b="26058" l="0" r="0" t="27019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28"/>
            <p:cNvSpPr txBox="1"/>
            <p:nvPr/>
          </p:nvSpPr>
          <p:spPr>
            <a:xfrm>
              <a:off x="4038600" y="209068"/>
              <a:ext cx="4114800" cy="365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en-US" sz="1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Chitopack- shrimp shell packaging</a:t>
              </a:r>
              <a:endPara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446" name="Google Shape;446;p28"/>
            <p:cNvGrpSpPr/>
            <p:nvPr/>
          </p:nvGrpSpPr>
          <p:grpSpPr>
            <a:xfrm>
              <a:off x="11184543" y="285624"/>
              <a:ext cx="338514" cy="212015"/>
              <a:chOff x="521095" y="429142"/>
              <a:chExt cx="463644" cy="290385"/>
            </a:xfrm>
          </p:grpSpPr>
          <p:sp>
            <p:nvSpPr>
              <p:cNvPr id="447" name="Google Shape;447;p28"/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rect b="b" l="l" r="r" t="t"/>
                <a:pathLst>
                  <a:path extrusionOk="0" h="7170" w="5273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solidFill>
                <a:srgbClr val="0DE5CB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r>
                  <a:t/>
                </a:r>
                <a:endParaRPr b="0" i="0" sz="18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8" name="Google Shape;448;p28"/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rect b="b" l="l" r="r" t="t"/>
                <a:pathLst>
                  <a:path extrusionOk="0" h="7170" w="5273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r>
                  <a:t/>
                </a:r>
                <a:endParaRPr b="0" i="0" sz="18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49" name="Google Shape;449;p28"/>
          <p:cNvSpPr txBox="1"/>
          <p:nvPr/>
        </p:nvSpPr>
        <p:spPr>
          <a:xfrm>
            <a:off x="450774" y="1208547"/>
            <a:ext cx="109164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 you want to apply for PoC/Prototype Development support under Students Startup and Innovation Policy (SSIP 2.0) under GUIITAR Council?</a:t>
            </a:r>
            <a:endParaRPr b="1" i="0" sz="2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Open to exploring under SSIP(subject to further development)</a:t>
            </a:r>
            <a:endParaRPr sz="2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29"/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459" name="Google Shape;459;p29"/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" name="Google Shape;460;p29"/>
            <p:cNvSpPr/>
            <p:nvPr/>
          </p:nvSpPr>
          <p:spPr>
            <a:xfrm flipH="1" rot="10800000">
              <a:off x="0" y="6347341"/>
              <a:ext cx="12192000" cy="45719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7740">
                  <a:srgbClr val="00B0F0"/>
                </a:gs>
                <a:gs pos="46000">
                  <a:srgbClr val="00B0F0"/>
                </a:gs>
                <a:gs pos="57000">
                  <a:srgbClr val="FFC000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1" name="Google Shape;461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462" name="Google Shape;462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</a:rPr>
              <a:t>05-May-2026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63" name="Google Shape;463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SOS_01, BSc Biotechnology, School of Science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464" name="Google Shape;464;p29"/>
          <p:cNvGrpSpPr/>
          <p:nvPr/>
        </p:nvGrpSpPr>
        <p:grpSpPr>
          <a:xfrm>
            <a:off x="450775" y="170727"/>
            <a:ext cx="3551249" cy="5467038"/>
            <a:chOff x="450775" y="170727"/>
            <a:chExt cx="3551249" cy="5467038"/>
          </a:xfrm>
        </p:grpSpPr>
        <p:sp>
          <p:nvSpPr>
            <p:cNvPr id="465" name="Google Shape;465;p29"/>
            <p:cNvSpPr txBox="1"/>
            <p:nvPr/>
          </p:nvSpPr>
          <p:spPr>
            <a:xfrm>
              <a:off x="838200" y="5146027"/>
              <a:ext cx="3163824" cy="4917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Thank You..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66" name="Google Shape;466;p29"/>
            <p:cNvPicPr preferRelativeResize="0"/>
            <p:nvPr/>
          </p:nvPicPr>
          <p:blipFill rotWithShape="1">
            <a:blip r:embed="rId3">
              <a:alphaModFix/>
            </a:blip>
            <a:srcRect b="26058" l="0" r="0" t="27019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67" name="Google Shape;467;p29"/>
            <p:cNvGrpSpPr/>
            <p:nvPr/>
          </p:nvGrpSpPr>
          <p:grpSpPr>
            <a:xfrm>
              <a:off x="450775" y="5338110"/>
              <a:ext cx="338514" cy="212015"/>
              <a:chOff x="521095" y="429142"/>
              <a:chExt cx="463644" cy="290385"/>
            </a:xfrm>
          </p:grpSpPr>
          <p:sp>
            <p:nvSpPr>
              <p:cNvPr id="468" name="Google Shape;468;p29"/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rect b="b" l="l" r="r" t="t"/>
                <a:pathLst>
                  <a:path extrusionOk="0" h="7170" w="5273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solidFill>
                <a:srgbClr val="0DE5CB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r>
                  <a:t/>
                </a:r>
                <a:endParaRPr b="0" i="0" sz="18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" name="Google Shape;469;p29"/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rect b="b" l="l" r="r" t="t"/>
                <a:pathLst>
                  <a:path extrusionOk="0" h="7170" w="5273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r>
                  <a:t/>
                </a:r>
                <a:endParaRPr b="0" i="0" sz="18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
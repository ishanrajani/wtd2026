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385" r:id="rId2"/>
    <p:sldId id="391" r:id="rId3"/>
    <p:sldId id="399" r:id="rId4"/>
    <p:sldId id="386" r:id="rId5"/>
    <p:sldId id="395" r:id="rId6"/>
    <p:sldId id="398" r:id="rId7"/>
    <p:sldId id="387" r:id="rId8"/>
    <p:sldId id="388" r:id="rId9"/>
    <p:sldId id="397" r:id="rId10"/>
    <p:sldId id="392" r:id="rId11"/>
    <p:sldId id="393" r:id="rId12"/>
    <p:sldId id="3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08BE"/>
    <a:srgbClr val="3AF4DE"/>
    <a:srgbClr val="00579F"/>
    <a:srgbClr val="F38804"/>
    <a:srgbClr val="F088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1765" autoAdjust="0"/>
  </p:normalViewPr>
  <p:slideViewPr>
    <p:cSldViewPr snapToGrid="0">
      <p:cViewPr varScale="1">
        <p:scale>
          <a:sx n="88" d="100"/>
          <a:sy n="88" d="100"/>
        </p:scale>
        <p:origin x="725" y="67"/>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47B6EB-0BB1-C32C-3B34-752451026B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a:extLst>
              <a:ext uri="{FF2B5EF4-FFF2-40B4-BE49-F238E27FC236}">
                <a16:creationId xmlns:a16="http://schemas.microsoft.com/office/drawing/2014/main" id="{CF448683-8521-6073-2C81-F8520864A5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BFDA0E-5E6C-4306-8AB2-29F8FCF3C958}" type="datetime1">
              <a:rPr lang="en-IN" smtClean="0"/>
              <a:t>04-05-2026</a:t>
            </a:fld>
            <a:endParaRPr lang="en-IN"/>
          </a:p>
        </p:txBody>
      </p:sp>
      <p:sp>
        <p:nvSpPr>
          <p:cNvPr id="4" name="Footer Placeholder 3">
            <a:extLst>
              <a:ext uri="{FF2B5EF4-FFF2-40B4-BE49-F238E27FC236}">
                <a16:creationId xmlns:a16="http://schemas.microsoft.com/office/drawing/2014/main" id="{042F20D1-16B4-9F7A-BB85-080E110D09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5" name="Slide Number Placeholder 4">
            <a:extLst>
              <a:ext uri="{FF2B5EF4-FFF2-40B4-BE49-F238E27FC236}">
                <a16:creationId xmlns:a16="http://schemas.microsoft.com/office/drawing/2014/main" id="{E1EAAA16-EDF6-9DF1-8EB7-35D30CF089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C3E807-71D2-486E-AE16-CD1CC0E5495D}" type="slidenum">
              <a:rPr lang="en-IN" smtClean="0"/>
              <a:t>‹#›</a:t>
            </a:fld>
            <a:endParaRPr lang="en-IN"/>
          </a:p>
        </p:txBody>
      </p:sp>
    </p:spTree>
    <p:extLst>
      <p:ext uri="{BB962C8B-B14F-4D97-AF65-F5344CB8AC3E}">
        <p14:creationId xmlns:p14="http://schemas.microsoft.com/office/powerpoint/2010/main" val="211257366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D3B07-1EF9-4F31-BBF9-B441EA500D2B}" type="datetime1">
              <a:rPr lang="en-IN" smtClean="0"/>
              <a:t>04-05-2026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69606-77D1-4BD4-A656-2B410C8A8572}" type="slidenum">
              <a:rPr lang="en-IN" smtClean="0"/>
              <a:t>‹#›</a:t>
            </a:fld>
            <a:endParaRPr lang="en-IN"/>
          </a:p>
        </p:txBody>
      </p:sp>
    </p:spTree>
    <p:extLst>
      <p:ext uri="{BB962C8B-B14F-4D97-AF65-F5344CB8AC3E}">
        <p14:creationId xmlns:p14="http://schemas.microsoft.com/office/powerpoint/2010/main" val="229321829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4CB7-D9CB-D7BC-38C5-22835B6B6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202A9-CFBD-392A-C6FC-67244359A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F8034-DE1C-9354-4BA6-A58DEE95A53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1358762-1C39-7258-269A-53FB50055C16}"/>
              </a:ext>
            </a:extLst>
          </p:cNvPr>
          <p:cNvSpPr>
            <a:spLocks noGrp="1"/>
          </p:cNvSpPr>
          <p:nvPr>
            <p:ph type="sldNum" sz="quarter" idx="5"/>
          </p:nvPr>
        </p:nvSpPr>
        <p:spPr/>
        <p:txBody>
          <a:bodyPr/>
          <a:lstStyle/>
          <a:p>
            <a:fld id="{05769606-77D1-4BD4-A656-2B410C8A8572}" type="slidenum">
              <a:rPr lang="en-IN" smtClean="0"/>
              <a:t>1</a:t>
            </a:fld>
            <a:endParaRPr lang="en-IN"/>
          </a:p>
        </p:txBody>
      </p:sp>
      <p:sp>
        <p:nvSpPr>
          <p:cNvPr id="5" name="Date Placeholder 4">
            <a:extLst>
              <a:ext uri="{FF2B5EF4-FFF2-40B4-BE49-F238E27FC236}">
                <a16:creationId xmlns:a16="http://schemas.microsoft.com/office/drawing/2014/main" id="{88B6E8E4-77C3-303A-A331-63071D59DD98}"/>
              </a:ext>
            </a:extLst>
          </p:cNvPr>
          <p:cNvSpPr>
            <a:spLocks noGrp="1"/>
          </p:cNvSpPr>
          <p:nvPr>
            <p:ph type="dt" idx="1"/>
          </p:nvPr>
        </p:nvSpPr>
        <p:spPr/>
        <p:txBody>
          <a:bodyPr/>
          <a:lstStyle/>
          <a:p>
            <a:fld id="{A5DBC76F-BDC4-44EB-8BD4-FD1F3D45BCB7}" type="datetime1">
              <a:rPr lang="en-IN" smtClean="0"/>
              <a:t>04-05-2026</a:t>
            </a:fld>
            <a:endParaRPr lang="en-IN"/>
          </a:p>
        </p:txBody>
      </p:sp>
      <p:sp>
        <p:nvSpPr>
          <p:cNvPr id="6" name="Footer Placeholder 5">
            <a:extLst>
              <a:ext uri="{FF2B5EF4-FFF2-40B4-BE49-F238E27FC236}">
                <a16:creationId xmlns:a16="http://schemas.microsoft.com/office/drawing/2014/main" id="{9D07C3AE-2686-EC32-20B5-0EA9F476499B}"/>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6EAC641E-5B23-4E69-10A1-43521E504C5E}"/>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3119930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2</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3</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4</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5</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6</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7</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8</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9</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10</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11</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04-05-2026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F88F-62E7-993B-CFCD-A8C938839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CDC8C-6ED8-1518-1EAE-6118A5049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A9FB8-A9E2-D872-BE7C-59873880140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8A8BF31-DBA9-BF45-F5FB-597B7D6973D3}"/>
              </a:ext>
            </a:extLst>
          </p:cNvPr>
          <p:cNvSpPr>
            <a:spLocks noGrp="1"/>
          </p:cNvSpPr>
          <p:nvPr>
            <p:ph type="sldNum" sz="quarter" idx="5"/>
          </p:nvPr>
        </p:nvSpPr>
        <p:spPr/>
        <p:txBody>
          <a:bodyPr/>
          <a:lstStyle/>
          <a:p>
            <a:fld id="{05769606-77D1-4BD4-A656-2B410C8A8572}" type="slidenum">
              <a:rPr lang="en-IN" smtClean="0"/>
              <a:t>12</a:t>
            </a:fld>
            <a:endParaRPr lang="en-IN"/>
          </a:p>
        </p:txBody>
      </p:sp>
      <p:sp>
        <p:nvSpPr>
          <p:cNvPr id="5" name="Date Placeholder 4">
            <a:extLst>
              <a:ext uri="{FF2B5EF4-FFF2-40B4-BE49-F238E27FC236}">
                <a16:creationId xmlns:a16="http://schemas.microsoft.com/office/drawing/2014/main" id="{453A1DC6-60B9-69E4-B1F1-29CB6993AFE1}"/>
              </a:ext>
            </a:extLst>
          </p:cNvPr>
          <p:cNvSpPr>
            <a:spLocks noGrp="1"/>
          </p:cNvSpPr>
          <p:nvPr>
            <p:ph type="dt" idx="1"/>
          </p:nvPr>
        </p:nvSpPr>
        <p:spPr/>
        <p:txBody>
          <a:bodyPr/>
          <a:lstStyle/>
          <a:p>
            <a:fld id="{2C133B7E-50E6-4784-A0B7-BF133C708F0B}" type="datetime1">
              <a:rPr lang="en-IN" smtClean="0"/>
              <a:t>04-05-2026</a:t>
            </a:fld>
            <a:endParaRPr lang="en-IN"/>
          </a:p>
        </p:txBody>
      </p:sp>
      <p:sp>
        <p:nvSpPr>
          <p:cNvPr id="6" name="Footer Placeholder 5">
            <a:extLst>
              <a:ext uri="{FF2B5EF4-FFF2-40B4-BE49-F238E27FC236}">
                <a16:creationId xmlns:a16="http://schemas.microsoft.com/office/drawing/2014/main" id="{020289E0-996E-38BE-B832-B1C3B7DBE140}"/>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BE124C92-91A2-E6BB-48C2-116B8FD18B62}"/>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881999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4DAE-F5C6-454D-AFDC-AAF396BA0E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6AA990-3EAF-4FF9-9555-29B5741C92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831E3E-4FE5-4F01-AAF8-CB61459487C0}"/>
              </a:ext>
            </a:extLst>
          </p:cNvPr>
          <p:cNvSpPr>
            <a:spLocks noGrp="1"/>
          </p:cNvSpPr>
          <p:nvPr>
            <p:ph type="dt" sz="half" idx="10"/>
          </p:nvPr>
        </p:nvSpPr>
        <p:spPr/>
        <p:txBody>
          <a:bodyPr/>
          <a:lstStyle/>
          <a:p>
            <a:fld id="{AAC131B0-C9FB-4DD5-97EC-21EFEC10F4F4}" type="datetime1">
              <a:rPr lang="en-IN" smtClean="0"/>
              <a:t>04-05-2026</a:t>
            </a:fld>
            <a:endParaRPr lang="en-IN"/>
          </a:p>
        </p:txBody>
      </p:sp>
      <p:sp>
        <p:nvSpPr>
          <p:cNvPr id="5" name="Footer Placeholder 4">
            <a:extLst>
              <a:ext uri="{FF2B5EF4-FFF2-40B4-BE49-F238E27FC236}">
                <a16:creationId xmlns:a16="http://schemas.microsoft.com/office/drawing/2014/main" id="{ACFC3453-1038-4076-9DED-D28773942501}"/>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BD74E3F0-76B7-4C43-9D85-E2E06EFFEE6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78691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0E89-2983-4E1E-8AD3-4F82F0A428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D2E7C4-B740-401D-A25D-37F187F646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21E203-F203-4711-B7A2-8F797C161933}"/>
              </a:ext>
            </a:extLst>
          </p:cNvPr>
          <p:cNvSpPr>
            <a:spLocks noGrp="1"/>
          </p:cNvSpPr>
          <p:nvPr>
            <p:ph type="dt" sz="half" idx="10"/>
          </p:nvPr>
        </p:nvSpPr>
        <p:spPr/>
        <p:txBody>
          <a:bodyPr/>
          <a:lstStyle/>
          <a:p>
            <a:fld id="{618FFF8D-38DE-44ED-8E8F-F4480F209472}" type="datetime1">
              <a:rPr lang="en-IN" smtClean="0"/>
              <a:t>04-05-2026</a:t>
            </a:fld>
            <a:endParaRPr lang="en-IN"/>
          </a:p>
        </p:txBody>
      </p:sp>
      <p:sp>
        <p:nvSpPr>
          <p:cNvPr id="5" name="Footer Placeholder 4">
            <a:extLst>
              <a:ext uri="{FF2B5EF4-FFF2-40B4-BE49-F238E27FC236}">
                <a16:creationId xmlns:a16="http://schemas.microsoft.com/office/drawing/2014/main" id="{FC26852F-1A31-4CB3-B952-13DAB07C348B}"/>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4697B306-A7A3-4335-A04F-7541869DAA38}"/>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535998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A19F-7442-4B68-B955-56F6B084B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40CD2C-A48F-4775-B189-0793522271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68908-A714-4228-A602-E7A357FF66D6}"/>
              </a:ext>
            </a:extLst>
          </p:cNvPr>
          <p:cNvSpPr>
            <a:spLocks noGrp="1"/>
          </p:cNvSpPr>
          <p:nvPr>
            <p:ph type="dt" sz="half" idx="10"/>
          </p:nvPr>
        </p:nvSpPr>
        <p:spPr/>
        <p:txBody>
          <a:bodyPr/>
          <a:lstStyle/>
          <a:p>
            <a:fld id="{17460553-21AA-46C9-AB52-F50F6EEE2E62}" type="datetime1">
              <a:rPr lang="en-IN" smtClean="0"/>
              <a:t>04-05-2026</a:t>
            </a:fld>
            <a:endParaRPr lang="en-IN"/>
          </a:p>
        </p:txBody>
      </p:sp>
      <p:sp>
        <p:nvSpPr>
          <p:cNvPr id="5" name="Footer Placeholder 4">
            <a:extLst>
              <a:ext uri="{FF2B5EF4-FFF2-40B4-BE49-F238E27FC236}">
                <a16:creationId xmlns:a16="http://schemas.microsoft.com/office/drawing/2014/main" id="{9CF1287E-6268-4689-BFC0-A3E44DAFEB56}"/>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53BCC483-A732-4FFA-8636-9E5E03751C4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55339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3186-7A7F-4819-B879-6631220F6A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B7BA3E-E296-4A2F-BD81-158C0CA6B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120B82-4066-4E7E-A47A-797F200D6D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1A081E-F28F-448A-9D06-E308DE0BB69E}"/>
              </a:ext>
            </a:extLst>
          </p:cNvPr>
          <p:cNvSpPr>
            <a:spLocks noGrp="1"/>
          </p:cNvSpPr>
          <p:nvPr>
            <p:ph type="dt" sz="half" idx="10"/>
          </p:nvPr>
        </p:nvSpPr>
        <p:spPr/>
        <p:txBody>
          <a:bodyPr/>
          <a:lstStyle/>
          <a:p>
            <a:fld id="{2C0909CD-D9E1-4E31-9980-5F3A894C2608}" type="datetime1">
              <a:rPr lang="en-IN" smtClean="0"/>
              <a:t>04-05-2026</a:t>
            </a:fld>
            <a:endParaRPr lang="en-IN"/>
          </a:p>
        </p:txBody>
      </p:sp>
      <p:sp>
        <p:nvSpPr>
          <p:cNvPr id="6" name="Footer Placeholder 5">
            <a:extLst>
              <a:ext uri="{FF2B5EF4-FFF2-40B4-BE49-F238E27FC236}">
                <a16:creationId xmlns:a16="http://schemas.microsoft.com/office/drawing/2014/main" id="{5576A227-6F7B-4D0A-AC3F-0817DBE67B34}"/>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D96FDA79-7B9F-4F23-8932-9C89272C327D}"/>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8975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A54A-6C69-4D14-8EE5-067692CEE6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2E6B3-A4FD-4B3B-ABFE-A0841309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D66EDD-FB5D-431C-850B-8141C73681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05FADE-8590-49B1-AF6E-1522EF4F1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B82C5F-682A-4819-9789-3345121747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E08900-84F2-442F-9178-183865D96DE4}"/>
              </a:ext>
            </a:extLst>
          </p:cNvPr>
          <p:cNvSpPr>
            <a:spLocks noGrp="1"/>
          </p:cNvSpPr>
          <p:nvPr>
            <p:ph type="dt" sz="half" idx="10"/>
          </p:nvPr>
        </p:nvSpPr>
        <p:spPr/>
        <p:txBody>
          <a:bodyPr/>
          <a:lstStyle/>
          <a:p>
            <a:fld id="{31129F84-13A4-42C3-84B9-F21DB80BB174}" type="datetime1">
              <a:rPr lang="en-IN" smtClean="0"/>
              <a:t>04-05-2026</a:t>
            </a:fld>
            <a:endParaRPr lang="en-IN"/>
          </a:p>
        </p:txBody>
      </p:sp>
      <p:sp>
        <p:nvSpPr>
          <p:cNvPr id="8" name="Footer Placeholder 7">
            <a:extLst>
              <a:ext uri="{FF2B5EF4-FFF2-40B4-BE49-F238E27FC236}">
                <a16:creationId xmlns:a16="http://schemas.microsoft.com/office/drawing/2014/main" id="{C2830A47-A763-487C-8B06-98BAF442F43F}"/>
              </a:ext>
            </a:extLst>
          </p:cNvPr>
          <p:cNvSpPr>
            <a:spLocks noGrp="1"/>
          </p:cNvSpPr>
          <p:nvPr>
            <p:ph type="ftr" sz="quarter" idx="11"/>
          </p:nvPr>
        </p:nvSpPr>
        <p:spPr/>
        <p:txBody>
          <a:bodyPr/>
          <a:lstStyle/>
          <a:p>
            <a:r>
              <a:rPr lang="en-US"/>
              <a:t>Name of the Presenter &amp; Department</a:t>
            </a:r>
            <a:endParaRPr lang="en-IN"/>
          </a:p>
        </p:txBody>
      </p:sp>
      <p:sp>
        <p:nvSpPr>
          <p:cNvPr id="9" name="Slide Number Placeholder 8">
            <a:extLst>
              <a:ext uri="{FF2B5EF4-FFF2-40B4-BE49-F238E27FC236}">
                <a16:creationId xmlns:a16="http://schemas.microsoft.com/office/drawing/2014/main" id="{F0BD71BF-9A8B-41EA-A32A-76A5A05F99E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61963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FBD9F-1469-41A5-9202-A0BA0296C6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15A793-C7DE-407E-8328-496ADD262135}"/>
              </a:ext>
            </a:extLst>
          </p:cNvPr>
          <p:cNvSpPr>
            <a:spLocks noGrp="1"/>
          </p:cNvSpPr>
          <p:nvPr>
            <p:ph type="dt" sz="half" idx="10"/>
          </p:nvPr>
        </p:nvSpPr>
        <p:spPr/>
        <p:txBody>
          <a:bodyPr/>
          <a:lstStyle/>
          <a:p>
            <a:fld id="{160D810A-866C-4043-9CBB-5ABA3F831B2D}" type="datetime1">
              <a:rPr lang="en-IN" smtClean="0"/>
              <a:t>04-05-2026</a:t>
            </a:fld>
            <a:endParaRPr lang="en-IN"/>
          </a:p>
        </p:txBody>
      </p:sp>
      <p:sp>
        <p:nvSpPr>
          <p:cNvPr id="4" name="Footer Placeholder 3">
            <a:extLst>
              <a:ext uri="{FF2B5EF4-FFF2-40B4-BE49-F238E27FC236}">
                <a16:creationId xmlns:a16="http://schemas.microsoft.com/office/drawing/2014/main" id="{DCF00BE9-EEA0-4A26-9F1E-E7F9D17984E2}"/>
              </a:ext>
            </a:extLst>
          </p:cNvPr>
          <p:cNvSpPr>
            <a:spLocks noGrp="1"/>
          </p:cNvSpPr>
          <p:nvPr>
            <p:ph type="ftr" sz="quarter" idx="11"/>
          </p:nvPr>
        </p:nvSpPr>
        <p:spPr/>
        <p:txBody>
          <a:bodyPr/>
          <a:lstStyle/>
          <a:p>
            <a:r>
              <a:rPr lang="en-US"/>
              <a:t>Name of the Presenter &amp; Department</a:t>
            </a:r>
            <a:endParaRPr lang="en-IN"/>
          </a:p>
        </p:txBody>
      </p:sp>
      <p:sp>
        <p:nvSpPr>
          <p:cNvPr id="5" name="Slide Number Placeholder 4">
            <a:extLst>
              <a:ext uri="{FF2B5EF4-FFF2-40B4-BE49-F238E27FC236}">
                <a16:creationId xmlns:a16="http://schemas.microsoft.com/office/drawing/2014/main" id="{EA13D293-0ADA-48A5-B648-30CFFAEA949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64441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89F29-E588-4C2A-8A95-62F572D187B2}"/>
              </a:ext>
            </a:extLst>
          </p:cNvPr>
          <p:cNvSpPr>
            <a:spLocks noGrp="1"/>
          </p:cNvSpPr>
          <p:nvPr>
            <p:ph type="dt" sz="half" idx="10"/>
          </p:nvPr>
        </p:nvSpPr>
        <p:spPr/>
        <p:txBody>
          <a:bodyPr/>
          <a:lstStyle/>
          <a:p>
            <a:fld id="{BBEBE989-A332-410D-A8A6-532B1C75E2C4}" type="datetime1">
              <a:rPr lang="en-IN" smtClean="0"/>
              <a:t>04-05-2026</a:t>
            </a:fld>
            <a:endParaRPr lang="en-IN"/>
          </a:p>
        </p:txBody>
      </p:sp>
      <p:sp>
        <p:nvSpPr>
          <p:cNvPr id="3" name="Footer Placeholder 2">
            <a:extLst>
              <a:ext uri="{FF2B5EF4-FFF2-40B4-BE49-F238E27FC236}">
                <a16:creationId xmlns:a16="http://schemas.microsoft.com/office/drawing/2014/main" id="{0EA7526D-A567-4605-A7A9-135F95B01820}"/>
              </a:ext>
            </a:extLst>
          </p:cNvPr>
          <p:cNvSpPr>
            <a:spLocks noGrp="1"/>
          </p:cNvSpPr>
          <p:nvPr>
            <p:ph type="ftr" sz="quarter" idx="11"/>
          </p:nvPr>
        </p:nvSpPr>
        <p:spPr/>
        <p:txBody>
          <a:bodyPr/>
          <a:lstStyle/>
          <a:p>
            <a:r>
              <a:rPr lang="en-US"/>
              <a:t>Name of the Presenter &amp; Department</a:t>
            </a:r>
            <a:endParaRPr lang="en-IN"/>
          </a:p>
        </p:txBody>
      </p:sp>
      <p:sp>
        <p:nvSpPr>
          <p:cNvPr id="4" name="Slide Number Placeholder 3">
            <a:extLst>
              <a:ext uri="{FF2B5EF4-FFF2-40B4-BE49-F238E27FC236}">
                <a16:creationId xmlns:a16="http://schemas.microsoft.com/office/drawing/2014/main" id="{FC71C8A3-0862-4EB5-AABC-A30859267123}"/>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923759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4CB5-FA1C-4FC0-AD9B-86A482EC79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1AD36A-F712-4B95-A05A-260123906D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AD72EF-041F-42BF-9D8B-6654A5388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05025-346C-4E8E-8D28-42B0844CDECC}"/>
              </a:ext>
            </a:extLst>
          </p:cNvPr>
          <p:cNvSpPr>
            <a:spLocks noGrp="1"/>
          </p:cNvSpPr>
          <p:nvPr>
            <p:ph type="dt" sz="half" idx="10"/>
          </p:nvPr>
        </p:nvSpPr>
        <p:spPr/>
        <p:txBody>
          <a:bodyPr/>
          <a:lstStyle/>
          <a:p>
            <a:fld id="{8C6B5F36-35FA-4268-A441-E6463EAA5FA4}" type="datetime1">
              <a:rPr lang="en-IN" smtClean="0"/>
              <a:t>04-05-2026</a:t>
            </a:fld>
            <a:endParaRPr lang="en-IN"/>
          </a:p>
        </p:txBody>
      </p:sp>
      <p:sp>
        <p:nvSpPr>
          <p:cNvPr id="6" name="Footer Placeholder 5">
            <a:extLst>
              <a:ext uri="{FF2B5EF4-FFF2-40B4-BE49-F238E27FC236}">
                <a16:creationId xmlns:a16="http://schemas.microsoft.com/office/drawing/2014/main" id="{439BFF5B-58F9-427F-A2F5-A3D54513E7A5}"/>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CA99F69D-DD1A-402C-944E-141267614F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21378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2E9C-65CE-4BA4-85E8-BAEB5B101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D281C8-208E-4C02-9EF2-F49A49B50C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721BD1-5B7F-4CBB-B585-DA93A56F8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87DE2-AE53-4247-A661-AD19B8921C4F}"/>
              </a:ext>
            </a:extLst>
          </p:cNvPr>
          <p:cNvSpPr>
            <a:spLocks noGrp="1"/>
          </p:cNvSpPr>
          <p:nvPr>
            <p:ph type="dt" sz="half" idx="10"/>
          </p:nvPr>
        </p:nvSpPr>
        <p:spPr/>
        <p:txBody>
          <a:bodyPr/>
          <a:lstStyle/>
          <a:p>
            <a:fld id="{30B31E1C-51D0-4C9B-85B0-695D92FD0D00}" type="datetime1">
              <a:rPr lang="en-IN" smtClean="0"/>
              <a:t>04-05-2026</a:t>
            </a:fld>
            <a:endParaRPr lang="en-IN"/>
          </a:p>
        </p:txBody>
      </p:sp>
      <p:sp>
        <p:nvSpPr>
          <p:cNvPr id="6" name="Footer Placeholder 5">
            <a:extLst>
              <a:ext uri="{FF2B5EF4-FFF2-40B4-BE49-F238E27FC236}">
                <a16:creationId xmlns:a16="http://schemas.microsoft.com/office/drawing/2014/main" id="{8099459F-FB23-4534-A47C-E0AB046D48DD}"/>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307EF753-176A-4D74-A4D1-51910F5DDF6F}"/>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721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DD4F-88D8-4F72-B540-C533966AFA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F0F988-6313-4F2F-843A-B5A382650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943F66-5829-46CF-B0B8-7641FB225D81}"/>
              </a:ext>
            </a:extLst>
          </p:cNvPr>
          <p:cNvSpPr>
            <a:spLocks noGrp="1"/>
          </p:cNvSpPr>
          <p:nvPr>
            <p:ph type="dt" sz="half" idx="10"/>
          </p:nvPr>
        </p:nvSpPr>
        <p:spPr/>
        <p:txBody>
          <a:bodyPr/>
          <a:lstStyle/>
          <a:p>
            <a:fld id="{8928E016-816A-462E-AFD6-EE852EADA12C}" type="datetime1">
              <a:rPr lang="en-IN" smtClean="0"/>
              <a:t>04-05-2026</a:t>
            </a:fld>
            <a:endParaRPr lang="en-IN"/>
          </a:p>
        </p:txBody>
      </p:sp>
      <p:sp>
        <p:nvSpPr>
          <p:cNvPr id="5" name="Footer Placeholder 4">
            <a:extLst>
              <a:ext uri="{FF2B5EF4-FFF2-40B4-BE49-F238E27FC236}">
                <a16:creationId xmlns:a16="http://schemas.microsoft.com/office/drawing/2014/main" id="{5A6B28BB-7E22-4B05-A645-7481DC1649BF}"/>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D6ACA330-8AB6-49E9-862A-112EE7C3C0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50615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7E5E0-A998-46A6-BCA4-83F3D11523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9A3B42-B542-4BAA-92C4-925210EF2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29750-7E8E-4B6F-AFCF-BEAD1874BAE9}"/>
              </a:ext>
            </a:extLst>
          </p:cNvPr>
          <p:cNvSpPr>
            <a:spLocks noGrp="1"/>
          </p:cNvSpPr>
          <p:nvPr>
            <p:ph type="dt" sz="half" idx="10"/>
          </p:nvPr>
        </p:nvSpPr>
        <p:spPr/>
        <p:txBody>
          <a:bodyPr/>
          <a:lstStyle/>
          <a:p>
            <a:fld id="{D1FC357D-D3AE-45A1-AF16-9951E4A1A6C0}" type="datetime1">
              <a:rPr lang="en-IN" smtClean="0"/>
              <a:t>04-05-2026</a:t>
            </a:fld>
            <a:endParaRPr lang="en-IN"/>
          </a:p>
        </p:txBody>
      </p:sp>
      <p:sp>
        <p:nvSpPr>
          <p:cNvPr id="5" name="Footer Placeholder 4">
            <a:extLst>
              <a:ext uri="{FF2B5EF4-FFF2-40B4-BE49-F238E27FC236}">
                <a16:creationId xmlns:a16="http://schemas.microsoft.com/office/drawing/2014/main" id="{35F52F66-CAB7-4CAC-8C40-BE6B877E771C}"/>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F0D6B8D6-A138-46E5-B006-AB4D1E3A893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1195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BFB23A-58CF-456B-AB08-73729B667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C0A73A-70C8-4162-B8EF-D65B849D0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B0888-81FA-465A-90E7-E59D17F1C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F3E9B-DCF6-460C-A298-894BB8D79EEF}" type="datetime1">
              <a:rPr lang="en-IN" smtClean="0"/>
              <a:t>04-05-2026</a:t>
            </a:fld>
            <a:endParaRPr lang="en-IN"/>
          </a:p>
        </p:txBody>
      </p:sp>
      <p:sp>
        <p:nvSpPr>
          <p:cNvPr id="5" name="Footer Placeholder 4">
            <a:extLst>
              <a:ext uri="{FF2B5EF4-FFF2-40B4-BE49-F238E27FC236}">
                <a16:creationId xmlns:a16="http://schemas.microsoft.com/office/drawing/2014/main" id="{D12B48A1-228A-48E5-955E-3CBA79661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245395B7-BD3B-4473-B16F-5A7A3505B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ED798-B2B7-453D-A02A-83F1CBF01642}" type="slidenum">
              <a:rPr lang="en-IN" smtClean="0"/>
              <a:t>‹#›</a:t>
            </a:fld>
            <a:endParaRPr lang="en-IN"/>
          </a:p>
        </p:txBody>
      </p:sp>
    </p:spTree>
    <p:extLst>
      <p:ext uri="{BB962C8B-B14F-4D97-AF65-F5344CB8AC3E}">
        <p14:creationId xmlns:p14="http://schemas.microsoft.com/office/powerpoint/2010/main" val="229485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CEAD-96D3-A032-A33C-97C7C6389C2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EDCE6FD-5F7E-8664-8ED3-31E895D52E72}"/>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32B962B7-0060-92BF-D80F-8CA6E48E339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8589A71-20A6-497A-C266-A3AC590AC7BB}"/>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A9C0AFB6-FDBE-77A2-D576-D59FFAF6D1D5}"/>
              </a:ext>
            </a:extLst>
          </p:cNvPr>
          <p:cNvSpPr>
            <a:spLocks noGrp="1"/>
          </p:cNvSpPr>
          <p:nvPr>
            <p:ph type="sldNum" sz="quarter" idx="12"/>
          </p:nvPr>
        </p:nvSpPr>
        <p:spPr/>
        <p:txBody>
          <a:bodyPr/>
          <a:lstStyle/>
          <a:p>
            <a:fld id="{C9EED798-B2B7-453D-A02A-83F1CBF01642}" type="slidenum">
              <a:rPr lang="en-IN" smtClean="0"/>
              <a:t>1</a:t>
            </a:fld>
            <a:endParaRPr lang="en-IN"/>
          </a:p>
        </p:txBody>
      </p:sp>
      <p:grpSp>
        <p:nvGrpSpPr>
          <p:cNvPr id="18" name="Group 17">
            <a:extLst>
              <a:ext uri="{FF2B5EF4-FFF2-40B4-BE49-F238E27FC236}">
                <a16:creationId xmlns:a16="http://schemas.microsoft.com/office/drawing/2014/main" id="{0118D69F-ABE1-3E32-47BB-EE57D5B92537}"/>
              </a:ext>
            </a:extLst>
          </p:cNvPr>
          <p:cNvGrpSpPr/>
          <p:nvPr/>
        </p:nvGrpSpPr>
        <p:grpSpPr>
          <a:xfrm>
            <a:off x="529337" y="896634"/>
            <a:ext cx="10824463" cy="891025"/>
            <a:chOff x="529337" y="896634"/>
            <a:chExt cx="10824463" cy="891025"/>
          </a:xfrm>
        </p:grpSpPr>
        <p:pic>
          <p:nvPicPr>
            <p:cNvPr id="2" name="Picture 1">
              <a:extLst>
                <a:ext uri="{FF2B5EF4-FFF2-40B4-BE49-F238E27FC236}">
                  <a16:creationId xmlns:a16="http://schemas.microsoft.com/office/drawing/2014/main" id="{7FFD4D94-F232-ACC0-A2EC-5563B02B328F}"/>
                </a:ext>
              </a:extLst>
            </p:cNvPr>
            <p:cNvPicPr>
              <a:picLocks noChangeAspect="1"/>
            </p:cNvPicPr>
            <p:nvPr/>
          </p:nvPicPr>
          <p:blipFill rotWithShape="1">
            <a:blip r:embed="rId3"/>
            <a:srcRect t="27019" b="26058"/>
            <a:stretch/>
          </p:blipFill>
          <p:spPr>
            <a:xfrm>
              <a:off x="529337" y="896634"/>
              <a:ext cx="1898904" cy="891025"/>
            </a:xfrm>
            <a:prstGeom prst="rect">
              <a:avLst/>
            </a:prstGeom>
          </p:spPr>
        </p:pic>
        <p:grpSp>
          <p:nvGrpSpPr>
            <p:cNvPr id="15" name="Group 14">
              <a:extLst>
                <a:ext uri="{FF2B5EF4-FFF2-40B4-BE49-F238E27FC236}">
                  <a16:creationId xmlns:a16="http://schemas.microsoft.com/office/drawing/2014/main" id="{2CFC04D3-2649-B0B2-7F38-D5F9325C1352}"/>
                </a:ext>
              </a:extLst>
            </p:cNvPr>
            <p:cNvGrpSpPr/>
            <p:nvPr/>
          </p:nvGrpSpPr>
          <p:grpSpPr>
            <a:xfrm>
              <a:off x="11015286" y="1236138"/>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F47F37F5-DC62-D5EC-D8A9-D6ECF2CE1ACF}"/>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DBEBAC3F-D050-3CB2-1635-06DD7FCB6AF4}"/>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4" name="Rectangle 3"/>
          <p:cNvSpPr/>
          <p:nvPr/>
        </p:nvSpPr>
        <p:spPr>
          <a:xfrm>
            <a:off x="2653067" y="288643"/>
            <a:ext cx="7090403" cy="523220"/>
          </a:xfrm>
          <a:prstGeom prst="rect">
            <a:avLst/>
          </a:prstGeom>
        </p:spPr>
        <p:txBody>
          <a:bodyPr wrap="none">
            <a:spAutoFit/>
          </a:bodyPr>
          <a:lstStyle/>
          <a:p>
            <a:r>
              <a:rPr lang="en-IN" sz="2800" b="1" dirty="0">
                <a:latin typeface="Verdana" pitchFamily="34" charset="0"/>
                <a:ea typeface="Verdana" pitchFamily="34" charset="0"/>
              </a:rPr>
              <a:t>Tinkering &amp; Mentoring - VACC 201</a:t>
            </a:r>
          </a:p>
        </p:txBody>
      </p:sp>
      <p:sp>
        <p:nvSpPr>
          <p:cNvPr id="20" name="Rectangle 19"/>
          <p:cNvSpPr/>
          <p:nvPr/>
        </p:nvSpPr>
        <p:spPr>
          <a:xfrm>
            <a:off x="2805467" y="1186543"/>
            <a:ext cx="5993949" cy="954107"/>
          </a:xfrm>
          <a:prstGeom prst="rect">
            <a:avLst/>
          </a:prstGeom>
        </p:spPr>
        <p:txBody>
          <a:bodyPr wrap="none">
            <a:spAutoFit/>
          </a:bodyPr>
          <a:lstStyle/>
          <a:p>
            <a:pPr algn="ctr"/>
            <a:r>
              <a:rPr lang="en-IN" sz="2800" b="1" dirty="0">
                <a:latin typeface="Verdana" pitchFamily="34" charset="0"/>
                <a:ea typeface="Verdana" pitchFamily="34" charset="0"/>
              </a:rPr>
              <a:t>Final Project Presentation &amp; </a:t>
            </a:r>
          </a:p>
          <a:p>
            <a:pPr algn="ctr"/>
            <a:r>
              <a:rPr lang="en-IN" sz="2800" b="1" dirty="0">
                <a:latin typeface="Verdana" pitchFamily="34" charset="0"/>
                <a:ea typeface="Verdana" pitchFamily="34" charset="0"/>
              </a:rPr>
              <a:t>Demonstration</a:t>
            </a:r>
          </a:p>
        </p:txBody>
      </p:sp>
      <p:grpSp>
        <p:nvGrpSpPr>
          <p:cNvPr id="21" name="Group 20">
            <a:extLst>
              <a:ext uri="{FF2B5EF4-FFF2-40B4-BE49-F238E27FC236}">
                <a16:creationId xmlns:a16="http://schemas.microsoft.com/office/drawing/2014/main" id="{FE78DED0-2A03-65AD-7E05-0CCEFCAE696C}"/>
              </a:ext>
            </a:extLst>
          </p:cNvPr>
          <p:cNvGrpSpPr/>
          <p:nvPr/>
        </p:nvGrpSpPr>
        <p:grpSpPr>
          <a:xfrm>
            <a:off x="750265" y="2827691"/>
            <a:ext cx="10351387" cy="3505899"/>
            <a:chOff x="447039" y="2656957"/>
            <a:chExt cx="6816790" cy="3748933"/>
          </a:xfrm>
        </p:grpSpPr>
        <p:sp>
          <p:nvSpPr>
            <p:cNvPr id="22" name="TextBox 21">
              <a:extLst>
                <a:ext uri="{FF2B5EF4-FFF2-40B4-BE49-F238E27FC236}">
                  <a16:creationId xmlns:a16="http://schemas.microsoft.com/office/drawing/2014/main" id="{71DF62CC-1549-34C5-2BC7-8B32AAFDA013}"/>
                </a:ext>
              </a:extLst>
            </p:cNvPr>
            <p:cNvSpPr txBox="1"/>
            <p:nvPr/>
          </p:nvSpPr>
          <p:spPr>
            <a:xfrm>
              <a:off x="447039" y="2656957"/>
              <a:ext cx="6816790" cy="1086070"/>
            </a:xfrm>
            <a:prstGeom prst="rect">
              <a:avLst/>
            </a:prstGeom>
            <a:noFill/>
          </p:spPr>
          <p:txBody>
            <a:bodyPr wrap="square" rtlCol="0">
              <a:spAutoFit/>
            </a:bodyPr>
            <a:lstStyle/>
            <a:p>
              <a:r>
                <a:rPr lang="en-US" sz="6000" b="1" dirty="0">
                  <a:latin typeface="Verdana" panose="020B0604030504040204" pitchFamily="34" charset="0"/>
                  <a:ea typeface="Verdana" panose="020B0604030504040204" pitchFamily="34" charset="0"/>
                </a:rPr>
                <a:t>NUTRI-FRESH</a:t>
              </a:r>
              <a:endParaRPr lang="en-IN" sz="6000" b="1" dirty="0">
                <a:latin typeface="Verdana" panose="020B0604030504040204" pitchFamily="34" charset="0"/>
                <a:ea typeface="Verdana" panose="020B0604030504040204" pitchFamily="34" charset="0"/>
              </a:endParaRPr>
            </a:p>
          </p:txBody>
        </p:sp>
        <p:sp>
          <p:nvSpPr>
            <p:cNvPr id="23" name="TextBox 22">
              <a:extLst>
                <a:ext uri="{FF2B5EF4-FFF2-40B4-BE49-F238E27FC236}">
                  <a16:creationId xmlns:a16="http://schemas.microsoft.com/office/drawing/2014/main" id="{506FB617-A5E9-F51C-410F-70C063DC0BB1}"/>
                </a:ext>
              </a:extLst>
            </p:cNvPr>
            <p:cNvSpPr txBox="1"/>
            <p:nvPr/>
          </p:nvSpPr>
          <p:spPr>
            <a:xfrm>
              <a:off x="501235" y="4332484"/>
              <a:ext cx="3592475" cy="2073406"/>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Date (05/05/2026)</a:t>
              </a:r>
            </a:p>
            <a:p>
              <a:pPr>
                <a:lnSpc>
                  <a:spcPct val="150000"/>
                </a:lnSpc>
              </a:pPr>
              <a:r>
                <a:rPr lang="en-US" sz="1600" dirty="0">
                  <a:latin typeface="Verdana" panose="020B0604030504040204" pitchFamily="34" charset="0"/>
                  <a:ea typeface="Verdana" panose="020B0604030504040204" pitchFamily="34" charset="0"/>
                </a:rPr>
                <a:t>Name of the Presenter: Naiya Patel</a:t>
              </a:r>
            </a:p>
            <a:p>
              <a:pPr>
                <a:lnSpc>
                  <a:spcPct val="150000"/>
                </a:lnSpc>
              </a:pPr>
              <a:r>
                <a:rPr lang="en-US" sz="1600" dirty="0">
                  <a:latin typeface="Verdana" panose="020B0604030504040204" pitchFamily="34" charset="0"/>
                  <a:ea typeface="Verdana" panose="020B0604030504040204" pitchFamily="34" charset="0"/>
                </a:rPr>
                <a:t>Email Id: 25sc02036@gsfcuniversity.ac.in</a:t>
              </a:r>
            </a:p>
            <a:p>
              <a:pPr>
                <a:lnSpc>
                  <a:spcPct val="150000"/>
                </a:lnSpc>
              </a:pPr>
              <a:r>
                <a:rPr lang="en-US" sz="1600" dirty="0">
                  <a:latin typeface="Verdana" panose="020B0604030504040204" pitchFamily="34" charset="0"/>
                  <a:ea typeface="Verdana" panose="020B0604030504040204" pitchFamily="34" charset="0"/>
                </a:rPr>
                <a:t>Mobile No.:8469836612</a:t>
              </a:r>
            </a:p>
            <a:p>
              <a:pPr>
                <a:lnSpc>
                  <a:spcPct val="150000"/>
                </a:lnSpc>
              </a:pPr>
              <a:r>
                <a:rPr lang="en-US" sz="1600" dirty="0">
                  <a:latin typeface="Verdana" panose="020B0604030504040204" pitchFamily="34" charset="0"/>
                  <a:ea typeface="Verdana" panose="020B0604030504040204" pitchFamily="34" charset="0"/>
                </a:rPr>
                <a:t>Faculty Mentor Name: Dr. Akhilesh Prajapati </a:t>
              </a:r>
            </a:p>
          </p:txBody>
        </p:sp>
      </p:grpSp>
      <p:sp>
        <p:nvSpPr>
          <p:cNvPr id="24" name="TextBox 23">
            <a:extLst>
              <a:ext uri="{FF2B5EF4-FFF2-40B4-BE49-F238E27FC236}">
                <a16:creationId xmlns:a16="http://schemas.microsoft.com/office/drawing/2014/main" id="{506FB617-A5E9-F51C-410F-70C063DC0BB1}"/>
              </a:ext>
            </a:extLst>
          </p:cNvPr>
          <p:cNvSpPr txBox="1"/>
          <p:nvPr/>
        </p:nvSpPr>
        <p:spPr>
          <a:xfrm>
            <a:off x="6512458" y="4469058"/>
            <a:ext cx="4841341" cy="1569660"/>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Team No.: 06</a:t>
            </a:r>
          </a:p>
          <a:p>
            <a:pPr>
              <a:lnSpc>
                <a:spcPct val="150000"/>
              </a:lnSpc>
            </a:pPr>
            <a:r>
              <a:rPr lang="en-US" sz="1600" dirty="0">
                <a:latin typeface="Verdana" panose="020B0604030504040204" pitchFamily="34" charset="0"/>
                <a:ea typeface="Verdana" panose="020B0604030504040204" pitchFamily="34" charset="0"/>
              </a:rPr>
              <a:t>Semester: 2nd</a:t>
            </a:r>
          </a:p>
          <a:p>
            <a:pPr>
              <a:lnSpc>
                <a:spcPct val="150000"/>
              </a:lnSpc>
            </a:pPr>
            <a:r>
              <a:rPr lang="en-US" sz="1600" dirty="0">
                <a:latin typeface="Verdana" panose="020B0604030504040204" pitchFamily="34" charset="0"/>
                <a:ea typeface="Verdana" panose="020B0604030504040204" pitchFamily="34" charset="0"/>
              </a:rPr>
              <a:t>Program: BSc. Biotechnology</a:t>
            </a:r>
          </a:p>
          <a:p>
            <a:pPr>
              <a:lnSpc>
                <a:spcPct val="150000"/>
              </a:lnSpc>
            </a:pPr>
            <a:r>
              <a:rPr lang="en-US" sz="1600" dirty="0">
                <a:latin typeface="Verdana" panose="020B0604030504040204" pitchFamily="34" charset="0"/>
                <a:ea typeface="Verdana" panose="020B0604030504040204" pitchFamily="34" charset="0"/>
              </a:rPr>
              <a:t>School: School of Science</a:t>
            </a:r>
          </a:p>
        </p:txBody>
      </p:sp>
    </p:spTree>
    <p:extLst>
      <p:ext uri="{BB962C8B-B14F-4D97-AF65-F5344CB8AC3E}">
        <p14:creationId xmlns:p14="http://schemas.microsoft.com/office/powerpoint/2010/main" val="4126585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2</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Student Team</a:t>
            </a:r>
            <a:endParaRPr lang="en-IN" sz="2400" b="1" dirty="0">
              <a:latin typeface="Verdana" panose="020B0604030504040204" pitchFamily="34" charset="0"/>
              <a:ea typeface="Verdana" panose="020B0604030504040204" pitchFamily="34" charset="0"/>
            </a:endParaRPr>
          </a:p>
        </p:txBody>
      </p:sp>
      <p:graphicFrame>
        <p:nvGraphicFramePr>
          <p:cNvPr id="19" name="Content Placeholder 3"/>
          <p:cNvGraphicFramePr>
            <a:graphicFrameLocks/>
          </p:cNvGraphicFramePr>
          <p:nvPr>
            <p:extLst>
              <p:ext uri="{D42A27DB-BD31-4B8C-83A1-F6EECF244321}">
                <p14:modId xmlns:p14="http://schemas.microsoft.com/office/powerpoint/2010/main" val="2909175632"/>
              </p:ext>
            </p:extLst>
          </p:nvPr>
        </p:nvGraphicFramePr>
        <p:xfrm>
          <a:off x="457199" y="1600200"/>
          <a:ext cx="10805304" cy="2987040"/>
        </p:xfrm>
        <a:graphic>
          <a:graphicData uri="http://schemas.openxmlformats.org/drawingml/2006/table">
            <a:tbl>
              <a:tblPr firstRow="1" bandRow="1">
                <a:tableStyleId>{5C22544A-7EE6-4342-B048-85BDC9FD1C3A}</a:tableStyleId>
              </a:tblPr>
              <a:tblGrid>
                <a:gridCol w="4536041">
                  <a:extLst>
                    <a:ext uri="{9D8B030D-6E8A-4147-A177-3AD203B41FA5}">
                      <a16:colId xmlns:a16="http://schemas.microsoft.com/office/drawing/2014/main" val="20000"/>
                    </a:ext>
                  </a:extLst>
                </a:gridCol>
                <a:gridCol w="2448885">
                  <a:extLst>
                    <a:ext uri="{9D8B030D-6E8A-4147-A177-3AD203B41FA5}">
                      <a16:colId xmlns:a16="http://schemas.microsoft.com/office/drawing/2014/main" val="20001"/>
                    </a:ext>
                  </a:extLst>
                </a:gridCol>
                <a:gridCol w="3820378">
                  <a:extLst>
                    <a:ext uri="{9D8B030D-6E8A-4147-A177-3AD203B41FA5}">
                      <a16:colId xmlns:a16="http://schemas.microsoft.com/office/drawing/2014/main" val="20002"/>
                    </a:ext>
                  </a:extLst>
                </a:gridCol>
              </a:tblGrid>
              <a:tr h="362164">
                <a:tc>
                  <a:txBody>
                    <a:bodyPr/>
                    <a:lstStyle/>
                    <a:p>
                      <a:r>
                        <a:rPr lang="en-US" sz="1800" b="1" dirty="0">
                          <a:solidFill>
                            <a:schemeClr val="bg1"/>
                          </a:solidFill>
                          <a:effectLst/>
                          <a:latin typeface="Verdana" pitchFamily="34" charset="0"/>
                          <a:ea typeface="Verdana" pitchFamily="34" charset="0"/>
                          <a:cs typeface="+mn-lt"/>
                        </a:rPr>
                        <a:t>Name</a:t>
                      </a:r>
                    </a:p>
                  </a:txBody>
                  <a:tcPr/>
                </a:tc>
                <a:tc>
                  <a:txBody>
                    <a:bodyPr/>
                    <a:lstStyle/>
                    <a:p>
                      <a:r>
                        <a:rPr lang="en-US" sz="1800" b="1" dirty="0">
                          <a:solidFill>
                            <a:schemeClr val="bg1"/>
                          </a:solidFill>
                          <a:effectLst/>
                          <a:latin typeface="Verdana" pitchFamily="34" charset="0"/>
                          <a:ea typeface="Verdana" pitchFamily="34" charset="0"/>
                          <a:cs typeface="+mn-lt"/>
                        </a:rPr>
                        <a:t>Enrollment No.</a:t>
                      </a:r>
                    </a:p>
                  </a:txBody>
                  <a:tcPr/>
                </a:tc>
                <a:tc>
                  <a:txBody>
                    <a:bodyPr/>
                    <a:lstStyle/>
                    <a:p>
                      <a:r>
                        <a:rPr lang="en-US" sz="1800" b="1" dirty="0">
                          <a:solidFill>
                            <a:schemeClr val="bg1"/>
                          </a:solidFill>
                          <a:effectLst/>
                          <a:latin typeface="Verdana" pitchFamily="34" charset="0"/>
                          <a:ea typeface="Verdana" pitchFamily="34" charset="0"/>
                          <a:cs typeface="+mn-lt"/>
                        </a:rPr>
                        <a:t>Key Responsibility</a:t>
                      </a:r>
                    </a:p>
                  </a:txBody>
                  <a:tcPr/>
                </a:tc>
                <a:extLst>
                  <a:ext uri="{0D108BD9-81ED-4DB2-BD59-A6C34878D82A}">
                    <a16:rowId xmlns:a16="http://schemas.microsoft.com/office/drawing/2014/main" val="10000"/>
                  </a:ext>
                </a:extLst>
              </a:tr>
              <a:tr h="370840">
                <a:tc>
                  <a:txBody>
                    <a:bodyPr/>
                    <a:lstStyle/>
                    <a:p>
                      <a:pPr marL="91440">
                        <a:lnSpc>
                          <a:spcPct val="100000"/>
                        </a:lnSpc>
                        <a:spcBef>
                          <a:spcPts val="229"/>
                        </a:spcBef>
                      </a:pPr>
                      <a:r>
                        <a:rPr lang="en-IN" sz="1800" dirty="0">
                          <a:latin typeface="Calibri"/>
                          <a:cs typeface="Calibri"/>
                        </a:rPr>
                        <a:t>NAIYA  PATEL</a:t>
                      </a:r>
                      <a:endParaRPr sz="1800" dirty="0">
                        <a:latin typeface="Calibri"/>
                        <a:cs typeface="Calibri"/>
                      </a:endParaRPr>
                    </a:p>
                  </a:txBody>
                  <a:tcPr marL="0" marR="0" marT="29209" marB="0"/>
                </a:tc>
                <a:tc>
                  <a:txBody>
                    <a:bodyPr/>
                    <a:lstStyle/>
                    <a:p>
                      <a:pPr marL="95250">
                        <a:lnSpc>
                          <a:spcPct val="100000"/>
                        </a:lnSpc>
                        <a:spcBef>
                          <a:spcPts val="229"/>
                        </a:spcBef>
                      </a:pPr>
                      <a:r>
                        <a:rPr lang="en-IN" sz="1800" dirty="0">
                          <a:latin typeface="Calibri"/>
                          <a:cs typeface="Calibri"/>
                        </a:rPr>
                        <a:t>25SC02036</a:t>
                      </a:r>
                      <a:endParaRPr sz="1800">
                        <a:latin typeface="Calibri"/>
                        <a:cs typeface="Calibri"/>
                      </a:endParaRPr>
                    </a:p>
                  </a:txBody>
                  <a:tcPr marL="0" marR="0" marT="29209" marB="0"/>
                </a:tc>
                <a:tc>
                  <a:txBody>
                    <a:bodyPr/>
                    <a:lstStyle/>
                    <a:p>
                      <a:pPr marL="96520" marR="191770">
                        <a:lnSpc>
                          <a:spcPct val="100800"/>
                        </a:lnSpc>
                        <a:spcBef>
                          <a:spcPts val="215"/>
                        </a:spcBef>
                      </a:pPr>
                      <a:r>
                        <a:rPr lang="en-IN" sz="1800" spc="-50" dirty="0">
                          <a:latin typeface="Calibri"/>
                          <a:cs typeface="Calibri"/>
                        </a:rPr>
                        <a:t>Growing</a:t>
                      </a:r>
                      <a:r>
                        <a:rPr lang="en-IN" sz="1800" spc="-50" baseline="0" dirty="0">
                          <a:latin typeface="Calibri"/>
                          <a:cs typeface="Calibri"/>
                        </a:rPr>
                        <a:t> Medium Preparation</a:t>
                      </a:r>
                      <a:endParaRPr sz="1800">
                        <a:latin typeface="Calibri"/>
                        <a:cs typeface="Calibri"/>
                      </a:endParaRPr>
                    </a:p>
                  </a:txBody>
                  <a:tcPr marL="0" marR="0" marT="27305" marB="0"/>
                </a:tc>
                <a:extLst>
                  <a:ext uri="{0D108BD9-81ED-4DB2-BD59-A6C34878D82A}">
                    <a16:rowId xmlns:a16="http://schemas.microsoft.com/office/drawing/2014/main" val="10001"/>
                  </a:ext>
                </a:extLst>
              </a:tr>
              <a:tr h="370840">
                <a:tc>
                  <a:txBody>
                    <a:bodyPr/>
                    <a:lstStyle/>
                    <a:p>
                      <a:pPr marL="91440">
                        <a:lnSpc>
                          <a:spcPct val="100000"/>
                        </a:lnSpc>
                        <a:spcBef>
                          <a:spcPts val="240"/>
                        </a:spcBef>
                      </a:pPr>
                      <a:r>
                        <a:rPr lang="en-IN" sz="1800" dirty="0">
                          <a:latin typeface="Calibri"/>
                          <a:cs typeface="Calibri"/>
                        </a:rPr>
                        <a:t>TRISHA</a:t>
                      </a:r>
                      <a:r>
                        <a:rPr lang="en-IN" sz="1800" baseline="0" dirty="0">
                          <a:latin typeface="Calibri"/>
                          <a:cs typeface="Calibri"/>
                        </a:rPr>
                        <a:t> MODI</a:t>
                      </a:r>
                      <a:endParaRPr sz="1800" dirty="0">
                        <a:latin typeface="Calibri"/>
                        <a:cs typeface="Calibri"/>
                      </a:endParaRPr>
                    </a:p>
                  </a:txBody>
                  <a:tcPr marL="0" marR="0" marT="30480" marB="0"/>
                </a:tc>
                <a:tc>
                  <a:txBody>
                    <a:bodyPr/>
                    <a:lstStyle/>
                    <a:p>
                      <a:pPr marL="95250">
                        <a:lnSpc>
                          <a:spcPct val="100000"/>
                        </a:lnSpc>
                        <a:spcBef>
                          <a:spcPts val="240"/>
                        </a:spcBef>
                      </a:pPr>
                      <a:r>
                        <a:rPr lang="en-IN" sz="1800" dirty="0">
                          <a:latin typeface="Calibri"/>
                          <a:cs typeface="Calibri"/>
                        </a:rPr>
                        <a:t>25SC02034</a:t>
                      </a:r>
                      <a:endParaRPr sz="1800">
                        <a:latin typeface="Calibri"/>
                        <a:cs typeface="Calibri"/>
                      </a:endParaRPr>
                    </a:p>
                  </a:txBody>
                  <a:tcPr marL="0" marR="0" marT="30480" marB="0"/>
                </a:tc>
                <a:tc>
                  <a:txBody>
                    <a:bodyPr/>
                    <a:lstStyle/>
                    <a:p>
                      <a:pPr marL="96520" marR="221615">
                        <a:lnSpc>
                          <a:spcPct val="100800"/>
                        </a:lnSpc>
                        <a:spcBef>
                          <a:spcPts val="220"/>
                        </a:spcBef>
                      </a:pPr>
                      <a:r>
                        <a:rPr lang="en-IN" sz="1800" dirty="0">
                          <a:latin typeface="Calibri"/>
                          <a:cs typeface="Calibri"/>
                        </a:rPr>
                        <a:t>Seed sowing and germination</a:t>
                      </a:r>
                      <a:endParaRPr sz="1800">
                        <a:latin typeface="Calibri"/>
                        <a:cs typeface="Calibri"/>
                      </a:endParaRPr>
                    </a:p>
                  </a:txBody>
                  <a:tcPr marL="0" marR="0" marT="27940" marB="0"/>
                </a:tc>
                <a:extLst>
                  <a:ext uri="{0D108BD9-81ED-4DB2-BD59-A6C34878D82A}">
                    <a16:rowId xmlns:a16="http://schemas.microsoft.com/office/drawing/2014/main" val="10002"/>
                  </a:ext>
                </a:extLst>
              </a:tr>
              <a:tr h="370840">
                <a:tc>
                  <a:txBody>
                    <a:bodyPr/>
                    <a:lstStyle/>
                    <a:p>
                      <a:pPr marL="91440">
                        <a:lnSpc>
                          <a:spcPct val="100000"/>
                        </a:lnSpc>
                        <a:spcBef>
                          <a:spcPts val="250"/>
                        </a:spcBef>
                      </a:pPr>
                      <a:r>
                        <a:rPr lang="en-IN" sz="1800" dirty="0">
                          <a:latin typeface="Calibri"/>
                          <a:cs typeface="Calibri"/>
                        </a:rPr>
                        <a:t>DWITI</a:t>
                      </a:r>
                      <a:r>
                        <a:rPr lang="en-IN" sz="1800" baseline="0" dirty="0">
                          <a:latin typeface="Calibri"/>
                          <a:cs typeface="Calibri"/>
                        </a:rPr>
                        <a:t> MATHIYA</a:t>
                      </a:r>
                      <a:endParaRPr sz="1800" dirty="0">
                        <a:latin typeface="Calibri"/>
                        <a:cs typeface="Calibri"/>
                      </a:endParaRPr>
                    </a:p>
                  </a:txBody>
                  <a:tcPr marL="0" marR="0" marT="31750" marB="0"/>
                </a:tc>
                <a:tc>
                  <a:txBody>
                    <a:bodyPr/>
                    <a:lstStyle/>
                    <a:p>
                      <a:pPr marL="95250">
                        <a:lnSpc>
                          <a:spcPct val="100000"/>
                        </a:lnSpc>
                        <a:spcBef>
                          <a:spcPts val="250"/>
                        </a:spcBef>
                      </a:pPr>
                      <a:r>
                        <a:rPr lang="en-IN" sz="1800" dirty="0">
                          <a:latin typeface="Calibri"/>
                          <a:cs typeface="Calibri"/>
                        </a:rPr>
                        <a:t>25SC02032</a:t>
                      </a:r>
                      <a:endParaRPr sz="1800" dirty="0">
                        <a:latin typeface="Calibri"/>
                        <a:cs typeface="Calibri"/>
                      </a:endParaRPr>
                    </a:p>
                  </a:txBody>
                  <a:tcPr marL="0" marR="0" marT="31750" marB="0"/>
                </a:tc>
                <a:tc>
                  <a:txBody>
                    <a:bodyPr/>
                    <a:lstStyle/>
                    <a:p>
                      <a:pPr marL="96520" marR="688975">
                        <a:lnSpc>
                          <a:spcPct val="100800"/>
                        </a:lnSpc>
                        <a:spcBef>
                          <a:spcPts val="229"/>
                        </a:spcBef>
                      </a:pPr>
                      <a:r>
                        <a:rPr lang="en-IN" sz="1800" dirty="0" err="1">
                          <a:latin typeface="Calibri"/>
                          <a:cs typeface="Calibri"/>
                        </a:rPr>
                        <a:t>Hudroponic</a:t>
                      </a:r>
                      <a:r>
                        <a:rPr lang="en-IN" sz="1800" dirty="0">
                          <a:latin typeface="Calibri"/>
                          <a:cs typeface="Calibri"/>
                        </a:rPr>
                        <a:t> setup preparation</a:t>
                      </a:r>
                      <a:endParaRPr sz="1800">
                        <a:latin typeface="Calibri"/>
                        <a:cs typeface="Calibri"/>
                      </a:endParaRPr>
                    </a:p>
                  </a:txBody>
                  <a:tcPr marL="0" marR="0" marT="29209" marB="0"/>
                </a:tc>
                <a:extLst>
                  <a:ext uri="{0D108BD9-81ED-4DB2-BD59-A6C34878D82A}">
                    <a16:rowId xmlns:a16="http://schemas.microsoft.com/office/drawing/2014/main" val="10003"/>
                  </a:ext>
                </a:extLst>
              </a:tr>
              <a:tr h="370840">
                <a:tc>
                  <a:txBody>
                    <a:bodyPr/>
                    <a:lstStyle/>
                    <a:p>
                      <a:pPr marL="91440">
                        <a:lnSpc>
                          <a:spcPct val="100000"/>
                        </a:lnSpc>
                        <a:spcBef>
                          <a:spcPts val="259"/>
                        </a:spcBef>
                      </a:pPr>
                      <a:r>
                        <a:rPr lang="en-IN" sz="1800" dirty="0">
                          <a:latin typeface="Calibri"/>
                          <a:cs typeface="Calibri"/>
                        </a:rPr>
                        <a:t>NEEL MESARIYA</a:t>
                      </a:r>
                      <a:endParaRPr sz="1800" dirty="0">
                        <a:latin typeface="Calibri"/>
                        <a:cs typeface="Calibri"/>
                      </a:endParaRPr>
                    </a:p>
                  </a:txBody>
                  <a:tcPr marL="0" marR="0" marT="33019" marB="0"/>
                </a:tc>
                <a:tc>
                  <a:txBody>
                    <a:bodyPr/>
                    <a:lstStyle/>
                    <a:p>
                      <a:pPr marL="95250">
                        <a:lnSpc>
                          <a:spcPct val="100000"/>
                        </a:lnSpc>
                        <a:spcBef>
                          <a:spcPts val="259"/>
                        </a:spcBef>
                      </a:pPr>
                      <a:r>
                        <a:rPr lang="en-IN" sz="1800" dirty="0">
                          <a:latin typeface="Calibri"/>
                          <a:cs typeface="Calibri"/>
                        </a:rPr>
                        <a:t>25SC02033</a:t>
                      </a:r>
                      <a:endParaRPr sz="1800" dirty="0">
                        <a:latin typeface="Calibri"/>
                        <a:cs typeface="Calibri"/>
                      </a:endParaRPr>
                    </a:p>
                  </a:txBody>
                  <a:tcPr marL="0" marR="0" marT="33019" marB="0"/>
                </a:tc>
                <a:tc>
                  <a:txBody>
                    <a:bodyPr/>
                    <a:lstStyle/>
                    <a:p>
                      <a:pPr marL="96520">
                        <a:lnSpc>
                          <a:spcPct val="100000"/>
                        </a:lnSpc>
                        <a:spcBef>
                          <a:spcPts val="259"/>
                        </a:spcBef>
                      </a:pPr>
                      <a:r>
                        <a:rPr lang="en-IN" sz="1800" dirty="0">
                          <a:latin typeface="Calibri"/>
                          <a:cs typeface="Calibri"/>
                        </a:rPr>
                        <a:t>Nutrient solution preparation</a:t>
                      </a:r>
                      <a:endParaRPr sz="1800" dirty="0">
                        <a:latin typeface="Calibri"/>
                        <a:cs typeface="Calibri"/>
                      </a:endParaRPr>
                    </a:p>
                  </a:txBody>
                  <a:tcPr marL="0" marR="0" marT="33019" marB="0"/>
                </a:tc>
                <a:extLst>
                  <a:ext uri="{0D108BD9-81ED-4DB2-BD59-A6C34878D82A}">
                    <a16:rowId xmlns:a16="http://schemas.microsoft.com/office/drawing/2014/main" val="10004"/>
                  </a:ext>
                </a:extLst>
              </a:tr>
              <a:tr h="370840">
                <a:tc>
                  <a:txBody>
                    <a:bodyPr/>
                    <a:lstStyle/>
                    <a:p>
                      <a:pPr marL="91440">
                        <a:lnSpc>
                          <a:spcPct val="100000"/>
                        </a:lnSpc>
                        <a:spcBef>
                          <a:spcPts val="265"/>
                        </a:spcBef>
                      </a:pPr>
                      <a:r>
                        <a:rPr lang="en-IN" sz="1800" dirty="0">
                          <a:latin typeface="Calibri"/>
                          <a:cs typeface="Calibri"/>
                        </a:rPr>
                        <a:t>MUSKAN SINGH</a:t>
                      </a:r>
                      <a:endParaRPr sz="1800">
                        <a:latin typeface="Calibri"/>
                        <a:cs typeface="Calibri"/>
                      </a:endParaRPr>
                    </a:p>
                  </a:txBody>
                  <a:tcPr marL="0" marR="0" marT="33655" marB="0"/>
                </a:tc>
                <a:tc>
                  <a:txBody>
                    <a:bodyPr/>
                    <a:lstStyle/>
                    <a:p>
                      <a:pPr marL="95250">
                        <a:lnSpc>
                          <a:spcPct val="100000"/>
                        </a:lnSpc>
                        <a:spcBef>
                          <a:spcPts val="265"/>
                        </a:spcBef>
                      </a:pPr>
                      <a:r>
                        <a:rPr lang="en-IN" sz="1800" dirty="0">
                          <a:latin typeface="Calibri"/>
                          <a:cs typeface="Calibri"/>
                        </a:rPr>
                        <a:t>25SC02035</a:t>
                      </a:r>
                      <a:endParaRPr sz="1800" dirty="0">
                        <a:latin typeface="Calibri"/>
                        <a:cs typeface="Calibri"/>
                      </a:endParaRPr>
                    </a:p>
                  </a:txBody>
                  <a:tcPr marL="0" marR="0" marT="33655" marB="0"/>
                </a:tc>
                <a:tc>
                  <a:txBody>
                    <a:bodyPr/>
                    <a:lstStyle/>
                    <a:p>
                      <a:r>
                        <a:rPr lang="en-IN" dirty="0"/>
                        <a:t>Plant</a:t>
                      </a:r>
                      <a:r>
                        <a:rPr lang="en-IN" baseline="0" dirty="0"/>
                        <a:t> </a:t>
                      </a:r>
                      <a:r>
                        <a:rPr lang="en-IN" baseline="0" dirty="0" err="1"/>
                        <a:t>maintanance</a:t>
                      </a:r>
                      <a:r>
                        <a:rPr lang="en-IN" baseline="0" dirty="0"/>
                        <a:t> and monitoring </a:t>
                      </a:r>
                      <a:endParaRPr lang="en-US" dirty="0"/>
                    </a:p>
                  </a:txBody>
                  <a:tcPr marL="0" marR="0" marT="31114" marB="0"/>
                </a:tc>
                <a:extLst>
                  <a:ext uri="{0D108BD9-81ED-4DB2-BD59-A6C34878D82A}">
                    <a16:rowId xmlns:a16="http://schemas.microsoft.com/office/drawing/2014/main" val="10005"/>
                  </a:ext>
                </a:extLst>
              </a:tr>
              <a:tr h="396240">
                <a:tc>
                  <a:txBody>
                    <a:bodyPr/>
                    <a:lstStyle/>
                    <a:p>
                      <a:endParaRPr lang="en-US" sz="1800" dirty="0">
                        <a:latin typeface="Verdana" pitchFamily="34" charset="0"/>
                        <a:ea typeface="Verdana" pitchFamily="34" charset="0"/>
                      </a:endParaRPr>
                    </a:p>
                  </a:txBody>
                  <a:tcPr/>
                </a:tc>
                <a:tc>
                  <a:txBody>
                    <a:bodyPr/>
                    <a:lstStyle/>
                    <a:p>
                      <a:endParaRPr lang="en-US" sz="1800" dirty="0">
                        <a:latin typeface="Verdana" pitchFamily="34" charset="0"/>
                        <a:ea typeface="Verdana" pitchFamily="34" charset="0"/>
                      </a:endParaRPr>
                    </a:p>
                  </a:txBody>
                  <a:tcPr/>
                </a:tc>
                <a:tc>
                  <a:txBody>
                    <a:bodyPr/>
                    <a:lstStyle/>
                    <a:p>
                      <a:endParaRPr lang="en-US" sz="1800" dirty="0">
                        <a:latin typeface="Verdana" pitchFamily="34" charset="0"/>
                        <a:ea typeface="Verdana" pitchFamily="34" charset="0"/>
                      </a:endParaRPr>
                    </a:p>
                  </a:txBody>
                  <a:tcPr/>
                </a:tc>
                <a:extLst>
                  <a:ext uri="{0D108BD9-81ED-4DB2-BD59-A6C34878D82A}">
                    <a16:rowId xmlns:a16="http://schemas.microsoft.com/office/drawing/2014/main" val="10006"/>
                  </a:ext>
                </a:extLst>
              </a:tr>
              <a:tr h="370840">
                <a:tc>
                  <a:txBody>
                    <a:bodyPr/>
                    <a:lstStyle/>
                    <a:p>
                      <a:endParaRPr lang="en-US" sz="1800">
                        <a:latin typeface="Verdana" pitchFamily="34" charset="0"/>
                        <a:ea typeface="Verdana" pitchFamily="34" charset="0"/>
                      </a:endParaRPr>
                    </a:p>
                  </a:txBody>
                  <a:tcPr/>
                </a:tc>
                <a:tc>
                  <a:txBody>
                    <a:bodyPr/>
                    <a:lstStyle/>
                    <a:p>
                      <a:endParaRPr lang="en-US" sz="1800" dirty="0">
                        <a:latin typeface="Verdana" pitchFamily="34" charset="0"/>
                        <a:ea typeface="Verdana" pitchFamily="34" charset="0"/>
                      </a:endParaRPr>
                    </a:p>
                  </a:txBody>
                  <a:tcPr/>
                </a:tc>
                <a:tc>
                  <a:txBody>
                    <a:bodyPr/>
                    <a:lstStyle/>
                    <a:p>
                      <a:endParaRPr lang="en-US" sz="1800" dirty="0">
                        <a:latin typeface="Verdana" pitchFamily="34" charset="0"/>
                        <a:ea typeface="Verdana" pitchFamily="34"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34187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Name of the Presenter</a:t>
            </a:r>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3</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Title of Idea</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21" name="TextBox 20">
            <a:extLst>
              <a:ext uri="{FF2B5EF4-FFF2-40B4-BE49-F238E27FC236}">
                <a16:creationId xmlns:a16="http://schemas.microsoft.com/office/drawing/2014/main" id="{BE335F3C-F428-ED87-64FD-52E602C87D5A}"/>
              </a:ext>
            </a:extLst>
          </p:cNvPr>
          <p:cNvSpPr txBox="1"/>
          <p:nvPr/>
        </p:nvSpPr>
        <p:spPr>
          <a:xfrm>
            <a:off x="604887" y="1237657"/>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Faculty Mentor</a:t>
            </a:r>
            <a:endParaRPr lang="en-IN" sz="2400" b="1" dirty="0">
              <a:latin typeface="Verdana" panose="020B0604030504040204" pitchFamily="34" charset="0"/>
              <a:ea typeface="Verdana" panose="020B0604030504040204" pitchFamily="34" charset="0"/>
            </a:endParaRPr>
          </a:p>
        </p:txBody>
      </p:sp>
      <p:graphicFrame>
        <p:nvGraphicFramePr>
          <p:cNvPr id="22" name="Content Placeholder 3"/>
          <p:cNvGraphicFramePr>
            <a:graphicFrameLocks/>
          </p:cNvGraphicFramePr>
          <p:nvPr>
            <p:extLst>
              <p:ext uri="{D42A27DB-BD31-4B8C-83A1-F6EECF244321}">
                <p14:modId xmlns:p14="http://schemas.microsoft.com/office/powerpoint/2010/main" val="3515201729"/>
              </p:ext>
            </p:extLst>
          </p:nvPr>
        </p:nvGraphicFramePr>
        <p:xfrm>
          <a:off x="604887" y="2003003"/>
          <a:ext cx="10805304" cy="736600"/>
        </p:xfrm>
        <a:graphic>
          <a:graphicData uri="http://schemas.openxmlformats.org/drawingml/2006/table">
            <a:tbl>
              <a:tblPr firstRow="1" bandRow="1">
                <a:tableStyleId>{5C22544A-7EE6-4342-B048-85BDC9FD1C3A}</a:tableStyleId>
              </a:tblPr>
              <a:tblGrid>
                <a:gridCol w="4211501">
                  <a:extLst>
                    <a:ext uri="{9D8B030D-6E8A-4147-A177-3AD203B41FA5}">
                      <a16:colId xmlns:a16="http://schemas.microsoft.com/office/drawing/2014/main" val="20000"/>
                    </a:ext>
                  </a:extLst>
                </a:gridCol>
                <a:gridCol w="2773425">
                  <a:extLst>
                    <a:ext uri="{9D8B030D-6E8A-4147-A177-3AD203B41FA5}">
                      <a16:colId xmlns:a16="http://schemas.microsoft.com/office/drawing/2014/main" val="20001"/>
                    </a:ext>
                  </a:extLst>
                </a:gridCol>
                <a:gridCol w="3820378">
                  <a:extLst>
                    <a:ext uri="{9D8B030D-6E8A-4147-A177-3AD203B41FA5}">
                      <a16:colId xmlns:a16="http://schemas.microsoft.com/office/drawing/2014/main" val="20002"/>
                    </a:ext>
                  </a:extLst>
                </a:gridCol>
              </a:tblGrid>
              <a:tr h="0">
                <a:tc>
                  <a:txBody>
                    <a:bodyPr/>
                    <a:lstStyle/>
                    <a:p>
                      <a:r>
                        <a:rPr lang="en-US" sz="1800" b="1" dirty="0">
                          <a:solidFill>
                            <a:schemeClr val="bg1"/>
                          </a:solidFill>
                          <a:effectLst/>
                          <a:latin typeface="Verdana" pitchFamily="34" charset="0"/>
                          <a:ea typeface="Verdana" pitchFamily="34" charset="0"/>
                          <a:cs typeface="+mn-lt"/>
                        </a:rPr>
                        <a:t>Name</a:t>
                      </a:r>
                    </a:p>
                  </a:txBody>
                  <a:tcPr/>
                </a:tc>
                <a:tc>
                  <a:txBody>
                    <a:bodyPr/>
                    <a:lstStyle/>
                    <a:p>
                      <a:r>
                        <a:rPr lang="en-US" sz="1800" b="1" dirty="0">
                          <a:solidFill>
                            <a:schemeClr val="bg1"/>
                          </a:solidFill>
                          <a:effectLst/>
                          <a:latin typeface="Verdana" pitchFamily="34" charset="0"/>
                          <a:ea typeface="Verdana" pitchFamily="34" charset="0"/>
                          <a:cs typeface="+mn-lt"/>
                        </a:rPr>
                        <a:t>Designation</a:t>
                      </a:r>
                    </a:p>
                  </a:txBody>
                  <a:tcPr/>
                </a:tc>
                <a:tc>
                  <a:txBody>
                    <a:bodyPr/>
                    <a:lstStyle/>
                    <a:p>
                      <a:r>
                        <a:rPr lang="en-US" sz="1800" b="1" dirty="0">
                          <a:solidFill>
                            <a:schemeClr val="bg1"/>
                          </a:solidFill>
                          <a:effectLst/>
                          <a:latin typeface="Verdana" pitchFamily="34" charset="0"/>
                          <a:ea typeface="Verdana" pitchFamily="34" charset="0"/>
                          <a:cs typeface="+mn-lt"/>
                        </a:rPr>
                        <a:t>Department,</a:t>
                      </a:r>
                      <a:r>
                        <a:rPr lang="en-US" sz="1800" b="1" baseline="0" dirty="0">
                          <a:solidFill>
                            <a:schemeClr val="bg1"/>
                          </a:solidFill>
                          <a:effectLst/>
                          <a:latin typeface="Verdana" pitchFamily="34" charset="0"/>
                          <a:ea typeface="Verdana" pitchFamily="34" charset="0"/>
                          <a:cs typeface="+mn-lt"/>
                        </a:rPr>
                        <a:t> School</a:t>
                      </a:r>
                      <a:endParaRPr lang="en-US" sz="1800" b="1" dirty="0">
                        <a:solidFill>
                          <a:schemeClr val="bg1"/>
                        </a:solidFill>
                        <a:effectLst/>
                        <a:latin typeface="Verdana" pitchFamily="34" charset="0"/>
                        <a:ea typeface="Verdana" pitchFamily="34" charset="0"/>
                        <a:cs typeface="+mn-lt"/>
                      </a:endParaRPr>
                    </a:p>
                  </a:txBody>
                  <a:tcPr/>
                </a:tc>
                <a:extLst>
                  <a:ext uri="{0D108BD9-81ED-4DB2-BD59-A6C34878D82A}">
                    <a16:rowId xmlns:a16="http://schemas.microsoft.com/office/drawing/2014/main" val="10000"/>
                  </a:ext>
                </a:extLst>
              </a:tr>
              <a:tr h="370840">
                <a:tc>
                  <a:txBody>
                    <a:bodyPr/>
                    <a:lstStyle/>
                    <a:p>
                      <a:pPr marL="91440">
                        <a:lnSpc>
                          <a:spcPct val="100000"/>
                        </a:lnSpc>
                        <a:spcBef>
                          <a:spcPts val="385"/>
                        </a:spcBef>
                      </a:pPr>
                      <a:r>
                        <a:rPr sz="1800" spc="-55" dirty="0">
                          <a:latin typeface="Verdana"/>
                          <a:cs typeface="Verdana"/>
                        </a:rPr>
                        <a:t>Dr.</a:t>
                      </a:r>
                      <a:r>
                        <a:rPr sz="1800" spc="-65" dirty="0">
                          <a:latin typeface="Verdana"/>
                          <a:cs typeface="Verdana"/>
                        </a:rPr>
                        <a:t> </a:t>
                      </a:r>
                      <a:r>
                        <a:rPr sz="1800" dirty="0">
                          <a:latin typeface="Verdana"/>
                          <a:cs typeface="Verdana"/>
                        </a:rPr>
                        <a:t>Akhilesh</a:t>
                      </a:r>
                      <a:r>
                        <a:rPr sz="1800" spc="-90" dirty="0">
                          <a:latin typeface="Verdana"/>
                          <a:cs typeface="Verdana"/>
                        </a:rPr>
                        <a:t> </a:t>
                      </a:r>
                      <a:r>
                        <a:rPr sz="1800" spc="-10" dirty="0">
                          <a:latin typeface="Verdana"/>
                          <a:cs typeface="Verdana"/>
                        </a:rPr>
                        <a:t>Prajapati</a:t>
                      </a:r>
                      <a:endParaRPr sz="1800" dirty="0">
                        <a:latin typeface="Verdana"/>
                        <a:cs typeface="Verdana"/>
                      </a:endParaRPr>
                    </a:p>
                  </a:txBody>
                  <a:tcPr marL="0" marR="0" marT="48895" marB="0"/>
                </a:tc>
                <a:tc>
                  <a:txBody>
                    <a:bodyPr/>
                    <a:lstStyle/>
                    <a:p>
                      <a:pPr marL="95250">
                        <a:lnSpc>
                          <a:spcPct val="100000"/>
                        </a:lnSpc>
                        <a:spcBef>
                          <a:spcPts val="385"/>
                        </a:spcBef>
                      </a:pPr>
                      <a:r>
                        <a:rPr sz="1800" dirty="0">
                          <a:latin typeface="Verdana"/>
                          <a:cs typeface="Verdana"/>
                        </a:rPr>
                        <a:t>Assosiate</a:t>
                      </a:r>
                      <a:r>
                        <a:rPr sz="1800" spc="-60" dirty="0">
                          <a:latin typeface="Verdana"/>
                          <a:cs typeface="Verdana"/>
                        </a:rPr>
                        <a:t> </a:t>
                      </a:r>
                      <a:r>
                        <a:rPr sz="1800" spc="-10" dirty="0">
                          <a:latin typeface="Verdana"/>
                          <a:cs typeface="Verdana"/>
                        </a:rPr>
                        <a:t>Professor</a:t>
                      </a:r>
                      <a:endParaRPr sz="1800" dirty="0">
                        <a:latin typeface="Verdana"/>
                        <a:cs typeface="Verdana"/>
                      </a:endParaRPr>
                    </a:p>
                  </a:txBody>
                  <a:tcPr marL="0" marR="0" marT="48895" marB="0"/>
                </a:tc>
                <a:tc>
                  <a:txBody>
                    <a:bodyPr/>
                    <a:lstStyle/>
                    <a:p>
                      <a:pPr marL="97155">
                        <a:lnSpc>
                          <a:spcPct val="100000"/>
                        </a:lnSpc>
                        <a:spcBef>
                          <a:spcPts val="385"/>
                        </a:spcBef>
                      </a:pPr>
                      <a:r>
                        <a:rPr sz="1800" dirty="0">
                          <a:latin typeface="Verdana"/>
                          <a:cs typeface="Verdana"/>
                        </a:rPr>
                        <a:t>Life</a:t>
                      </a:r>
                      <a:r>
                        <a:rPr sz="1800" spc="-55" dirty="0">
                          <a:latin typeface="Verdana"/>
                          <a:cs typeface="Verdana"/>
                        </a:rPr>
                        <a:t> </a:t>
                      </a:r>
                      <a:r>
                        <a:rPr sz="1800" dirty="0">
                          <a:latin typeface="Verdana"/>
                          <a:cs typeface="Verdana"/>
                        </a:rPr>
                        <a:t>Science,</a:t>
                      </a:r>
                      <a:r>
                        <a:rPr sz="1800" spc="-45" dirty="0">
                          <a:latin typeface="Verdana"/>
                          <a:cs typeface="Verdana"/>
                        </a:rPr>
                        <a:t> </a:t>
                      </a:r>
                      <a:r>
                        <a:rPr sz="1800" dirty="0">
                          <a:latin typeface="Verdana"/>
                          <a:cs typeface="Verdana"/>
                        </a:rPr>
                        <a:t>School</a:t>
                      </a:r>
                      <a:r>
                        <a:rPr sz="1800" spc="-30" dirty="0">
                          <a:latin typeface="Verdana"/>
                          <a:cs typeface="Verdana"/>
                        </a:rPr>
                        <a:t> </a:t>
                      </a:r>
                      <a:r>
                        <a:rPr sz="1800" dirty="0">
                          <a:latin typeface="Verdana"/>
                          <a:cs typeface="Verdana"/>
                        </a:rPr>
                        <a:t>Of</a:t>
                      </a:r>
                      <a:r>
                        <a:rPr sz="1800" spc="-20" dirty="0">
                          <a:latin typeface="Verdana"/>
                          <a:cs typeface="Verdana"/>
                        </a:rPr>
                        <a:t> </a:t>
                      </a:r>
                      <a:r>
                        <a:rPr sz="1800" spc="-10" dirty="0">
                          <a:latin typeface="Verdana"/>
                          <a:cs typeface="Verdana"/>
                        </a:rPr>
                        <a:t>Science</a:t>
                      </a:r>
                      <a:endParaRPr sz="1800" dirty="0">
                        <a:latin typeface="Verdana"/>
                        <a:cs typeface="Verdana"/>
                      </a:endParaRPr>
                    </a:p>
                  </a:txBody>
                  <a:tcPr marL="0" marR="0" marT="48895"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6610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4</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247977"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Introduction of Tinkering Project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698638"/>
            <a:ext cx="11072283" cy="2811539"/>
          </a:xfrm>
          <a:prstGeom prst="rect">
            <a:avLst/>
          </a:prstGeom>
          <a:noFill/>
        </p:spPr>
        <p:txBody>
          <a:bodyPr wrap="square" rtlCol="0">
            <a:spAutoFit/>
          </a:bodyPr>
          <a:lstStyle/>
          <a:p>
            <a:pPr>
              <a:lnSpc>
                <a:spcPct val="150000"/>
              </a:lnSpc>
            </a:pPr>
            <a:r>
              <a:rPr lang="en-GB" sz="2000" b="1" dirty="0">
                <a:latin typeface="Verdana" pitchFamily="34" charset="0"/>
                <a:ea typeface="Verdana" pitchFamily="34" charset="0"/>
                <a:cs typeface="Calibri"/>
                <a:sym typeface="Calibri"/>
              </a:rPr>
              <a:t>Title of Tinkering Project: NUTRI-FRESH</a:t>
            </a:r>
          </a:p>
          <a:p>
            <a:pPr>
              <a:lnSpc>
                <a:spcPct val="150000"/>
              </a:lnSpc>
            </a:pPr>
            <a:r>
              <a:rPr lang="en-GB" sz="2000" b="1" dirty="0">
                <a:latin typeface="Verdana" pitchFamily="34" charset="0"/>
                <a:ea typeface="Verdana" pitchFamily="34" charset="0"/>
                <a:cs typeface="Calibri"/>
                <a:sym typeface="Calibri"/>
              </a:rPr>
              <a:t>Sector: AGRICULTURE TECHNOLOGY, PLANT BIOTECHNOLOGY</a:t>
            </a:r>
          </a:p>
          <a:p>
            <a:pPr>
              <a:lnSpc>
                <a:spcPct val="150000"/>
              </a:lnSpc>
            </a:pPr>
            <a:r>
              <a:rPr lang="en-GB" sz="2000" b="1" dirty="0">
                <a:latin typeface="Verdana" pitchFamily="34" charset="0"/>
                <a:ea typeface="Verdana" pitchFamily="34" charset="0"/>
                <a:cs typeface="Calibri"/>
                <a:sym typeface="Calibri"/>
              </a:rPr>
              <a:t>Brief: </a:t>
            </a:r>
            <a:r>
              <a:rPr lang="en-US" sz="2000" b="1" dirty="0"/>
              <a:t>Nutri-Fresh</a:t>
            </a:r>
            <a:r>
              <a:rPr lang="en-US" sz="2000" dirty="0"/>
              <a:t> is an agricultural technology initiative focused on developing a low-cost, space-efficient, and portable hydroponic system. Developed by a team of second-semester B.Sc. Biotechnology students, the project aims to bridge the gap between theoretical plant biology and practical, hands-on agricultural engineering.</a:t>
            </a:r>
            <a:endParaRPr lang="en-GB" sz="2000" b="1" dirty="0">
              <a:latin typeface="Verdana" pitchFamily="34" charset="0"/>
              <a:ea typeface="Verdana" pitchFamily="34" charset="0"/>
              <a:cs typeface="Calibri"/>
              <a:sym typeface="Calibri"/>
            </a:endParaRPr>
          </a:p>
        </p:txBody>
      </p:sp>
    </p:spTree>
    <p:extLst>
      <p:ext uri="{BB962C8B-B14F-4D97-AF65-F5344CB8AC3E}">
        <p14:creationId xmlns:p14="http://schemas.microsoft.com/office/powerpoint/2010/main" val="177475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5</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587024"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Methodology and Tinkering Process</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698638"/>
            <a:ext cx="11072283" cy="491738"/>
          </a:xfrm>
          <a:prstGeom prst="rect">
            <a:avLst/>
          </a:prstGeom>
          <a:noFill/>
        </p:spPr>
        <p:txBody>
          <a:bodyPr wrap="square" rtlCol="0">
            <a:spAutoFit/>
          </a:bodyPr>
          <a:lstStyle/>
          <a:p>
            <a:pPr>
              <a:lnSpc>
                <a:spcPct val="150000"/>
              </a:lnSpc>
            </a:pPr>
            <a:r>
              <a:rPr lang="en-GB" sz="2000" dirty="0">
                <a:latin typeface="Verdana" pitchFamily="34" charset="0"/>
                <a:ea typeface="Verdana" pitchFamily="34" charset="0"/>
                <a:cs typeface="Calibri"/>
                <a:sym typeface="Calibri"/>
              </a:rPr>
              <a:t> </a:t>
            </a:r>
          </a:p>
        </p:txBody>
      </p:sp>
      <p:sp>
        <p:nvSpPr>
          <p:cNvPr id="10" name="Rectangle 3">
            <a:extLst>
              <a:ext uri="{FF2B5EF4-FFF2-40B4-BE49-F238E27FC236}">
                <a16:creationId xmlns:a16="http://schemas.microsoft.com/office/drawing/2014/main" id="{93D109EA-D3E1-C8EE-E461-0840C4F49AED}"/>
              </a:ext>
            </a:extLst>
          </p:cNvPr>
          <p:cNvSpPr>
            <a:spLocks noChangeArrowheads="1"/>
          </p:cNvSpPr>
          <p:nvPr/>
        </p:nvSpPr>
        <p:spPr bwMode="auto">
          <a:xfrm rot="10800000" flipV="1">
            <a:off x="254833" y="1813535"/>
            <a:ext cx="109297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Project Approach:</a:t>
            </a:r>
            <a:r>
              <a:rPr kumimoji="0" lang="en-US" altLang="en-US" sz="1800" b="0" i="0" u="none" strike="noStrike" cap="none" normalizeH="0" baseline="0" dirty="0">
                <a:ln>
                  <a:noFill/>
                </a:ln>
                <a:solidFill>
                  <a:schemeClr val="tx1"/>
                </a:solidFill>
                <a:effectLst/>
                <a:latin typeface="Arial" panose="020B0604020202020204" pitchFamily="34" charset="0"/>
              </a:rPr>
              <a:t> The project adopts a soil-less agriculture approach, utilizing coco peat as the primary growing medium and fenugreek seeds.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Tinkering Journey (Iterative Process):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1:</a:t>
            </a:r>
            <a:r>
              <a:rPr kumimoji="0" lang="en-US" altLang="en-US" sz="1800" b="0" i="0" u="none" strike="noStrike" cap="none" normalizeH="0" baseline="0" dirty="0">
                <a:ln>
                  <a:noFill/>
                </a:ln>
                <a:solidFill>
                  <a:schemeClr val="tx1"/>
                </a:solidFill>
                <a:effectLst/>
                <a:latin typeface="Arial" panose="020B0604020202020204" pitchFamily="34" charset="0"/>
              </a:rPr>
              <a:t> Soaking and preparing the coco peat, and filling cups to place fenugreek seeds for germination.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2:</a:t>
            </a:r>
            <a:r>
              <a:rPr kumimoji="0" lang="en-US" altLang="en-US" sz="1800" b="0" i="0" u="none" strike="noStrike" cap="none" normalizeH="0" baseline="0" dirty="0">
                <a:ln>
                  <a:noFill/>
                </a:ln>
                <a:solidFill>
                  <a:schemeClr val="tx1"/>
                </a:solidFill>
                <a:effectLst/>
                <a:latin typeface="Arial" panose="020B0604020202020204" pitchFamily="34" charset="0"/>
              </a:rPr>
              <a:t> Arranging the container and lid by making precise holes for the plant cups to ensure proper fitting.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3:</a:t>
            </a:r>
            <a:r>
              <a:rPr kumimoji="0" lang="en-US" altLang="en-US" sz="1800" b="0" i="0" u="none" strike="noStrike" cap="none" normalizeH="0" baseline="0" dirty="0">
                <a:ln>
                  <a:noFill/>
                </a:ln>
                <a:solidFill>
                  <a:schemeClr val="tx1"/>
                </a:solidFill>
                <a:effectLst/>
                <a:latin typeface="Arial" panose="020B0604020202020204" pitchFamily="34" charset="0"/>
              </a:rPr>
              <a:t> Measuring and mixing the nutrient solution with water at the correct ratio.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4:</a:t>
            </a:r>
            <a:r>
              <a:rPr kumimoji="0" lang="en-US" altLang="en-US" sz="1800" b="0" i="0" u="none" strike="noStrike" cap="none" normalizeH="0" baseline="0" dirty="0">
                <a:ln>
                  <a:noFill/>
                </a:ln>
                <a:solidFill>
                  <a:schemeClr val="tx1"/>
                </a:solidFill>
                <a:effectLst/>
                <a:latin typeface="Arial" panose="020B0604020202020204" pitchFamily="34" charset="0"/>
              </a:rPr>
              <a:t> Transferring the seedlings into the setup, ensuring the roots touch the nutrient solution, and maintaining a regular watering schedule. </a:t>
            </a:r>
          </a:p>
          <a:p>
            <a:pPr lvl="0" eaLnBrk="0" fontAlgn="base" hangingPunct="0">
              <a:spcBef>
                <a:spcPct val="0"/>
              </a:spcBef>
              <a:spcAft>
                <a:spcPct val="0"/>
              </a:spcAft>
              <a:buFontTx/>
              <a:buChar char="•"/>
            </a:pPr>
            <a:r>
              <a:rPr lang="en-US" b="1" dirty="0"/>
              <a:t>Role of Mentoring:</a:t>
            </a:r>
            <a:r>
              <a:rPr lang="en-US" dirty="0"/>
              <a:t> Guided by Dr. Akhilesh Prajapati to monitor plant growth, sunlight exposure, and water levels effectively.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1954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a:xfrm>
            <a:off x="647700" y="6393060"/>
            <a:ext cx="2743200" cy="365125"/>
          </a:xfrm>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6</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372814" y="833297"/>
            <a:ext cx="10994322" cy="461665"/>
          </a:xfrm>
          <a:prstGeom prst="rect">
            <a:avLst/>
          </a:prstGeom>
          <a:noFill/>
        </p:spPr>
        <p:txBody>
          <a:bodyPr wrap="square" rtlCol="0">
            <a:spAutoFit/>
          </a:bodyPr>
          <a:lstStyle/>
          <a:p>
            <a:r>
              <a:rPr lang="en-GB" sz="2400" b="1" dirty="0">
                <a:latin typeface="Verdana" panose="020B0604030504040204" pitchFamily="34" charset="0"/>
                <a:ea typeface="Verdana" panose="020B0604030504040204" pitchFamily="34" charset="0"/>
              </a:rPr>
              <a:t>Tools and Technology Used</a:t>
            </a:r>
            <a:endParaRPr lang="en-IN" sz="2400" b="1" dirty="0">
              <a:latin typeface="Verdana" panose="020B0604030504040204" pitchFamily="34" charset="0"/>
              <a:ea typeface="Verdana" panose="020B0604030504040204" pitchFamily="34" charset="0"/>
            </a:endParaRPr>
          </a:p>
        </p:txBody>
      </p:sp>
      <p:sp>
        <p:nvSpPr>
          <p:cNvPr id="5" name="Rectangle 1">
            <a:extLst>
              <a:ext uri="{FF2B5EF4-FFF2-40B4-BE49-F238E27FC236}">
                <a16:creationId xmlns:a16="http://schemas.microsoft.com/office/drawing/2014/main" id="{E06E68DE-A2D4-54B8-E249-1A9395F8CF60}"/>
              </a:ext>
            </a:extLst>
          </p:cNvPr>
          <p:cNvSpPr>
            <a:spLocks noChangeArrowheads="1"/>
          </p:cNvSpPr>
          <p:nvPr/>
        </p:nvSpPr>
        <p:spPr bwMode="auto">
          <a:xfrm>
            <a:off x="372814" y="1630620"/>
            <a:ext cx="1079966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Growing Medium:</a:t>
            </a:r>
            <a:r>
              <a:rPr kumimoji="0" lang="en-US" altLang="en-US" sz="1800" b="0" i="0" u="none" strike="noStrike" cap="none" normalizeH="0" baseline="0" dirty="0">
                <a:ln>
                  <a:noFill/>
                </a:ln>
                <a:solidFill>
                  <a:schemeClr val="tx1"/>
                </a:solidFill>
                <a:effectLst/>
                <a:latin typeface="Arial" panose="020B0604020202020204" pitchFamily="34" charset="0"/>
              </a:rPr>
              <a:t> Coco peat is used as a soil substitute to provide excellent water retention and aeration for the roots.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Nutrient Solution:</a:t>
            </a:r>
            <a:r>
              <a:rPr kumimoji="0" lang="en-US" altLang="en-US" sz="1800" b="0" i="0" u="none" strike="noStrike" cap="none" normalizeH="0" baseline="0" dirty="0">
                <a:ln>
                  <a:noFill/>
                </a:ln>
                <a:solidFill>
                  <a:schemeClr val="tx1"/>
                </a:solidFill>
                <a:effectLst/>
                <a:latin typeface="Arial" panose="020B0604020202020204" pitchFamily="34" charset="0"/>
              </a:rPr>
              <a:t> A specialized liquid mix used to provide essential minerals directly to the plant roots for faster growth.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Hardware &amp; Accessories: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Thermocol</a:t>
            </a:r>
            <a:r>
              <a:rPr kumimoji="0" lang="en-US" altLang="en-US" sz="1800" b="0" i="0" u="none" strike="noStrike" cap="none" normalizeH="0" baseline="0" dirty="0">
                <a:ln>
                  <a:noFill/>
                </a:ln>
                <a:solidFill>
                  <a:schemeClr val="tx1"/>
                </a:solidFill>
                <a:effectLst/>
                <a:latin typeface="Arial" panose="020B0604020202020204" pitchFamily="34" charset="0"/>
              </a:rPr>
              <a:t> sheets and cutters to build the lightweight structural 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Plastic glasses to hold the individual plants.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 air pump to ensure the nutrient water remains oxygenated, preventing root rot.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spray bottle for surface-level moisture maintenance.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Environmental Requirements:</a:t>
            </a:r>
            <a:r>
              <a:rPr kumimoji="0" lang="en-US" altLang="en-US" sz="1800" b="0" i="0" u="none" strike="noStrike" cap="none" normalizeH="0" baseline="0" dirty="0">
                <a:ln>
                  <a:noFill/>
                </a:ln>
                <a:solidFill>
                  <a:schemeClr val="tx1"/>
                </a:solidFill>
                <a:effectLst/>
                <a:latin typeface="Arial" panose="020B0604020202020204" pitchFamily="34" charset="0"/>
              </a:rPr>
              <a:t> Placed in a well-ventilated area with adequate sunlight to facilitate photosynthesis. </a:t>
            </a:r>
          </a:p>
        </p:txBody>
      </p:sp>
    </p:spTree>
    <p:extLst>
      <p:ext uri="{BB962C8B-B14F-4D97-AF65-F5344CB8AC3E}">
        <p14:creationId xmlns:p14="http://schemas.microsoft.com/office/powerpoint/2010/main" val="3569065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7</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837232"/>
            <a:ext cx="6874700"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Project Outcome &amp; Development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698638"/>
            <a:ext cx="11072283" cy="491738"/>
          </a:xfrm>
          <a:prstGeom prst="rect">
            <a:avLst/>
          </a:prstGeom>
          <a:noFill/>
        </p:spPr>
        <p:txBody>
          <a:bodyPr wrap="square" rtlCol="0">
            <a:spAutoFit/>
          </a:bodyPr>
          <a:lstStyle/>
          <a:p>
            <a:pPr>
              <a:lnSpc>
                <a:spcPct val="150000"/>
              </a:lnSpc>
            </a:pPr>
            <a:endParaRPr lang="en-GB" sz="2000" dirty="0">
              <a:latin typeface="Verdana" pitchFamily="34" charset="0"/>
              <a:ea typeface="Verdana" pitchFamily="34" charset="0"/>
              <a:cs typeface="Calibri"/>
              <a:sym typeface="Calibri"/>
            </a:endParaRPr>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5066" y="209068"/>
            <a:ext cx="1136330" cy="360000"/>
          </a:xfrm>
          <a:prstGeom prst="rect">
            <a:avLst/>
          </a:prstGeom>
        </p:spPr>
      </p:pic>
      <p:sp>
        <p:nvSpPr>
          <p:cNvPr id="6" name="Rectangle 2">
            <a:extLst>
              <a:ext uri="{FF2B5EF4-FFF2-40B4-BE49-F238E27FC236}">
                <a16:creationId xmlns:a16="http://schemas.microsoft.com/office/drawing/2014/main" id="{6CB6F806-04EF-40A2-5DAD-50DAD3FFA5F2}"/>
              </a:ext>
            </a:extLst>
          </p:cNvPr>
          <p:cNvSpPr>
            <a:spLocks noChangeArrowheads="1"/>
          </p:cNvSpPr>
          <p:nvPr/>
        </p:nvSpPr>
        <p:spPr bwMode="auto">
          <a:xfrm>
            <a:off x="450774" y="1698638"/>
            <a:ext cx="10731839"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Use case:</a:t>
            </a:r>
            <a:r>
              <a:rPr kumimoji="0" lang="en-US" altLang="en-US" sz="1800" b="0" i="0" u="none" strike="noStrike" cap="none" normalizeH="0" baseline="0" dirty="0">
                <a:ln>
                  <a:noFill/>
                </a:ln>
                <a:solidFill>
                  <a:schemeClr val="tx1"/>
                </a:solidFill>
                <a:effectLst/>
                <a:latin typeface="Google Sans Text"/>
              </a:rPr>
              <a:t> A portable, power-free, and eco-friendly design ideal for urban environments or areas with poor soil quality.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Description of the Developed Outcome:</a:t>
            </a:r>
            <a:r>
              <a:rPr kumimoji="0" lang="en-US" altLang="en-US" sz="1800" b="0" i="0" u="none" strike="noStrike" cap="none" normalizeH="0" baseline="0" dirty="0">
                <a:ln>
                  <a:noFill/>
                </a:ln>
                <a:solidFill>
                  <a:schemeClr val="tx1"/>
                </a:solidFill>
                <a:effectLst/>
                <a:latin typeface="Google Sans Text"/>
              </a:rPr>
              <a:t> A low-cost, lightweight, and space-efficient hydroponic system that requires minimum effort to operate while yielding maximum output. The system successfully supports enhanced plant growth.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Development Process and Challenges:</a:t>
            </a:r>
            <a:r>
              <a:rPr kumimoji="0" lang="en-US" altLang="en-US" sz="1800" b="0" i="0" u="none" strike="noStrike" cap="none" normalizeH="0" baseline="0" dirty="0">
                <a:ln>
                  <a:noFill/>
                </a:ln>
                <a:solidFill>
                  <a:schemeClr val="tx1"/>
                </a:solidFill>
                <a:effectLst/>
                <a:latin typeface="Google Sans Text"/>
              </a:rPr>
              <a:t> Ensuring the exact ratio of the nutrient solution and managing the correct water levels so the roots do not drown or dry out. Cutting the </a:t>
            </a:r>
            <a:r>
              <a:rPr kumimoji="0" lang="en-US" altLang="en-US" sz="1800" b="0" i="0" u="none" strike="noStrike" cap="none" normalizeH="0" baseline="0" dirty="0" err="1">
                <a:ln>
                  <a:noFill/>
                </a:ln>
                <a:solidFill>
                  <a:schemeClr val="tx1"/>
                </a:solidFill>
                <a:effectLst/>
                <a:latin typeface="Google Sans Text"/>
              </a:rPr>
              <a:t>thermocol</a:t>
            </a:r>
            <a:r>
              <a:rPr kumimoji="0" lang="en-US" altLang="en-US" sz="1800" b="0" i="0" u="none" strike="noStrike" cap="none" normalizeH="0" baseline="0" dirty="0">
                <a:ln>
                  <a:noFill/>
                </a:ln>
                <a:solidFill>
                  <a:schemeClr val="tx1"/>
                </a:solidFill>
                <a:effectLst/>
                <a:latin typeface="Google Sans Text"/>
              </a:rPr>
              <a:t> sheets accurately to ensure the plastic cups fit snugly without falling through.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475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8</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Prototype Image/Video</a:t>
            </a:r>
            <a:endParaRPr lang="en-IN" sz="2400" b="1" dirty="0">
              <a:latin typeface="Verdana" panose="020B0604030504040204" pitchFamily="34" charset="0"/>
              <a:ea typeface="Verdana" panose="020B0604030504040204" pitchFamily="34" charset="0"/>
            </a:endParaRPr>
          </a:p>
        </p:txBody>
      </p:sp>
      <p:sp>
        <p:nvSpPr>
          <p:cNvPr id="6" name="Rectangle 5"/>
          <p:cNvSpPr/>
          <p:nvPr/>
        </p:nvSpPr>
        <p:spPr>
          <a:xfrm>
            <a:off x="654120" y="1842114"/>
            <a:ext cx="10790975" cy="1015663"/>
          </a:xfrm>
          <a:prstGeom prst="rect">
            <a:avLst/>
          </a:prstGeom>
        </p:spPr>
        <p:txBody>
          <a:bodyPr wrap="square">
            <a:spAutoFit/>
          </a:bodyPr>
          <a:lstStyle/>
          <a:p>
            <a:pPr>
              <a:lnSpc>
                <a:spcPct val="150000"/>
              </a:lnSpc>
            </a:pPr>
            <a:r>
              <a:rPr lang="en-GB" sz="2000" dirty="0">
                <a:latin typeface="Verdana" pitchFamily="34" charset="0"/>
                <a:ea typeface="Verdana" pitchFamily="34" charset="0"/>
              </a:rPr>
              <a:t>Images of Prototype / Diagrams of IT Module / Visuals of Business Model, Links to Video Demonstration (If applicable)</a:t>
            </a:r>
            <a:endParaRPr lang="en-IN" sz="2000" dirty="0">
              <a:latin typeface="Verdana" pitchFamily="34" charset="0"/>
              <a:ea typeface="Verdana" pitchFamily="34" charset="0"/>
            </a:endParaRPr>
          </a:p>
        </p:txBody>
      </p:sp>
    </p:spTree>
    <p:extLst>
      <p:ext uri="{BB962C8B-B14F-4D97-AF65-F5344CB8AC3E}">
        <p14:creationId xmlns:p14="http://schemas.microsoft.com/office/powerpoint/2010/main" val="177475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9</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Learning Outcome</a:t>
            </a:r>
            <a:endParaRPr lang="en-IN" sz="2400" b="1" dirty="0">
              <a:latin typeface="Verdana" panose="020B0604030504040204" pitchFamily="34" charset="0"/>
              <a:ea typeface="Verdana" panose="020B0604030504040204" pitchFamily="34" charset="0"/>
            </a:endParaRPr>
          </a:p>
        </p:txBody>
      </p:sp>
      <p:sp>
        <p:nvSpPr>
          <p:cNvPr id="6" name="Rectangle 2">
            <a:extLst>
              <a:ext uri="{FF2B5EF4-FFF2-40B4-BE49-F238E27FC236}">
                <a16:creationId xmlns:a16="http://schemas.microsoft.com/office/drawing/2014/main" id="{77A64963-02D8-8366-D7C5-C185730174C2}"/>
              </a:ext>
            </a:extLst>
          </p:cNvPr>
          <p:cNvSpPr>
            <a:spLocks noChangeArrowheads="1"/>
          </p:cNvSpPr>
          <p:nvPr/>
        </p:nvSpPr>
        <p:spPr bwMode="auto">
          <a:xfrm>
            <a:off x="388814" y="1370996"/>
            <a:ext cx="1031823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Technical/Conceptual Learning:</a:t>
            </a:r>
            <a:r>
              <a:rPr kumimoji="0" lang="en-US" altLang="en-US" sz="1800" b="0" i="0" u="none" strike="noStrike" cap="none" normalizeH="0" baseline="0">
                <a:ln>
                  <a:noFill/>
                </a:ln>
                <a:solidFill>
                  <a:schemeClr val="tx1"/>
                </a:solidFill>
                <a:effectLst/>
                <a:latin typeface="Arial" panose="020B0604020202020204" pitchFamily="34" charset="0"/>
              </a:rPr>
              <a:t> Gained practical understanding of hydroponic principles, plant nutrient uptake, and the biological requirements for seed germination without traditional soil.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Problem-Solving and Tinkering Skills Developed:</a:t>
            </a:r>
            <a:r>
              <a:rPr kumimoji="0" lang="en-US" altLang="en-US" sz="1800" b="0" i="0" u="none" strike="noStrike" cap="none" normalizeH="0" baseline="0">
                <a:ln>
                  <a:noFill/>
                </a:ln>
                <a:solidFill>
                  <a:schemeClr val="tx1"/>
                </a:solidFill>
                <a:effectLst/>
                <a:latin typeface="Arial" panose="020B0604020202020204" pitchFamily="34" charset="0"/>
              </a:rPr>
              <a:t> Learned to construct a functioning agricultural system out of accessible, low-cost everyday materials (thermocol, plastic cups) and balanced liquid chemical nutrients safely.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Teamwork and Collaboration:</a:t>
            </a:r>
            <a:r>
              <a:rPr kumimoji="0" lang="en-US" altLang="en-US" sz="1800" b="0" i="0" u="none" strike="noStrike" cap="none" normalizeH="0" baseline="0">
                <a:ln>
                  <a:noFill/>
                </a:ln>
                <a:solidFill>
                  <a:schemeClr val="tx1"/>
                </a:solidFill>
                <a:effectLst/>
                <a:latin typeface="Arial" panose="020B0604020202020204" pitchFamily="34" charset="0"/>
              </a:rPr>
              <a:t> Successfully divided a multi-step biological engineering project across 5 team members, coordinating tasks from medium preparation to final plant maintenance.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6625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10</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a:p>
              <a:endParaRPr lang="en-IN" dirty="0"/>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Conclusion &amp; Future Scope</a:t>
            </a:r>
            <a:endParaRPr lang="en-IN" sz="2400" b="1" dirty="0">
              <a:latin typeface="Verdana" panose="020B0604030504040204" pitchFamily="34" charset="0"/>
              <a:ea typeface="Verdana" panose="020B0604030504040204" pitchFamily="34" charset="0"/>
            </a:endParaRPr>
          </a:p>
        </p:txBody>
      </p:sp>
      <p:sp>
        <p:nvSpPr>
          <p:cNvPr id="5" name="Rectangle 1">
            <a:extLst>
              <a:ext uri="{FF2B5EF4-FFF2-40B4-BE49-F238E27FC236}">
                <a16:creationId xmlns:a16="http://schemas.microsoft.com/office/drawing/2014/main" id="{ADDE92E5-7406-1B75-61A3-A11033E6AB0C}"/>
              </a:ext>
            </a:extLst>
          </p:cNvPr>
          <p:cNvSpPr>
            <a:spLocks noChangeArrowheads="1"/>
          </p:cNvSpPr>
          <p:nvPr/>
        </p:nvSpPr>
        <p:spPr bwMode="auto">
          <a:xfrm rot="10800000" flipV="1">
            <a:off x="450774" y="1259070"/>
            <a:ext cx="875342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Conclusion and Summary of Achievements:</a:t>
            </a:r>
            <a:r>
              <a:rPr kumimoji="0" lang="en-US" altLang="en-US" sz="1800" b="0" i="0" u="none" strike="noStrike" cap="none" normalizeH="0" baseline="0" dirty="0">
                <a:ln>
                  <a:noFill/>
                </a:ln>
                <a:solidFill>
                  <a:schemeClr val="tx1"/>
                </a:solidFill>
                <a:effectLst/>
                <a:latin typeface="Arial" panose="020B0604020202020204" pitchFamily="34" charset="0"/>
              </a:rPr>
              <a:t> The Nutri-Fresh team successfully built an operational, space-efficient hydroponic system that validated the concept of minimum effort yielding maximum output.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 Enhancements and Applications:</a:t>
            </a:r>
            <a:r>
              <a:rPr kumimoji="0" lang="en-US" altLang="en-US" sz="1800" b="0" i="0" u="none" strike="noStrike" cap="none" normalizeH="0" baseline="0" dirty="0">
                <a:ln>
                  <a:noFill/>
                </a:ln>
                <a:solidFill>
                  <a:schemeClr val="tx1"/>
                </a:solidFill>
                <a:effectLst/>
                <a:latin typeface="Arial" panose="020B0604020202020204" pitchFamily="34" charset="0"/>
              </a:rPr>
              <a:t> Scaling the current prototype to grow a wider variety of crops (e.g., tomatoes, lettuce). Future iterations could integrate IoT sensors to automatically monitor water pH and nutrient levels, or use solar power to run the air pumps for a completely off-grid setup.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Reflection on the Project Experience:</a:t>
            </a:r>
            <a:r>
              <a:rPr kumimoji="0" lang="en-US" altLang="en-US" sz="1800" b="0" i="0" u="none" strike="noStrike" cap="none" normalizeH="0" baseline="0" dirty="0">
                <a:ln>
                  <a:noFill/>
                </a:ln>
                <a:solidFill>
                  <a:schemeClr val="tx1"/>
                </a:solidFill>
                <a:effectLst/>
                <a:latin typeface="Arial" panose="020B0604020202020204" pitchFamily="34" charset="0"/>
              </a:rPr>
              <a:t> The project effectively bridged the gap between theoretical botany/biotech concepts and hands-on agricultural engineering.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0541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a:p>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11</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NUTRI-FRESH</a:t>
              </a:r>
              <a:endParaRPr lang="en-IN" dirty="0">
                <a:solidFill>
                  <a:schemeClr val="tx1"/>
                </a:solidFill>
                <a:latin typeface="Verdana" pitchFamily="34" charset="0"/>
                <a:ea typeface="Verdana" pitchFamily="34" charset="0"/>
              </a:endParaRPr>
            </a:p>
            <a:p>
              <a:endParaRPr lang="en-IN" dirty="0"/>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1208547"/>
            <a:ext cx="10916362" cy="3785652"/>
          </a:xfrm>
          <a:prstGeom prst="rect">
            <a:avLst/>
          </a:prstGeom>
          <a:noFill/>
        </p:spPr>
        <p:txBody>
          <a:bodyPr wrap="square" rtlCol="0">
            <a:spAutoFit/>
          </a:bodyPr>
          <a:lstStyle/>
          <a:p>
            <a:pPr algn="ctr"/>
            <a:r>
              <a:rPr lang="en-GB" sz="2400" b="1" dirty="0">
                <a:latin typeface="Verdana" panose="020B0604030504040204" pitchFamily="34" charset="0"/>
                <a:ea typeface="Verdana" panose="020B0604030504040204" pitchFamily="34" charset="0"/>
              </a:rPr>
              <a:t>Do you want to apply for PoC/Prototype Development support under Students Startup and Innovation Policy (SSIP 2.0) under GUIITAR Council?</a:t>
            </a:r>
          </a:p>
          <a:p>
            <a:pPr algn="ctr"/>
            <a:endParaRPr lang="en-GB" sz="2400" b="1" dirty="0">
              <a:latin typeface="Verdana" panose="020B0604030504040204" pitchFamily="34" charset="0"/>
              <a:ea typeface="Verdana" panose="020B0604030504040204" pitchFamily="34" charset="0"/>
            </a:endParaRPr>
          </a:p>
          <a:p>
            <a:pPr algn="ctr"/>
            <a:endParaRPr lang="en-GB" sz="2400" b="1" dirty="0">
              <a:latin typeface="Verdana" panose="020B0604030504040204" pitchFamily="34" charset="0"/>
              <a:ea typeface="Verdana" panose="020B0604030504040204" pitchFamily="34" charset="0"/>
            </a:endParaRPr>
          </a:p>
          <a:p>
            <a:pPr algn="ctr"/>
            <a:r>
              <a:rPr lang="en-US" sz="2400" dirty="0"/>
              <a:t>Yes. Because the Nutri-Fresh prototype has Unique Selling Points (USPs) such as being low-cost, portable, and eco-friendly, it holds strong potential for commercialization as a consumer-friendly home gardening kit or an urban farming solution. Support from SSIP 2.0 would aid in upgrading the materials and developing a more durable market-ready prototype.</a:t>
            </a:r>
            <a:endParaRPr lang="en-IN" sz="24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44054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22A7-944B-E8BE-3E42-54DBD2B06B3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28F781D-E434-8188-39AD-C98FE71BF244}"/>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D3F201AC-A431-FBAE-774F-B9E359CD95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032FFB2B-1001-4F05-9548-E8962570D21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C78342AA-8AD8-31F9-791F-B79FF9EC15F7}"/>
              </a:ext>
            </a:extLst>
          </p:cNvPr>
          <p:cNvSpPr>
            <a:spLocks noGrp="1"/>
          </p:cNvSpPr>
          <p:nvPr>
            <p:ph type="sldNum" sz="quarter" idx="12"/>
          </p:nvPr>
        </p:nvSpPr>
        <p:spPr/>
        <p:txBody>
          <a:bodyPr/>
          <a:lstStyle/>
          <a:p>
            <a:fld id="{C9EED798-B2B7-453D-A02A-83F1CBF01642}" type="slidenum">
              <a:rPr lang="en-IN" smtClean="0">
                <a:solidFill>
                  <a:schemeClr val="tx1"/>
                </a:solidFill>
              </a:rPr>
              <a:t>12</a:t>
            </a:fld>
            <a:endParaRPr lang="en-IN">
              <a:solidFill>
                <a:schemeClr val="tx1"/>
              </a:solidFill>
            </a:endParaRPr>
          </a:p>
        </p:txBody>
      </p:sp>
      <p:sp>
        <p:nvSpPr>
          <p:cNvPr id="11" name="Date Placeholder 10">
            <a:extLst>
              <a:ext uri="{FF2B5EF4-FFF2-40B4-BE49-F238E27FC236}">
                <a16:creationId xmlns:a16="http://schemas.microsoft.com/office/drawing/2014/main" id="{7209BDFC-F87F-0AD3-0AD2-6D90EC65DA40}"/>
              </a:ext>
            </a:extLst>
          </p:cNvPr>
          <p:cNvSpPr>
            <a:spLocks noGrp="1"/>
          </p:cNvSpPr>
          <p:nvPr>
            <p:ph type="dt" sz="half" idx="10"/>
          </p:nvPr>
        </p:nvSpPr>
        <p:spPr/>
        <p:txBody>
          <a:bodyPr/>
          <a:lstStyle/>
          <a:p>
            <a:r>
              <a:rPr lang="en-IN" dirty="0">
                <a:solidFill>
                  <a:schemeClr val="tx1"/>
                </a:solidFill>
              </a:rPr>
              <a:t>05-05-2026</a:t>
            </a:r>
          </a:p>
          <a:p>
            <a:endParaRPr lang="en-IN" dirty="0">
              <a:solidFill>
                <a:schemeClr val="tx1"/>
              </a:solidFill>
            </a:endParaRPr>
          </a:p>
        </p:txBody>
      </p:sp>
      <p:sp>
        <p:nvSpPr>
          <p:cNvPr id="12" name="Footer Placeholder 11">
            <a:extLst>
              <a:ext uri="{FF2B5EF4-FFF2-40B4-BE49-F238E27FC236}">
                <a16:creationId xmlns:a16="http://schemas.microsoft.com/office/drawing/2014/main" id="{788F57B9-72F6-F8CD-7E20-C147544ECB69}"/>
              </a:ext>
            </a:extLst>
          </p:cNvPr>
          <p:cNvSpPr>
            <a:spLocks noGrp="1"/>
          </p:cNvSpPr>
          <p:nvPr>
            <p:ph type="ftr" sz="quarter" idx="11"/>
          </p:nvPr>
        </p:nvSpPr>
        <p:spPr/>
        <p:txBody>
          <a:bodyPr/>
          <a:lstStyle/>
          <a:p>
            <a:r>
              <a:rPr lang="en-US" dirty="0">
                <a:solidFill>
                  <a:schemeClr val="tx1"/>
                </a:solidFill>
              </a:rPr>
              <a:t>Naiya Patel</a:t>
            </a:r>
            <a:endParaRPr lang="en-IN" dirty="0">
              <a:solidFill>
                <a:schemeClr val="tx1"/>
              </a:solidFill>
            </a:endParaRPr>
          </a:p>
        </p:txBody>
      </p:sp>
      <p:grpSp>
        <p:nvGrpSpPr>
          <p:cNvPr id="16" name="Group 15">
            <a:extLst>
              <a:ext uri="{FF2B5EF4-FFF2-40B4-BE49-F238E27FC236}">
                <a16:creationId xmlns:a16="http://schemas.microsoft.com/office/drawing/2014/main" id="{3956432F-B09D-FA20-7755-3F884FC63554}"/>
              </a:ext>
            </a:extLst>
          </p:cNvPr>
          <p:cNvGrpSpPr/>
          <p:nvPr/>
        </p:nvGrpSpPr>
        <p:grpSpPr>
          <a:xfrm>
            <a:off x="450775" y="170727"/>
            <a:ext cx="3551249" cy="5467038"/>
            <a:chOff x="450775" y="170727"/>
            <a:chExt cx="3551249" cy="5467038"/>
          </a:xfrm>
        </p:grpSpPr>
        <p:sp>
          <p:nvSpPr>
            <p:cNvPr id="4" name="TextBox 3">
              <a:extLst>
                <a:ext uri="{FF2B5EF4-FFF2-40B4-BE49-F238E27FC236}">
                  <a16:creationId xmlns:a16="http://schemas.microsoft.com/office/drawing/2014/main" id="{7E47A91F-8F23-8FAE-598F-91984EEEDECC}"/>
                </a:ext>
              </a:extLst>
            </p:cNvPr>
            <p:cNvSpPr txBox="1"/>
            <p:nvPr/>
          </p:nvSpPr>
          <p:spPr>
            <a:xfrm>
              <a:off x="838200" y="5146027"/>
              <a:ext cx="3163824" cy="491738"/>
            </a:xfrm>
            <a:prstGeom prst="rect">
              <a:avLst/>
            </a:prstGeom>
            <a:noFill/>
          </p:spPr>
          <p:txBody>
            <a:bodyPr wrap="square" rtlCol="0">
              <a:spAutoFit/>
            </a:bodyPr>
            <a:lstStyle/>
            <a:p>
              <a:pPr>
                <a:lnSpc>
                  <a:spcPct val="150000"/>
                </a:lnSpc>
              </a:pPr>
              <a:r>
                <a:rPr lang="en-US" sz="2000" b="1" dirty="0">
                  <a:latin typeface="Verdana" panose="020B0604030504040204" pitchFamily="34" charset="0"/>
                  <a:ea typeface="Verdana" panose="020B0604030504040204" pitchFamily="34" charset="0"/>
                </a:rPr>
                <a:t>Thank You..</a:t>
              </a:r>
            </a:p>
          </p:txBody>
        </p:sp>
        <p:pic>
          <p:nvPicPr>
            <p:cNvPr id="2" name="Picture 1">
              <a:extLst>
                <a:ext uri="{FF2B5EF4-FFF2-40B4-BE49-F238E27FC236}">
                  <a16:creationId xmlns:a16="http://schemas.microsoft.com/office/drawing/2014/main" id="{6B42C481-7049-2649-C990-123E9D6EE6F9}"/>
                </a:ext>
              </a:extLst>
            </p:cNvPr>
            <p:cNvPicPr>
              <a:picLocks noChangeAspect="1"/>
            </p:cNvPicPr>
            <p:nvPr/>
          </p:nvPicPr>
          <p:blipFill rotWithShape="1">
            <a:blip r:embed="rId3"/>
            <a:srcRect t="27019" b="26058"/>
            <a:stretch/>
          </p:blipFill>
          <p:spPr>
            <a:xfrm>
              <a:off x="450775" y="170727"/>
              <a:ext cx="941559" cy="441809"/>
            </a:xfrm>
            <a:prstGeom prst="rect">
              <a:avLst/>
            </a:prstGeom>
          </p:spPr>
        </p:pic>
        <p:grpSp>
          <p:nvGrpSpPr>
            <p:cNvPr id="13" name="Group 12">
              <a:extLst>
                <a:ext uri="{FF2B5EF4-FFF2-40B4-BE49-F238E27FC236}">
                  <a16:creationId xmlns:a16="http://schemas.microsoft.com/office/drawing/2014/main" id="{4AF49D2F-1FD4-4CCE-B487-BBE0423B32FD}"/>
                </a:ext>
              </a:extLst>
            </p:cNvPr>
            <p:cNvGrpSpPr/>
            <p:nvPr/>
          </p:nvGrpSpPr>
          <p:grpSpPr>
            <a:xfrm>
              <a:off x="450775" y="5338110"/>
              <a:ext cx="338514" cy="212015"/>
              <a:chOff x="521095" y="429142"/>
              <a:chExt cx="463644" cy="290385"/>
            </a:xfrm>
            <a:solidFill>
              <a:srgbClr val="0DE5CB"/>
            </a:solidFill>
          </p:grpSpPr>
          <p:sp>
            <p:nvSpPr>
              <p:cNvPr id="14" name="Google Shape;59;p15">
                <a:extLst>
                  <a:ext uri="{FF2B5EF4-FFF2-40B4-BE49-F238E27FC236}">
                    <a16:creationId xmlns:a16="http://schemas.microsoft.com/office/drawing/2014/main" id="{4C7DBC1E-9F03-C501-03C4-40611332AF6C}"/>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60;p15">
                <a:extLst>
                  <a:ext uri="{FF2B5EF4-FFF2-40B4-BE49-F238E27FC236}">
                    <a16:creationId xmlns:a16="http://schemas.microsoft.com/office/drawing/2014/main" id="{43830E1C-48D8-36F4-42D1-F7CF813F028F}"/>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Tree>
    <p:extLst>
      <p:ext uri="{BB962C8B-B14F-4D97-AF65-F5344CB8AC3E}">
        <p14:creationId xmlns:p14="http://schemas.microsoft.com/office/powerpoint/2010/main" val="1257494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6368</TotalTime>
  <Words>1033</Words>
  <Application>Microsoft Office PowerPoint</Application>
  <PresentationFormat>Widescreen</PresentationFormat>
  <Paragraphs>174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Google Sans Text</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Koppula Santhosh Kumar</dc:creator>
  <cp:lastModifiedBy>musku3060@gmail.com</cp:lastModifiedBy>
  <cp:revision>98</cp:revision>
  <dcterms:created xsi:type="dcterms:W3CDTF">2021-10-26T04:13:36Z</dcterms:created>
  <dcterms:modified xsi:type="dcterms:W3CDTF">2026-05-04T18:42:08Z</dcterms:modified>
</cp:coreProperties>
</file>
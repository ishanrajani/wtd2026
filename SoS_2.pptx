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85" r:id="rId2"/>
    <p:sldId id="391" r:id="rId3"/>
    <p:sldId id="399" r:id="rId4"/>
    <p:sldId id="386" r:id="rId5"/>
    <p:sldId id="395" r:id="rId6"/>
    <p:sldId id="398" r:id="rId7"/>
    <p:sldId id="387" r:id="rId8"/>
    <p:sldId id="400" r:id="rId9"/>
    <p:sldId id="388" r:id="rId10"/>
    <p:sldId id="397" r:id="rId11"/>
    <p:sldId id="392" r:id="rId12"/>
    <p:sldId id="393" r:id="rId13"/>
    <p:sldId id="3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9F"/>
    <a:srgbClr val="2B08BE"/>
    <a:srgbClr val="3AF4DE"/>
    <a:srgbClr val="F38804"/>
    <a:srgbClr val="F088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47B6EB-0BB1-C32C-3B34-752451026B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Title of the Lecture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48683-8521-6073-2C81-F8520864A5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FDA0E-5E6C-4306-8AB2-29F8FCF3C958}" type="datetime1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2F20D1-16B4-9F7A-BB85-080E110D09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Name of the Faculty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AAA16-EDF6-9DF1-8EB7-35D30CF089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3E807-71D2-486E-AE16-CD1CC0E5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57366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Title of the Lecture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D3B07-1EF9-4F31-BBF9-B441EA500D2B}" type="datetime1">
              <a:rPr lang="en-IN" smtClean="0"/>
              <a:t>02-05-2026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Name of the Faculty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69606-77D1-4BD4-A656-2B410C8A8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21829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24CB7-D9CB-D7BC-38C5-22835B6B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202A9-CFBD-392A-C6FC-67244359A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F8034-DE1C-9354-4BA6-A58DEE95A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58762-1C39-7258-269A-53FB50055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1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6E8E4-77C3-303A-A331-63071D59DD9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DBC76F-BDC4-44EB-8BD4-FD1F3D45BCB7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7C3AE-2686-EC32-20B5-0EA9F47649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6EAC641E-5B23-4E69-10A1-43521E504C5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3119930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2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3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4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5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6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7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8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9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10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11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12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F88F-62E7-993B-CFCD-A8C938839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CDC8C-6ED8-1518-1EAE-6118A5049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A9FB8-A9E2-D872-BE7C-598738801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8BF31-DBA9-BF45-F5FB-597B7D697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13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A1DC6-60B9-69E4-B1F1-29CB6993AFE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C133B7E-50E6-4784-A0B7-BF133C708F0B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289E0-996E-38BE-B832-B1C3B7DBE1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BE124C92-91A2-E6BB-48C2-116B8FD18B6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881999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4DAE-F5C6-454D-AFDC-AAF396BA0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AA990-3EAF-4FF9-9555-29B5741C9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31E3E-4FE5-4F01-AAF8-CB614594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131B0-C9FB-4DD5-97EC-21EFEC10F4F4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3453-1038-4076-9DED-D2877394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4E3F0-76B7-4C43-9D85-E2E06EFF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917689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0E89-2983-4E1E-8AD3-4F82F0A4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2E7C4-B740-401D-A25D-37F187F64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1E203-F203-4711-B7A2-8F797C16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F8D-38DE-44ED-8E8F-F4480F209472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6852F-1A31-4CB3-B952-13DAB07C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7B306-A7A3-4335-A04F-7541869DA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998865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A19F-7442-4B68-B955-56F6B084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0CD2C-A48F-4775-B189-079352227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68908-A714-4228-A602-E7A357FF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0553-21AA-46C9-AB52-F50F6EEE2E62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287E-6268-4689-BFC0-A3E44DAF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CC483-A732-4FFA-8636-9E5E0375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39312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93186-7A7F-4819-B879-6631220F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7BA3E-E296-4A2F-BD81-158C0CA6B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20B82-4066-4E7E-A47A-797F200D6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A081E-F28F-448A-9D06-E308DE0BB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CD-D9E1-4E31-9980-5F3A894C2608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6A227-6F7B-4D0A-AC3F-0817DBE67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FDA79-7B9F-4F23-8932-9C89272C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5690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A54A-6C69-4D14-8EE5-067692CEE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2E6B3-A4FD-4B3B-ABFE-A0841309E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66EDD-FB5D-431C-850B-8141C7368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5FADE-8590-49B1-AF6E-1522EF4F1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82C5F-682A-4819-9789-3345121747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08900-84F2-442F-9178-183865D9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9F84-13A4-42C3-84B9-F21DB80BB174}" type="datetime1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30A47-A763-487C-8B06-98BAF442F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BD71BF-9A8B-41EA-A32A-76A5A05F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630628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BD9F-1469-41A5-9202-A0BA0296C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15A793-C7DE-407E-8328-496ADD262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D810A-866C-4043-9CBB-5ABA3F831B2D}" type="datetime1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00BE9-EEA0-4A26-9F1E-E7F9D1798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3D293-0ADA-48A5-B648-30CFFAEA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412645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89F29-E588-4C2A-8A95-62F572D18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E989-A332-410D-A8A6-532B1C75E2C4}" type="datetime1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A7526D-A567-4605-A7A9-135F95B0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1C8A3-0862-4EB5-AABC-A3085926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75954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4CB5-FA1C-4FC0-AD9B-86A482EC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AD36A-F712-4B95-A05A-260123906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D72EF-041F-42BF-9D8B-6654A5388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05025-346C-4E8E-8D28-42B0844CD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5F36-35FA-4268-A441-E6463EAA5FA4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BFF5B-58F9-427F-A2F5-A3D54513E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9F69D-DD1A-402C-944E-14126761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78566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2E9C-65CE-4BA4-85E8-BAEB5B101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D281C8-208E-4C02-9EF2-F49A49B50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21BD1-5B7F-4CBB-B585-DA93A56F8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87DE2-AE53-4247-A661-AD19B8921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1E1C-51D0-4C9B-85B0-695D92FD0D00}" type="datetime1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9459F-FB23-4534-A47C-E0AB046D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EF753-176A-4D74-A4D1-51910F5D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50590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DDD4F-88D8-4F72-B540-C533966A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0F988-6313-4F2F-843A-B5A382650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43F66-5829-46CF-B0B8-7641FB225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8E016-816A-462E-AFD6-EE852EADA12C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B28BB-7E22-4B05-A645-7481DC164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CA330-8AB6-49E9-862A-112EE7C3C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61533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47E5E0-A998-46A6-BCA4-83F3D1152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A3B42-B542-4BAA-92C4-925210EF2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29750-7E8E-4B6F-AFCF-BEAD1874B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57D-D3AE-45A1-AF16-9951E4A1A6C0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52F66-CAB7-4CAC-8C40-BE6B877E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6B8D6-A138-46E5-B006-AB4D1E3A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57405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BFB23A-58CF-456B-AB08-73729B667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0A73A-70C8-4162-B8EF-D65B849D0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B0888-81FA-465A-90E7-E59D17F1C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F3E9B-DCF6-460C-A298-894BB8D79EEF}" type="datetime1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B48A1-228A-48E5-955E-3CBA79661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395B7-BD3B-4473-B16F-5A7A3505B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85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tmp"/><Relationship Id="rId3" Type="http://schemas.openxmlformats.org/officeDocument/2006/relationships/image" Target="../media/image1.png"/><Relationship Id="rId7" Type="http://schemas.openxmlformats.org/officeDocument/2006/relationships/image" Target="../media/image8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tmp"/><Relationship Id="rId5" Type="http://schemas.openxmlformats.org/officeDocument/2006/relationships/image" Target="../media/image6.tmp"/><Relationship Id="rId4" Type="http://schemas.openxmlformats.org/officeDocument/2006/relationships/image" Target="../media/image5.tmp"/><Relationship Id="rId9" Type="http://schemas.openxmlformats.org/officeDocument/2006/relationships/image" Target="../media/image10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google.com/search?client=ms-android-vivo-terr1-rso2&amp;hs=ImO&amp;sca_esv=729a2d5b976b9e39&amp;sxsrf=ANbL-n5BbkQaK2nB16CXYNclrENtMZo6Cg:1776530237150&amp;udm=2&amp;fbs=ADc_l-aHJKCxetkbp8HihrVlWP2E1iNtw1c6Bqm2EL8gFYaWSYxrIPO0Uw9d1XjTJ7RJppJKRCzubuWABMtzDYJZwTlTqhqCv98YggpFCTMIa0qy_4bgUggaNKH0vxtO79W1aEDb6cWHVQkDptBf3VkSg0ozYd6RkW4h2B4c7rmzTnEsRfLF1VHx47XodDzroWmL2PpQHLu-cgVi_AYYil5ukA-Y4AoXCSv-pBh7zedYSawxByWJ7YU&amp;q=reusable+hand+warmers&amp;sa=X&amp;ved=2ahUKEwjbgN_t6veTAxUVcPUHHSpVJSwQtKgLegQIFhAB&amp;biw=392&amp;bih=758&amp;dpr=2.75#ip=1&amp;sv=CAMSVxoyKhBlLTE4am9xWlhZemc1bHRNMg4xOGpvcVpYWXpnNWx0TToObmpmSldQc1MyWUIwX00gBCoXCgFzEhBlLTE4am9xWlhZemc1bHRNGAEwAUoECAEQAhgHIKnStsMDSggQAhgBIAIoAQ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hyperlink" Target="https://www.google.com/search?client=ms-android-vivo-terr1-rso2&amp;hs=cRjp&amp;sca_esv=729a2d5b976b9e39&amp;sxsrf=ANbL-n6g80EfsCO30AAc2p31Pniq-psA8w:1776530355884&amp;udm=2&amp;fbs=ADc_l-ZMtfrlQ0SU6L2D0-D344flsprUi5NYvvJVflrdjdmmndzc87yxCU-u2_IZZ9ETkTNdPcVy6eKInZaxaHX9ndC8ftFG1RAVcS-DPb2pkC6gl9Y7RYCl5u7Ylgp83-XiOv79YsN0EakP-WOe20lwLUj_9nFINDFL3vpTxXsuOvAdpUWgg3ZpL4X1FmXaVoBbpno8Q9Yo_Efz0tNmVB83JEC_Ci7qoXl9rnOVOR5lG3urUPrlZDc&amp;q=sodium+acetate+trihydrate+crystallization&amp;sa=X&amp;ved=2ahUKEwjB-K2m6_eTAxVsh68BHZ-4M_8QtKgLegQIDxAB&amp;biw=392&amp;bih=758&amp;dpr=2.75#ip=1&amp;sv=CAMSVxoyKhBlLXphaWhIdERhR3dLbWJNMg56YWloSHREYUd3S21iTToOQzh5RmMyOERQT1BjWE0gBCoXCgFzEhBlLXphaWhIdERhR3dLbWJNGAEwAUoECAEQAhgHIJGMs9QDSggQAhgBIAIoAQ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ACEAD-96D3-A032-A33C-97C7C638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EDCE6FD-5F7E-8664-8ED3-31E895D52E72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B962B7-0060-92BF-D80F-8CA6E48E339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8589A71-20A6-497A-C266-A3AC590AC7BB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18D69F-ABE1-3E32-47BB-EE57D5B92537}"/>
              </a:ext>
            </a:extLst>
          </p:cNvPr>
          <p:cNvGrpSpPr/>
          <p:nvPr/>
        </p:nvGrpSpPr>
        <p:grpSpPr>
          <a:xfrm>
            <a:off x="529337" y="896634"/>
            <a:ext cx="10824463" cy="891025"/>
            <a:chOff x="529337" y="896634"/>
            <a:chExt cx="10824463" cy="89102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FFD4D94-F232-ACC0-A2EC-5563B02B32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529337" y="896634"/>
              <a:ext cx="1898904" cy="89102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CFC04D3-2649-B0B2-7F38-D5F9325C1352}"/>
                </a:ext>
              </a:extLst>
            </p:cNvPr>
            <p:cNvGrpSpPr/>
            <p:nvPr/>
          </p:nvGrpSpPr>
          <p:grpSpPr>
            <a:xfrm>
              <a:off x="11015286" y="1236138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F47F37F5-DC62-D5EC-D8A9-D6ECF2CE1ACF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DBEBAC3F-D050-3CB2-1635-06DD7FCB6AF4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" name="Rectangle 3"/>
          <p:cNvSpPr/>
          <p:nvPr/>
        </p:nvSpPr>
        <p:spPr>
          <a:xfrm>
            <a:off x="2653067" y="288643"/>
            <a:ext cx="70904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>
                <a:latin typeface="Verdana" pitchFamily="34" charset="0"/>
                <a:ea typeface="Verdana" pitchFamily="34" charset="0"/>
              </a:rPr>
              <a:t>Tinkering &amp; Mentoring - VACC 201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05467" y="1186543"/>
            <a:ext cx="599394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>
                <a:latin typeface="Verdana" pitchFamily="34" charset="0"/>
                <a:ea typeface="Verdana" pitchFamily="34" charset="0"/>
              </a:rPr>
              <a:t>Final Project Presentation &amp; </a:t>
            </a:r>
          </a:p>
          <a:p>
            <a:pPr algn="ctr"/>
            <a:r>
              <a:rPr lang="en-IN" sz="2800" b="1">
                <a:latin typeface="Verdana" pitchFamily="34" charset="0"/>
                <a:ea typeface="Verdana" pitchFamily="34" charset="0"/>
              </a:rPr>
              <a:t>Demonstration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E78DED0-2A03-65AD-7E05-0CCEFCAE696C}"/>
              </a:ext>
            </a:extLst>
          </p:cNvPr>
          <p:cNvGrpSpPr/>
          <p:nvPr/>
        </p:nvGrpSpPr>
        <p:grpSpPr>
          <a:xfrm>
            <a:off x="792021" y="2315724"/>
            <a:ext cx="10607958" cy="3813163"/>
            <a:chOff x="474537" y="2109499"/>
            <a:chExt cx="6985752" cy="40774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F62CC-1549-34C5-2BC7-8B32AAFDA013}"/>
                </a:ext>
              </a:extLst>
            </p:cNvPr>
            <p:cNvSpPr txBox="1"/>
            <p:nvPr/>
          </p:nvSpPr>
          <p:spPr>
            <a:xfrm>
              <a:off x="474537" y="2109499"/>
              <a:ext cx="6985752" cy="1974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latin typeface="Verdana" panose="020B0604030504040204" pitchFamily="34" charset="0"/>
                  <a:ea typeface="Verdana" panose="020B0604030504040204" pitchFamily="34" charset="0"/>
                </a:rPr>
                <a:t>TapTiff- Reusable self-heating tiffin </a:t>
              </a:r>
            </a:p>
            <a:p>
              <a:r>
                <a:rPr lang="en-US" b="1" dirty="0">
                  <a:solidFill>
                    <a:srgbClr val="00579F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Microwave ki chhutti, Tiffin ki duty!!</a:t>
              </a:r>
              <a:endParaRPr lang="en-IN" b="1" dirty="0">
                <a:solidFill>
                  <a:srgbClr val="00579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06FB617-A5E9-F51C-410F-70C063DC0BB1}"/>
                </a:ext>
              </a:extLst>
            </p:cNvPr>
            <p:cNvSpPr txBox="1"/>
            <p:nvPr/>
          </p:nvSpPr>
          <p:spPr>
            <a:xfrm>
              <a:off x="551738" y="4113590"/>
              <a:ext cx="3592475" cy="2073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dirty="0">
                  <a:latin typeface="Verdana" panose="020B0604030504040204" pitchFamily="34" charset="0"/>
                  <a:ea typeface="Verdana" panose="020B0604030504040204" pitchFamily="34" charset="0"/>
                </a:rPr>
                <a:t>Date (05/05/2026)</a:t>
              </a:r>
            </a:p>
            <a:p>
              <a:pPr>
                <a:lnSpc>
                  <a:spcPct val="150000"/>
                </a:lnSpc>
              </a:pPr>
              <a:r>
                <a:rPr lang="en-US" sz="1600" dirty="0">
                  <a:latin typeface="Verdana" panose="020B0604030504040204" pitchFamily="34" charset="0"/>
                  <a:ea typeface="Verdana" panose="020B0604030504040204" pitchFamily="34" charset="0"/>
                </a:rPr>
                <a:t>Name of the Presenter: Brahmbhatt Diya </a:t>
              </a:r>
            </a:p>
            <a:p>
              <a:pPr>
                <a:lnSpc>
                  <a:spcPct val="150000"/>
                </a:lnSpc>
              </a:pPr>
              <a:r>
                <a:rPr lang="en-US" sz="1600" dirty="0">
                  <a:latin typeface="Verdana" panose="020B0604030504040204" pitchFamily="34" charset="0"/>
                  <a:ea typeface="Verdana" panose="020B0604030504040204" pitchFamily="34" charset="0"/>
                </a:rPr>
                <a:t>Email Id: 25sc02009@gsfcuniversity.ac.in</a:t>
              </a:r>
            </a:p>
            <a:p>
              <a:pPr>
                <a:lnSpc>
                  <a:spcPct val="150000"/>
                </a:lnSpc>
              </a:pPr>
              <a:r>
                <a:rPr lang="en-US" sz="1600" dirty="0">
                  <a:latin typeface="Verdana" panose="020B0604030504040204" pitchFamily="34" charset="0"/>
                  <a:ea typeface="Verdana" panose="020B0604030504040204" pitchFamily="34" charset="0"/>
                </a:rPr>
                <a:t>Mobile No.: 7383034281</a:t>
              </a:r>
            </a:p>
            <a:p>
              <a:pPr>
                <a:lnSpc>
                  <a:spcPct val="150000"/>
                </a:lnSpc>
              </a:pPr>
              <a:r>
                <a:rPr lang="en-US" sz="1600" dirty="0">
                  <a:latin typeface="Verdana" panose="020B0604030504040204" pitchFamily="34" charset="0"/>
                  <a:ea typeface="Verdana" panose="020B0604030504040204" pitchFamily="34" charset="0"/>
                </a:rPr>
                <a:t>Faculty Mentor Name: Ms. Khushbu Verma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506FB617-A5E9-F51C-410F-70C063DC0BB1}"/>
              </a:ext>
            </a:extLst>
          </p:cNvPr>
          <p:cNvSpPr txBox="1"/>
          <p:nvPr/>
        </p:nvSpPr>
        <p:spPr>
          <a:xfrm>
            <a:off x="5556882" y="4119247"/>
            <a:ext cx="2836841" cy="1889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Team No.: SoS_ team 2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Semester: 2nd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Program: B.Sc Biotechnology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School: School of Science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F230EA-AE25-768E-633C-74C0EAB78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DD0D1D-FBC8-B753-EDCA-5FEA49B927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058" t="6585" r="30729" b="36703"/>
          <a:stretch/>
        </p:blipFill>
        <p:spPr>
          <a:xfrm>
            <a:off x="9222631" y="727567"/>
            <a:ext cx="1675425" cy="1657647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6F0D1160-8AFA-524F-C05A-A8FF115B45D4}"/>
              </a:ext>
            </a:extLst>
          </p:cNvPr>
          <p:cNvSpPr/>
          <p:nvPr/>
        </p:nvSpPr>
        <p:spPr>
          <a:xfrm>
            <a:off x="8808002" y="3932787"/>
            <a:ext cx="2926709" cy="2091321"/>
          </a:xfrm>
          <a:custGeom>
            <a:avLst/>
            <a:gdLst/>
            <a:ahLst/>
            <a:cxnLst/>
            <a:rect l="l" t="t" r="r" b="b"/>
            <a:pathLst>
              <a:path w="4122332" h="4171191">
                <a:moveTo>
                  <a:pt x="0" y="0"/>
                </a:moveTo>
                <a:lnTo>
                  <a:pt x="4122332" y="0"/>
                </a:lnTo>
                <a:lnTo>
                  <a:pt x="4122332" y="4171192"/>
                </a:lnTo>
                <a:lnTo>
                  <a:pt x="0" y="4171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1"/>
            </a:stretch>
          </a:blipFill>
        </p:spPr>
        <p:txBody>
          <a:bodyPr/>
          <a:lstStyle/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585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02-05-2026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2, Department of Life sciences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2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Reusable self-heating tiffin </a:t>
              </a:r>
              <a:endParaRPr lang="en-IN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4913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Verdana" panose="020B0604030504040204" pitchFamily="34" charset="0"/>
                <a:ea typeface="Verdana" panose="020B0604030504040204" pitchFamily="34" charset="0"/>
              </a:rPr>
              <a:t>Student Team</a:t>
            </a:r>
            <a:endParaRPr lang="en-IN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7053268"/>
              </p:ext>
            </p:extLst>
          </p:nvPr>
        </p:nvGraphicFramePr>
        <p:xfrm>
          <a:off x="457199" y="1600200"/>
          <a:ext cx="10673304" cy="2794445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688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6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164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Enrollment No.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Key Responsibility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Bodhwani Sanjay</a:t>
                      </a:r>
                      <a:endParaRPr lang="en-US" sz="18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25SC02007</a:t>
                      </a:r>
                      <a:endParaRPr lang="en-US" sz="18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sym typeface="Verdana"/>
                        </a:rPr>
                        <a:t>Research and product development </a:t>
                      </a:r>
                      <a:endParaRPr lang="en-US" sz="1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Borse Janvi</a:t>
                      </a:r>
                      <a:endParaRPr lang="en-US" sz="18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25SC02008</a:t>
                      </a:r>
                      <a:endParaRPr lang="en-US" sz="18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sym typeface="Verdana"/>
                        </a:rPr>
                        <a:t>Literature Review and Experiment Conduction</a:t>
                      </a:r>
                      <a:endParaRPr lang="en-US" sz="18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Brahmbhatt Diya</a:t>
                      </a:r>
                      <a:endParaRPr lang="en-US" sz="18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25SC02009</a:t>
                      </a:r>
                      <a:endParaRPr lang="en-US" sz="18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18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sym typeface="Verdana"/>
                        </a:rPr>
                        <a:t>Ideation, Review literature and development, Feedback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sym typeface="Verdana"/>
                        </a:rPr>
                        <a:t>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sym typeface="Verdana"/>
                        </a:rPr>
                        <a:t>from users</a:t>
                      </a:r>
                      <a:endParaRPr lang="en-US" sz="180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  <a:sym typeface="Verda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Chaturvedi Amrita </a:t>
                      </a:r>
                      <a:endParaRPr lang="en-US" sz="18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25SC02010</a:t>
                      </a:r>
                      <a:endParaRPr lang="en-US" sz="18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sym typeface="Verdana"/>
                        </a:rPr>
                        <a:t>Procurement of Raw Materials and Logistics</a:t>
                      </a:r>
                      <a:endParaRPr lang="en-US" sz="18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Chhatriwala Keya</a:t>
                      </a:r>
                      <a:endParaRPr lang="en-US" sz="18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25SC02011</a:t>
                      </a:r>
                      <a:endParaRPr lang="en-US" sz="18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sym typeface="Verdana"/>
                        </a:rPr>
                        <a:t>Literature Review, Research and Experiment Conduction</a:t>
                      </a:r>
                      <a:endParaRPr lang="en-US" sz="18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800"/>
                        <a:t>Dabgar Het</a:t>
                      </a:r>
                      <a:endParaRPr lang="en-US" sz="18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25SC02012</a:t>
                      </a:r>
                      <a:endParaRPr lang="en-US" sz="18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sym typeface="Verdana"/>
                        </a:rPr>
                        <a:t>Literature Review, Research and Experiment Conduction</a:t>
                      </a:r>
                      <a:endParaRPr lang="en-US" sz="1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18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02-05-2026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2, Department of Life sciences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3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Reusable self-heating tiffin </a:t>
              </a:r>
              <a:endParaRPr lang="en-IN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604887" y="1237657"/>
            <a:ext cx="4913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Verdana" panose="020B0604030504040204" pitchFamily="34" charset="0"/>
                <a:ea typeface="Verdana" panose="020B0604030504040204" pitchFamily="34" charset="0"/>
              </a:rPr>
              <a:t>Faculty Mentor</a:t>
            </a:r>
            <a:endParaRPr lang="en-IN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2337798"/>
              </p:ext>
            </p:extLst>
          </p:nvPr>
        </p:nvGraphicFramePr>
        <p:xfrm>
          <a:off x="604887" y="2003003"/>
          <a:ext cx="10805304" cy="7366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4211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0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Designation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Department,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effectLst/>
                        </a:rPr>
                        <a:t> School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000000"/>
                          </a:solidFill>
                          <a:sym typeface="Verdana Bold"/>
                        </a:rPr>
                        <a:t>Ms. Khushbu Verma</a:t>
                      </a:r>
                      <a:endParaRPr lang="en-US" sz="1800" b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000000"/>
                          </a:solidFill>
                          <a:sym typeface="Verdana Bold"/>
                        </a:rPr>
                        <a:t>Assistant Professor</a:t>
                      </a:r>
                      <a:endParaRPr lang="en-US" sz="1800" b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sym typeface="Verdana Bold"/>
                        </a:rPr>
                        <a:t>Life sciences, School of science (SOS)</a:t>
                      </a:r>
                      <a:endParaRPr lang="en-US" sz="1200" b="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104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02-05-2026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2, Department of Life sciences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4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Reusable self-heating tiffin </a:t>
              </a:r>
              <a:endParaRPr lang="en-IN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5" y="802487"/>
            <a:ext cx="6590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Introduction of Tinkering Project</a:t>
            </a:r>
            <a:endParaRPr lang="en-IN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7E836-D8C8-EA61-E710-C1C20A7E887B}"/>
              </a:ext>
            </a:extLst>
          </p:cNvPr>
          <p:cNvSpPr txBox="1"/>
          <p:nvPr/>
        </p:nvSpPr>
        <p:spPr>
          <a:xfrm>
            <a:off x="462592" y="1323886"/>
            <a:ext cx="11649786" cy="1239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Verdana" pitchFamily="34" charset="0"/>
                <a:ea typeface="Verdana" pitchFamily="34" charset="0"/>
                <a:cs typeface="Calibri"/>
                <a:sym typeface="Calibri"/>
              </a:rPr>
              <a:t>Title of Tinkering Project: </a:t>
            </a:r>
            <a:r>
              <a:rPr lang="en-US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Reusable Self-Heating Tiffin Using Sodium Acetate Crystallization</a:t>
            </a:r>
            <a:endParaRPr lang="en-GB" b="1" dirty="0">
              <a:latin typeface="Verdana" pitchFamily="34" charset="0"/>
              <a:ea typeface="Verdana" pitchFamily="34" charset="0"/>
              <a:cs typeface="Calibri"/>
              <a:sym typeface="Calibri"/>
            </a:endParaRPr>
          </a:p>
          <a:p>
            <a:pPr marL="285750" indent="-285750" algn="just">
              <a:lnSpc>
                <a:spcPts val="2879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Verdana" pitchFamily="34" charset="0"/>
                <a:ea typeface="Verdana" pitchFamily="34" charset="0"/>
                <a:cs typeface="Calibri"/>
                <a:sym typeface="Calibri"/>
              </a:rPr>
              <a:t>Sector:</a:t>
            </a:r>
            <a:r>
              <a:rPr lang="en-US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Food Technology and Thermal Energy Storage</a:t>
            </a:r>
            <a:endParaRPr lang="en-GB" b="1" dirty="0">
              <a:latin typeface="Verdana" pitchFamily="34" charset="0"/>
              <a:ea typeface="Verdana" pitchFamily="34" charset="0"/>
              <a:cs typeface="Calibri"/>
              <a:sym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b="1" dirty="0">
              <a:latin typeface="Verdana" pitchFamily="34" charset="0"/>
              <a:ea typeface="Verdana" pitchFamily="34" charset="0"/>
              <a:cs typeface="Calibri"/>
              <a:sym typeface="Calibri"/>
            </a:endParaRPr>
          </a:p>
        </p:txBody>
      </p:sp>
      <p:graphicFrame>
        <p:nvGraphicFramePr>
          <p:cNvPr id="5" name="Table 17">
            <a:extLst>
              <a:ext uri="{FF2B5EF4-FFF2-40B4-BE49-F238E27FC236}">
                <a16:creationId xmlns:a16="http://schemas.microsoft.com/office/drawing/2014/main" id="{FB3F6D04-98E6-7366-FCFF-96BA4B704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402198"/>
              </p:ext>
            </p:extLst>
          </p:nvPr>
        </p:nvGraphicFramePr>
        <p:xfrm>
          <a:off x="881600" y="2221768"/>
          <a:ext cx="10302943" cy="412913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365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895">
                  <a:extLst>
                    <a:ext uri="{9D8B030D-6E8A-4147-A177-3AD203B41FA5}">
                      <a16:colId xmlns:a16="http://schemas.microsoft.com/office/drawing/2014/main" val="3046979679"/>
                    </a:ext>
                  </a:extLst>
                </a:gridCol>
              </a:tblGrid>
              <a:tr h="490180">
                <a:tc>
                  <a:txBody>
                    <a:bodyPr/>
                    <a:lstStyle/>
                    <a:p>
                      <a:pPr algn="ctr">
                        <a:lnSpc>
                          <a:spcPts val="3239"/>
                        </a:lnSpc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 Bold"/>
                        </a:rPr>
                        <a:t>Background of the project                          </a:t>
                      </a:r>
                      <a:endParaRPr lang="en-US" sz="16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8384" marR="48384" marT="48384" marB="48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39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 Bold"/>
                        </a:rPr>
                        <a:t>Problem statement </a:t>
                      </a:r>
                      <a:endParaRPr lang="en-US" sz="16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8384" marR="48384" marT="48384" marB="48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39"/>
                        </a:lnSpc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Proposed Approach </a:t>
                      </a:r>
                    </a:p>
                  </a:txBody>
                  <a:tcPr marL="48384" marR="48384" marT="48384" marB="48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 Bold"/>
                        </a:rPr>
                        <a:t>Importance/Relevance of the problem </a:t>
                      </a:r>
                      <a:endParaRPr lang="en-US" sz="16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8384" marR="48384" marT="48384" marB="4838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728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ts val="2517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"/>
                        </a:rPr>
                        <a:t>Students, office-goers, and field workers rely on packed meals.</a:t>
                      </a:r>
                      <a:endParaRPr lang="en-US" sz="16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285750" indent="-285750" algn="l">
                        <a:lnSpc>
                          <a:spcPts val="2517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"/>
                        </a:rPr>
                        <a:t>Long travel &amp; irregular schedules lead to cold food.</a:t>
                      </a:r>
                    </a:p>
                    <a:p>
                      <a:pPr marL="285750" indent="-285750" algn="l">
                        <a:lnSpc>
                          <a:spcPts val="251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"/>
                        </a:rPr>
                        <a:t>Limited access to reheating devices while commuting.</a:t>
                      </a:r>
                      <a:endParaRPr lang="en-US" sz="160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  <a:sym typeface="Verdana"/>
                      </a:endParaRPr>
                    </a:p>
                  </a:txBody>
                  <a:tcPr marL="48384" marR="48384" marT="48384" marB="48384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ts val="2517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"/>
                        </a:rPr>
                        <a:t>Need for a portable, safe, reusable self-heating tiffin.</a:t>
                      </a:r>
                      <a:endParaRPr lang="en-US" sz="16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285750" indent="-285750" algn="l">
                        <a:lnSpc>
                          <a:spcPts val="251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"/>
                        </a:rPr>
                        <a:t>Should work without electricity or gas.</a:t>
                      </a:r>
                    </a:p>
                    <a:p>
                      <a:pPr marL="285750" indent="-285750" algn="l">
                        <a:lnSpc>
                          <a:spcPts val="251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"/>
                        </a:rPr>
                        <a:t>Must maintain food safety and quality.</a:t>
                      </a:r>
                      <a:endParaRPr lang="en-US" sz="160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  <a:sym typeface="Verdana"/>
                      </a:endParaRPr>
                    </a:p>
                  </a:txBody>
                  <a:tcPr marL="48384" marR="48384" marT="48384" marB="48384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ts val="251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"/>
                        </a:rPr>
                        <a:t>Availability of reusable heat-generating materials (PCMs)  Scope to integrate controlled exothermic reactions Potential for eco-friendly, cost-effective design.</a:t>
                      </a:r>
                      <a:endParaRPr lang="en-US" sz="16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8384" marR="48384" marT="48384" marB="48384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ts val="230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"/>
                        </a:rPr>
                        <a:t>Improves comfort and food hygiene on the go </a:t>
                      </a:r>
                    </a:p>
                    <a:p>
                      <a:pPr marL="285750" indent="-285750" algn="l">
                        <a:lnSpc>
                          <a:spcPts val="230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"/>
                        </a:rPr>
                        <a:t>Reduces dependence on electricity &amp; single-use heaters.</a:t>
                      </a:r>
                    </a:p>
                    <a:p>
                      <a:pPr marL="285750" indent="-285750" algn="l">
                        <a:lnSpc>
                          <a:spcPts val="230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"/>
                        </a:rPr>
                        <a:t>Promotes sustainable product design.</a:t>
                      </a:r>
                    </a:p>
                    <a:p>
                      <a:pPr marL="285750" indent="-285750" algn="l">
                        <a:lnSpc>
                          <a:spcPts val="230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"/>
                        </a:rPr>
                        <a:t>Useful for workers, travelers &amp; emergency </a:t>
                      </a:r>
                      <a:r>
                        <a:rPr lang="en-US" sz="1600" kern="1200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sym typeface="Verdana"/>
                        </a:rPr>
                        <a:t>use.</a:t>
                      </a:r>
                      <a:endParaRPr lang="en-US" sz="1600" kern="1200" dirty="0">
                        <a:solidFill>
                          <a:srgbClr val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48384" marR="48384" marT="48384" marB="483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75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02-05-2026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2, Department of Life sciences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5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Reusable self-heating tiffin </a:t>
              </a:r>
              <a:endParaRPr lang="en-IN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6587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Verdana" panose="020B0604030504040204" pitchFamily="34" charset="0"/>
                <a:ea typeface="Verdana" panose="020B0604030504040204" pitchFamily="34" charset="0"/>
              </a:rPr>
              <a:t>Methodology and Tinkering Process</a:t>
            </a:r>
            <a:endParaRPr lang="en-IN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7E836-D8C8-EA61-E710-C1C20A7E887B}"/>
              </a:ext>
            </a:extLst>
          </p:cNvPr>
          <p:cNvSpPr txBox="1"/>
          <p:nvPr/>
        </p:nvSpPr>
        <p:spPr>
          <a:xfrm>
            <a:off x="450774" y="1441749"/>
            <a:ext cx="11072283" cy="419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Preparation of supersaturated sodium acetate solution by dissolving sodium acetate in hot distilled water (~80–90°C).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Ensuring complete dissolution to obtain a clear homogeneous solution.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Hot filtration (if required) to remove impurities and prevent premature nucleation.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Controlled undisturbed cooling to achieve a metastable supersaturated state.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Transfer of solution into a heat-resistant pouch (≈200 micron).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Incorporation of a metal trigger mechanism for controlled nucleation.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Sealing of pouch to make it leak-proof and portable.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Activation by mechanical triggering, initiating crystallization and heat release.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Evaluation of heat output and efficiency for food warming application.</a:t>
            </a:r>
            <a:endParaRPr lang="en-GB" dirty="0">
              <a:latin typeface="Verdana" pitchFamily="34" charset="0"/>
              <a:ea typeface="Verdana" pitchFamily="34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1954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02-05-2026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2, Department of Life sciences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6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Reusable self-heating tiffin </a:t>
              </a:r>
              <a:endParaRPr lang="en-IN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10994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latin typeface="Verdana" panose="020B0604030504040204" pitchFamily="34" charset="0"/>
                <a:ea typeface="Verdana" panose="020B0604030504040204" pitchFamily="34" charset="0"/>
              </a:rPr>
              <a:t>Tools and Technology Used</a:t>
            </a:r>
            <a:endParaRPr lang="en-IN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7E836-D8C8-EA61-E710-C1C20A7E887B}"/>
              </a:ext>
            </a:extLst>
          </p:cNvPr>
          <p:cNvSpPr txBox="1"/>
          <p:nvPr/>
        </p:nvSpPr>
        <p:spPr>
          <a:xfrm>
            <a:off x="559859" y="1420229"/>
            <a:ext cx="5455940" cy="4606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Verdana" pitchFamily="34" charset="0"/>
                <a:ea typeface="Verdana" pitchFamily="34" charset="0"/>
              </a:rPr>
              <a:t>Tools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Weighing balance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 Magnetic Stirrer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Waterbath and Refrigerator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Glass wares (beaker, glass rod, measuring cylinder)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Verdana" pitchFamily="34" charset="0"/>
              <a:ea typeface="Verdana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Verdana" pitchFamily="34" charset="0"/>
                <a:ea typeface="Verdana" pitchFamily="34" charset="0"/>
              </a:rPr>
              <a:t>Technology Used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Exothermic crystallization process
Supersaturation technique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DE2D7F-5EDB-5970-C9FA-58354243DD1D}"/>
              </a:ext>
            </a:extLst>
          </p:cNvPr>
          <p:cNvSpPr txBox="1"/>
          <p:nvPr/>
        </p:nvSpPr>
        <p:spPr>
          <a:xfrm>
            <a:off x="6975635" y="976876"/>
            <a:ext cx="4908191" cy="3360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Verdana" pitchFamily="34" charset="0"/>
              <a:ea typeface="Verdana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Verdana" pitchFamily="34" charset="0"/>
                <a:ea typeface="Verdana" pitchFamily="34" charset="0"/>
              </a:rPr>
              <a:t>Materials / Chemicals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Sodium Acetate Anhydrous 
Distilled water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Metal Plate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</a:rPr>
              <a:t>Silicon Ziplock bag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Verdana" pitchFamily="34" charset="0"/>
              <a:ea typeface="Verdana" pitchFamily="34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06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02-05-2026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2, Department of Life sciences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7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Reusable self-heating tiffin </a:t>
              </a:r>
              <a:endParaRPr lang="en-IN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601250" y="804919"/>
            <a:ext cx="687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Verdana" panose="020B0604030504040204" pitchFamily="34" charset="0"/>
                <a:ea typeface="Verdana" panose="020B0604030504040204" pitchFamily="34" charset="0"/>
              </a:rPr>
              <a:t>Project Outcome &amp; Development</a:t>
            </a:r>
            <a:endParaRPr lang="en-IN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7E836-D8C8-EA61-E710-C1C20A7E887B}"/>
              </a:ext>
            </a:extLst>
          </p:cNvPr>
          <p:cNvSpPr txBox="1"/>
          <p:nvPr/>
        </p:nvSpPr>
        <p:spPr>
          <a:xfrm>
            <a:off x="560501" y="1294096"/>
            <a:ext cx="11072283" cy="419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  <a:cs typeface="Calibri"/>
                <a:sym typeface="Calibri"/>
              </a:rPr>
              <a:t>Successfully developed a reusable self-heating system using supersaturated sodium acetate.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  <a:cs typeface="Calibri"/>
                <a:sym typeface="Calibri"/>
              </a:rPr>
              <a:t>Achieved controlled heat generation (~40 kJ) through crystallization.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  <a:cs typeface="Calibri"/>
                <a:sym typeface="Calibri"/>
              </a:rPr>
              <a:t>Demonstrated effective temperature rise (~15–20°C) for food warming.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  <a:cs typeface="Calibri"/>
                <a:sym typeface="Calibri"/>
              </a:rPr>
              <a:t>Designed a portable and lightweight heating pouch (~150 g).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  <a:cs typeface="Calibri"/>
                <a:sym typeface="Calibri"/>
              </a:rPr>
              <a:t>Established a safe and user-friendly activation mechanism (metal trigger).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  <a:cs typeface="Calibri"/>
                <a:sym typeface="Calibri"/>
              </a:rPr>
              <a:t>Proved reusability through reheating and repeated cycles.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  <a:cs typeface="Calibri"/>
                <a:sym typeface="Calibri"/>
              </a:rPr>
              <a:t>Identified key factors affecting performance (heat loss, nucleation control, insulation).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  <a:cs typeface="Calibri"/>
                <a:sym typeface="Calibri"/>
              </a:rPr>
              <a:t>Proposed an eco-friendly alternative to conventional heating methods.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  <a:cs typeface="Calibri"/>
                <a:sym typeface="Calibri"/>
              </a:rPr>
              <a:t>Gained practical understanding of supersaturation and nucleation concepts.</a:t>
            </a:r>
            <a:endParaRPr lang="en-GB" dirty="0">
              <a:latin typeface="Verdana" pitchFamily="34" charset="0"/>
              <a:ea typeface="Verdana" pitchFamily="34" charset="0"/>
              <a:cs typeface="Calibri"/>
              <a:sym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66" y="209068"/>
            <a:ext cx="113633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750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02-05-2026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2, Department of Life sciences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8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Reusable self-heating tiffin </a:t>
              </a:r>
              <a:endParaRPr lang="en-IN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921554" y="861195"/>
            <a:ext cx="4913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Verdana" panose="020B0604030504040204" pitchFamily="34" charset="0"/>
                <a:ea typeface="Verdana" panose="020B0604030504040204" pitchFamily="34" charset="0"/>
              </a:rPr>
              <a:t>Prototype Images</a:t>
            </a:r>
            <a:endParaRPr lang="en-IN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3F94C-FC4F-E6B1-E7DE-9E5F825942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72411" y="4370909"/>
            <a:ext cx="3006039" cy="17156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0DCDD0-3977-071A-D8F5-595932C736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86966" y="1428086"/>
            <a:ext cx="2091440" cy="2758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3D50D7-DB04-A098-DB6F-B96A198FA4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 rot="16200000">
            <a:off x="8846540" y="1182138"/>
            <a:ext cx="2565620" cy="31966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B599A7-84C5-16C9-5CE4-ABC89BA1C3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913058" y="1463547"/>
            <a:ext cx="2001964" cy="26692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B4E781-255C-FAB0-23C5-4D8EF2500E8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276979" y="1497647"/>
            <a:ext cx="1924217" cy="256562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F4C001C-B196-6292-632C-D6880643D25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582110" y="4347463"/>
            <a:ext cx="3143419" cy="178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90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02-05-2026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2, Department of Life sciences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9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Reusable self-heating tiffin </a:t>
              </a:r>
              <a:endParaRPr lang="en-IN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921554" y="861195"/>
            <a:ext cx="4913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Verdana" panose="020B0604030504040204" pitchFamily="34" charset="0"/>
                <a:ea typeface="Verdana" panose="020B0604030504040204" pitchFamily="34" charset="0"/>
              </a:rPr>
              <a:t>Prototype Images</a:t>
            </a:r>
            <a:endParaRPr lang="en-IN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45D62-C804-C7ED-6384-A9B7522A15F6}"/>
              </a:ext>
            </a:extLst>
          </p:cNvPr>
          <p:cNvSpPr txBox="1"/>
          <p:nvPr/>
        </p:nvSpPr>
        <p:spPr>
          <a:xfrm>
            <a:off x="824864" y="4119216"/>
            <a:ext cx="4634621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1" u="none" strike="noStrike" baseline="0" dirty="0">
                <a:latin typeface="Verdana" panose="020B0604030504040204" pitchFamily="34" charset="0"/>
                <a:ea typeface="Verdana" panose="020B0604030504040204" pitchFamily="34" charset="0"/>
              </a:rPr>
              <a:t>Reference: </a:t>
            </a:r>
            <a:r>
              <a:rPr lang="en-US" sz="900" b="0" i="1" u="none" strike="noStrike" baseline="0" dirty="0"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https://www.google.com/search?client=ms-android-vivo-terr1-rso2&amp;hs=cRjp&amp;sca_esv=729a2d5b976b9e39&amp;sxsrf=ANbL-n6g80EfsCO30AAc2p31Pniq-psA8w:1776530355884&amp;udm=2&amp;fbs=ADc_l-ZMtfrlQ0SU6L2D0-D344flsprUi5NYvvJVflrdjdmmndzc87yxCU-u2_IZZ9ETkTNdPcVy6eKInZaxaHX9ndC8ftFG1RAVcS-DPb2pkC6gl9Y7RYCl5u7Ylgp83-XiOv79YsN0EakP-WOe20lwLUj_9nFINDFL3vpTxXsuOvAdpUWgg3ZpL4X1FmXaVoBbpno8Q9Yo_Efz0tNmVB83JEC_Ci7qoXl9rnOVOR5lG3urUPrlZDc&amp;q=sodium+acetate+trihydrate+crystallization&amp;sa=X&amp;ved=2ahUKEwjB-K2m6_eTAxVsh68BHZ-4M_8QtKgLegQIDxAB&amp;biw=392&amp;bih=758&amp;dpr=2.75#ip=1&amp;sv=CAMSVxoyKhBlLXphaWhIdERhR3dLbWJNMg56YWloSHREYUd3S21iTToOQzh5RmMyOERQT1BjWE0gBCoXCgFzEhBlLXphaWhIdERhR3dLbWJNGAEwAUoECAEQAhgHIJGMs9QDSggQAhgBIAIoAQ</a:t>
            </a:r>
            <a:endParaRPr lang="en-IN" sz="2000" i="1" dirty="0">
              <a:solidFill>
                <a:srgbClr val="2B08B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3F94C-FC4F-E6B1-E7DE-9E5F825942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651" y="1787800"/>
            <a:ext cx="3117046" cy="21585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0DCDD0-3977-071A-D8F5-595932C736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816" y="1039133"/>
            <a:ext cx="4391567" cy="37231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3B14500-9622-B350-AAA4-54EFE71A524B}"/>
              </a:ext>
            </a:extLst>
          </p:cNvPr>
          <p:cNvSpPr txBox="1"/>
          <p:nvPr/>
        </p:nvSpPr>
        <p:spPr>
          <a:xfrm>
            <a:off x="6549923" y="4128075"/>
            <a:ext cx="46346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1" u="none" strike="noStrike" baseline="0" dirty="0">
                <a:latin typeface="Verdana" panose="020B0604030504040204" pitchFamily="34" charset="0"/>
                <a:ea typeface="Verdana" panose="020B0604030504040204" pitchFamily="34" charset="0"/>
              </a:rPr>
              <a:t>Reference</a:t>
            </a:r>
            <a:r>
              <a:rPr lang="en-US" sz="900" i="1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900" i="1" dirty="0">
                <a:latin typeface="Verdana" panose="020B0604030504040204" pitchFamily="34" charset="0"/>
                <a:ea typeface="Verdana" panose="020B0604030504040204" pitchFamily="34" charset="0"/>
                <a:hlinkClick r:id="rId7"/>
              </a:rPr>
              <a:t>https://www.google.com/search?client=ms-android-vivo-terr1-rso2&amp;hs=ImO&amp;sca_esv=729a2d5b976b9e39&amp;sxsrf=ANbL-n5BbkQaK2nB16CXYNclrENtMZo6Cg:1776530237150&amp;udm=2&amp;fbs=ADc_l-aHJKCxetkbp8HihrVlWP2E1iNtw1c6Bqm2EL8gFYaWSYxrIPO0Uw9d1XjTJ7RJppJKRCzubuWABMtzDYJZwTlTqhqCv98YggpFCTMIa0qy_4bgUggaNKH0vxtO79W1aEDb6cWHVQkDptBf3VkSg0ozYd6RkW4h2B4c7rmzTnEsRfLF1VHx47XodDzroWmL2PpQHLu-cgVi_AYYil5ukA-Y4AoXCSv-pBh7zedYSawxByWJ7YU&amp;q=reusable+hand+warmers&amp;sa=X&amp;ved=2ahUKEwjbgN_t6veTAxUVcPUHHSpVJSwQtKgLegQIFhAB&amp;biw=392&amp;bih=758&amp;dpr=2.75#ip=1&amp;sv=CAMSVxoyKhBlLTE4am9xWlhZemc1bHRNMg4xOGpvcVpYWXpnNWx0TToObmpmSldQc1MyWUIwX00gBCoXCgFzEhBlLTE4am9xWlhZemc1bHRNGAEwAUoECAEQAhgHIKnStsMDSggQAhgBIAIoAQ</a:t>
            </a:r>
            <a:endParaRPr lang="en-IN" sz="2000" i="1" dirty="0">
              <a:solidFill>
                <a:srgbClr val="2B08B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750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02-05-2026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2, Department of Life sciences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10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Reusable self-heating tiffin </a:t>
              </a:r>
              <a:endParaRPr lang="en-IN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4913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Verdana" panose="020B0604030504040204" pitchFamily="34" charset="0"/>
                <a:ea typeface="Verdana" panose="020B0604030504040204" pitchFamily="34" charset="0"/>
              </a:rPr>
              <a:t>Learning Outcome</a:t>
            </a:r>
            <a:endParaRPr lang="en-IN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7E836-D8C8-EA61-E710-C1C20A7E887B}"/>
              </a:ext>
            </a:extLst>
          </p:cNvPr>
          <p:cNvSpPr txBox="1"/>
          <p:nvPr/>
        </p:nvSpPr>
        <p:spPr>
          <a:xfrm>
            <a:off x="450774" y="1640160"/>
            <a:ext cx="11072283" cy="252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Verdana" pitchFamily="34" charset="0"/>
                <a:ea typeface="Verdana" pitchFamily="34" charset="0"/>
                <a:cs typeface="Arial" pitchFamily="34" charset="0"/>
              </a:rPr>
              <a:t>Developed hands-on laboratory skills and experience with basic instruments.
Improved problem-solving and experimental thinking through trial and observation.
Learned project planning and execution from idea to initial experimentation.
Enhanced teamwork and collaboration skills while working in a group.
Built adaptability and learning from failures during experiments.
Benefited from mentoring sessions and feedback for idea improvement.</a:t>
            </a:r>
          </a:p>
        </p:txBody>
      </p:sp>
    </p:spTree>
    <p:extLst>
      <p:ext uri="{BB962C8B-B14F-4D97-AF65-F5344CB8AC3E}">
        <p14:creationId xmlns:p14="http://schemas.microsoft.com/office/powerpoint/2010/main" val="1906625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02-05-2026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2, Department of Life sciences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11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Reusable self-heating tiffin </a:t>
              </a:r>
              <a:endParaRPr lang="en-IN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4913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Verdana" panose="020B0604030504040204" pitchFamily="34" charset="0"/>
                <a:ea typeface="Verdana" panose="020B0604030504040204" pitchFamily="34" charset="0"/>
              </a:rPr>
              <a:t>Conclusion &amp; Future Scope</a:t>
            </a:r>
            <a:endParaRPr lang="en-IN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B799AC-9F50-424F-C96E-681CCF184AB7}"/>
              </a:ext>
            </a:extLst>
          </p:cNvPr>
          <p:cNvSpPr txBox="1"/>
          <p:nvPr/>
        </p:nvSpPr>
        <p:spPr>
          <a:xfrm rot="10800000" flipV="1">
            <a:off x="465160" y="1762655"/>
            <a:ext cx="104191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The project focused on understanding and developing the concept of a self-heating  tiffin using sodium acetate.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Develop a compact and portable design suitable for daily use.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Convert the idea into a market-ready product for students and travelers.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Scale the project for large-scale production and real-world use.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541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02-05-2026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2, Department of Life sciences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12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Reusable self-heating tiffin </a:t>
              </a:r>
              <a:endParaRPr lang="en-IN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1208547"/>
            <a:ext cx="10916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Verdana" panose="020B0604030504040204" pitchFamily="34" charset="0"/>
                <a:ea typeface="Verdana" panose="020B0604030504040204" pitchFamily="34" charset="0"/>
              </a:rPr>
              <a:t>Do you want to apply for PoC/Prototype Development support under Students Startup and Innovation Policy (SSIP 2.0) under GUIITAR Council?</a:t>
            </a:r>
            <a:endParaRPr lang="en-IN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9D4E2-8719-1310-29DB-BCE18950F9FA}"/>
              </a:ext>
            </a:extLst>
          </p:cNvPr>
          <p:cNvSpPr txBox="1"/>
          <p:nvPr/>
        </p:nvSpPr>
        <p:spPr>
          <a:xfrm>
            <a:off x="443032" y="2714604"/>
            <a:ext cx="10652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Currently, we do not plan to pursue this project as a startup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However, the idea may be explored further in the future if developed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1440541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22A7-944B-E8BE-3E42-54DBD2B0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28F781D-E434-8188-39AD-C98FE71BF244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F201AC-A431-FBAE-774F-B9E359CD95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2FFB2B-1001-4F05-9548-E8962570D21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342AA-8AD8-31F9-791F-B79FF9EC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13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209BDFC-F87F-0AD3-0AD2-6D90EC65D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1B5B-4067-417C-A62E-EE6EE02E9F51}" type="datetime1">
              <a:rPr lang="en-IN" smtClean="0">
                <a:solidFill>
                  <a:schemeClr val="tx1"/>
                </a:solidFill>
              </a:rPr>
              <a:t>02-05-2026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88F57B9-72F6-F8CD-7E20-C147544E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Team 2, Department of Life sciences 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56432F-B09D-FA20-7755-3F884FC63554}"/>
              </a:ext>
            </a:extLst>
          </p:cNvPr>
          <p:cNvGrpSpPr/>
          <p:nvPr/>
        </p:nvGrpSpPr>
        <p:grpSpPr>
          <a:xfrm>
            <a:off x="450775" y="170727"/>
            <a:ext cx="3551249" cy="5467038"/>
            <a:chOff x="450775" y="170727"/>
            <a:chExt cx="3551249" cy="546703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47A91F-8F23-8FAE-598F-91984EEEDECC}"/>
                </a:ext>
              </a:extLst>
            </p:cNvPr>
            <p:cNvSpPr txBox="1"/>
            <p:nvPr/>
          </p:nvSpPr>
          <p:spPr>
            <a:xfrm>
              <a:off x="838200" y="5146027"/>
              <a:ext cx="3163824" cy="491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b="1">
                  <a:latin typeface="Verdana" panose="020B0604030504040204" pitchFamily="34" charset="0"/>
                  <a:ea typeface="Verdana" panose="020B0604030504040204" pitchFamily="34" charset="0"/>
                </a:rPr>
                <a:t>Thank You..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B42C481-7049-2649-C990-123E9D6EE6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AF49D2F-1FD4-4CCE-B487-BBE0423B32FD}"/>
                </a:ext>
              </a:extLst>
            </p:cNvPr>
            <p:cNvGrpSpPr/>
            <p:nvPr/>
          </p:nvGrpSpPr>
          <p:grpSpPr>
            <a:xfrm>
              <a:off x="450775" y="5338110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4" name="Google Shape;59;p15">
                <a:extLst>
                  <a:ext uri="{FF2B5EF4-FFF2-40B4-BE49-F238E27FC236}">
                    <a16:creationId xmlns:a16="http://schemas.microsoft.com/office/drawing/2014/main" id="{4C7DBC1E-9F03-C501-03C4-40611332AF6C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60;p15">
                <a:extLst>
                  <a:ext uri="{FF2B5EF4-FFF2-40B4-BE49-F238E27FC236}">
                    <a16:creationId xmlns:a16="http://schemas.microsoft.com/office/drawing/2014/main" id="{43830E1C-48D8-36F4-42D1-F7CF813F028F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7494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1193</Words>
  <Application>Microsoft Office PowerPoint</Application>
  <PresentationFormat>Widescreen</PresentationFormat>
  <Paragraphs>213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Verdana</vt:lpstr>
      <vt:lpstr>Verdana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Koppula Santhosh Kumar</dc:creator>
  <cp:lastModifiedBy>Khushbu Verma</cp:lastModifiedBy>
  <cp:revision>13</cp:revision>
  <dcterms:created xsi:type="dcterms:W3CDTF">2021-10-26T04:13:36Z</dcterms:created>
  <dcterms:modified xsi:type="dcterms:W3CDTF">2026-05-02T08:44:09Z</dcterms:modified>
</cp:coreProperties>
</file>
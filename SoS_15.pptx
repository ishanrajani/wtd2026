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385" r:id="rId2"/>
    <p:sldId id="391" r:id="rId3"/>
    <p:sldId id="399" r:id="rId4"/>
    <p:sldId id="386" r:id="rId5"/>
    <p:sldId id="395" r:id="rId6"/>
    <p:sldId id="398" r:id="rId7"/>
    <p:sldId id="387" r:id="rId8"/>
    <p:sldId id="388" r:id="rId9"/>
    <p:sldId id="397" r:id="rId10"/>
    <p:sldId id="392" r:id="rId11"/>
    <p:sldId id="3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08BE"/>
    <a:srgbClr val="3AF4DE"/>
    <a:srgbClr val="00579F"/>
    <a:srgbClr val="F38804"/>
    <a:srgbClr val="F0880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1765" autoAdjust="0"/>
  </p:normalViewPr>
  <p:slideViewPr>
    <p:cSldViewPr snapToGrid="0">
      <p:cViewPr varScale="1">
        <p:scale>
          <a:sx n="107" d="100"/>
          <a:sy n="107" d="100"/>
        </p:scale>
        <p:origin x="1038" y="108"/>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zumi ." userId="72984cbe8756abaa" providerId="LiveId" clId="{D7C64AFF-8FB8-4D0E-A98E-4059081A9986}"/>
    <pc:docChg chg="modSld">
      <pc:chgData name="izumi ." userId="72984cbe8756abaa" providerId="LiveId" clId="{D7C64AFF-8FB8-4D0E-A98E-4059081A9986}" dt="2026-04-30T06:14:44.059" v="3" actId="20577"/>
      <pc:docMkLst>
        <pc:docMk/>
      </pc:docMkLst>
      <pc:sldChg chg="modSp mod">
        <pc:chgData name="izumi ." userId="72984cbe8756abaa" providerId="LiveId" clId="{D7C64AFF-8FB8-4D0E-A98E-4059081A9986}" dt="2026-04-30T06:14:44.059" v="3" actId="20577"/>
        <pc:sldMkLst>
          <pc:docMk/>
          <pc:sldMk cId="4126585221" sldId="385"/>
        </pc:sldMkLst>
        <pc:spChg chg="mod">
          <ac:chgData name="izumi ." userId="72984cbe8756abaa" providerId="LiveId" clId="{D7C64AFF-8FB8-4D0E-A98E-4059081A9986}" dt="2026-04-30T06:14:44.059" v="3" actId="20577"/>
          <ac:spMkLst>
            <pc:docMk/>
            <pc:sldMk cId="4126585221" sldId="385"/>
            <ac:spMk id="23" creationId="{506FB617-A5E9-F51C-410F-70C063DC0BB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47B6EB-0BB1-C32C-3B34-752451026B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a:extLst>
              <a:ext uri="{FF2B5EF4-FFF2-40B4-BE49-F238E27FC236}">
                <a16:creationId xmlns:a16="http://schemas.microsoft.com/office/drawing/2014/main" id="{CF448683-8521-6073-2C81-F8520864A5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3BFDA0E-5E6C-4306-8AB2-29F8FCF3C958}" type="datetime1">
              <a:rPr lang="en-IN" smtClean="0"/>
              <a:t>30-04-2026</a:t>
            </a:fld>
            <a:endParaRPr lang="en-IN"/>
          </a:p>
        </p:txBody>
      </p:sp>
      <p:sp>
        <p:nvSpPr>
          <p:cNvPr id="4" name="Footer Placeholder 3">
            <a:extLst>
              <a:ext uri="{FF2B5EF4-FFF2-40B4-BE49-F238E27FC236}">
                <a16:creationId xmlns:a16="http://schemas.microsoft.com/office/drawing/2014/main" id="{042F20D1-16B4-9F7A-BB85-080E110D096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5" name="Slide Number Placeholder 4">
            <a:extLst>
              <a:ext uri="{FF2B5EF4-FFF2-40B4-BE49-F238E27FC236}">
                <a16:creationId xmlns:a16="http://schemas.microsoft.com/office/drawing/2014/main" id="{E1EAAA16-EDF6-9DF1-8EB7-35D30CF089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C3E807-71D2-486E-AE16-CD1CC0E5495D}" type="slidenum">
              <a:rPr lang="en-IN" smtClean="0"/>
              <a:t>‹#›</a:t>
            </a:fld>
            <a:endParaRPr lang="en-IN"/>
          </a:p>
        </p:txBody>
      </p:sp>
    </p:spTree>
    <p:extLst>
      <p:ext uri="{BB962C8B-B14F-4D97-AF65-F5344CB8AC3E}">
        <p14:creationId xmlns:p14="http://schemas.microsoft.com/office/powerpoint/2010/main" val="211257366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Title of the Lecture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2D3B07-1EF9-4F31-BBF9-B441EA500D2B}" type="datetime1">
              <a:rPr lang="en-IN" smtClean="0"/>
              <a:t>30-04-2026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Name of the Faculty</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769606-77D1-4BD4-A656-2B410C8A8572}" type="slidenum">
              <a:rPr lang="en-IN" smtClean="0"/>
              <a:t>‹#›</a:t>
            </a:fld>
            <a:endParaRPr lang="en-IN"/>
          </a:p>
        </p:txBody>
      </p:sp>
    </p:spTree>
    <p:extLst>
      <p:ext uri="{BB962C8B-B14F-4D97-AF65-F5344CB8AC3E}">
        <p14:creationId xmlns:p14="http://schemas.microsoft.com/office/powerpoint/2010/main" val="229321829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24CB7-D9CB-D7BC-38C5-22835B6B6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E202A9-CFBD-392A-C6FC-67244359A1E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21F8034-DE1C-9354-4BA6-A58DEE95A53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1358762-1C39-7258-269A-53FB50055C16}"/>
              </a:ext>
            </a:extLst>
          </p:cNvPr>
          <p:cNvSpPr>
            <a:spLocks noGrp="1"/>
          </p:cNvSpPr>
          <p:nvPr>
            <p:ph type="sldNum" sz="quarter" idx="5"/>
          </p:nvPr>
        </p:nvSpPr>
        <p:spPr/>
        <p:txBody>
          <a:bodyPr/>
          <a:lstStyle/>
          <a:p>
            <a:fld id="{05769606-77D1-4BD4-A656-2B410C8A8572}" type="slidenum">
              <a:rPr lang="en-IN" smtClean="0"/>
              <a:t>1</a:t>
            </a:fld>
            <a:endParaRPr lang="en-IN"/>
          </a:p>
        </p:txBody>
      </p:sp>
      <p:sp>
        <p:nvSpPr>
          <p:cNvPr id="5" name="Date Placeholder 4">
            <a:extLst>
              <a:ext uri="{FF2B5EF4-FFF2-40B4-BE49-F238E27FC236}">
                <a16:creationId xmlns:a16="http://schemas.microsoft.com/office/drawing/2014/main" id="{88B6E8E4-77C3-303A-A331-63071D59DD98}"/>
              </a:ext>
            </a:extLst>
          </p:cNvPr>
          <p:cNvSpPr>
            <a:spLocks noGrp="1"/>
          </p:cNvSpPr>
          <p:nvPr>
            <p:ph type="dt" idx="1"/>
          </p:nvPr>
        </p:nvSpPr>
        <p:spPr/>
        <p:txBody>
          <a:bodyPr/>
          <a:lstStyle/>
          <a:p>
            <a:fld id="{A5DBC76F-BDC4-44EB-8BD4-FD1F3D45BCB7}" type="datetime1">
              <a:rPr lang="en-IN" smtClean="0"/>
              <a:t>30-04-2026</a:t>
            </a:fld>
            <a:endParaRPr lang="en-IN"/>
          </a:p>
        </p:txBody>
      </p:sp>
      <p:sp>
        <p:nvSpPr>
          <p:cNvPr id="6" name="Footer Placeholder 5">
            <a:extLst>
              <a:ext uri="{FF2B5EF4-FFF2-40B4-BE49-F238E27FC236}">
                <a16:creationId xmlns:a16="http://schemas.microsoft.com/office/drawing/2014/main" id="{9D07C3AE-2686-EC32-20B5-0EA9F476499B}"/>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6EAC641E-5B23-4E69-10A1-43521E504C5E}"/>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31199302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2</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3</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4</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5</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6</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7</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8</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9</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9C63-1647-4F16-B519-402654777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4E13-9E5B-640F-B4A9-F431043606D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F7ED04-970D-AF15-19F5-31F3EEC4EDF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D5E84AB-80CB-E382-757F-4E1BABA66E0D}"/>
              </a:ext>
            </a:extLst>
          </p:cNvPr>
          <p:cNvSpPr>
            <a:spLocks noGrp="1"/>
          </p:cNvSpPr>
          <p:nvPr>
            <p:ph type="sldNum" sz="quarter" idx="5"/>
          </p:nvPr>
        </p:nvSpPr>
        <p:spPr/>
        <p:txBody>
          <a:bodyPr/>
          <a:lstStyle/>
          <a:p>
            <a:fld id="{05769606-77D1-4BD4-A656-2B410C8A8572}" type="slidenum">
              <a:rPr lang="en-IN" smtClean="0"/>
              <a:t>10</a:t>
            </a:fld>
            <a:endParaRPr lang="en-IN"/>
          </a:p>
        </p:txBody>
      </p:sp>
      <p:sp>
        <p:nvSpPr>
          <p:cNvPr id="5" name="Date Placeholder 4">
            <a:extLst>
              <a:ext uri="{FF2B5EF4-FFF2-40B4-BE49-F238E27FC236}">
                <a16:creationId xmlns:a16="http://schemas.microsoft.com/office/drawing/2014/main" id="{C5210A3E-999A-C181-FEAA-3FED66C17C93}"/>
              </a:ext>
            </a:extLst>
          </p:cNvPr>
          <p:cNvSpPr>
            <a:spLocks noGrp="1"/>
          </p:cNvSpPr>
          <p:nvPr>
            <p:ph type="dt" idx="1"/>
          </p:nvPr>
        </p:nvSpPr>
        <p:spPr/>
        <p:txBody>
          <a:bodyPr/>
          <a:lstStyle/>
          <a:p>
            <a:fld id="{120FF5B3-6374-45C5-9057-01B8466348F7}" type="datetime1">
              <a:rPr lang="en-IN" smtClean="0"/>
              <a:t>30-04-2026</a:t>
            </a:fld>
            <a:endParaRPr lang="en-IN"/>
          </a:p>
        </p:txBody>
      </p:sp>
      <p:sp>
        <p:nvSpPr>
          <p:cNvPr id="6" name="Footer Placeholder 5">
            <a:extLst>
              <a:ext uri="{FF2B5EF4-FFF2-40B4-BE49-F238E27FC236}">
                <a16:creationId xmlns:a16="http://schemas.microsoft.com/office/drawing/2014/main" id="{97917FC4-D082-9D5E-19B5-07DCD008426F}"/>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57C8D8CC-D895-A004-55DB-57736D1726A9}"/>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977562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F88F-62E7-993B-CFCD-A8C938839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CDC8C-6ED8-1518-1EAE-6118A504949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597A9FB8-A9E2-D872-BE7C-59873880140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8A8BF31-DBA9-BF45-F5FB-597B7D6973D3}"/>
              </a:ext>
            </a:extLst>
          </p:cNvPr>
          <p:cNvSpPr>
            <a:spLocks noGrp="1"/>
          </p:cNvSpPr>
          <p:nvPr>
            <p:ph type="sldNum" sz="quarter" idx="5"/>
          </p:nvPr>
        </p:nvSpPr>
        <p:spPr/>
        <p:txBody>
          <a:bodyPr/>
          <a:lstStyle/>
          <a:p>
            <a:fld id="{05769606-77D1-4BD4-A656-2B410C8A8572}" type="slidenum">
              <a:rPr lang="en-IN" smtClean="0"/>
              <a:t>11</a:t>
            </a:fld>
            <a:endParaRPr lang="en-IN"/>
          </a:p>
        </p:txBody>
      </p:sp>
      <p:sp>
        <p:nvSpPr>
          <p:cNvPr id="5" name="Date Placeholder 4">
            <a:extLst>
              <a:ext uri="{FF2B5EF4-FFF2-40B4-BE49-F238E27FC236}">
                <a16:creationId xmlns:a16="http://schemas.microsoft.com/office/drawing/2014/main" id="{453A1DC6-60B9-69E4-B1F1-29CB6993AFE1}"/>
              </a:ext>
            </a:extLst>
          </p:cNvPr>
          <p:cNvSpPr>
            <a:spLocks noGrp="1"/>
          </p:cNvSpPr>
          <p:nvPr>
            <p:ph type="dt" idx="1"/>
          </p:nvPr>
        </p:nvSpPr>
        <p:spPr/>
        <p:txBody>
          <a:bodyPr/>
          <a:lstStyle/>
          <a:p>
            <a:fld id="{2C133B7E-50E6-4784-A0B7-BF133C708F0B}" type="datetime1">
              <a:rPr lang="en-IN" smtClean="0"/>
              <a:t>30-04-2026</a:t>
            </a:fld>
            <a:endParaRPr lang="en-IN"/>
          </a:p>
        </p:txBody>
      </p:sp>
      <p:sp>
        <p:nvSpPr>
          <p:cNvPr id="6" name="Footer Placeholder 5">
            <a:extLst>
              <a:ext uri="{FF2B5EF4-FFF2-40B4-BE49-F238E27FC236}">
                <a16:creationId xmlns:a16="http://schemas.microsoft.com/office/drawing/2014/main" id="{020289E0-996E-38BE-B832-B1C3B7DBE140}"/>
              </a:ext>
            </a:extLst>
          </p:cNvPr>
          <p:cNvSpPr>
            <a:spLocks noGrp="1"/>
          </p:cNvSpPr>
          <p:nvPr>
            <p:ph type="ftr" sz="quarter" idx="4"/>
          </p:nvPr>
        </p:nvSpPr>
        <p:spPr/>
        <p:txBody>
          <a:bodyPr/>
          <a:lstStyle/>
          <a:p>
            <a:r>
              <a:rPr lang="en-IN"/>
              <a:t>Name of the Faculty</a:t>
            </a:r>
          </a:p>
        </p:txBody>
      </p:sp>
      <p:sp>
        <p:nvSpPr>
          <p:cNvPr id="7" name="Header Placeholder 6">
            <a:extLst>
              <a:ext uri="{FF2B5EF4-FFF2-40B4-BE49-F238E27FC236}">
                <a16:creationId xmlns:a16="http://schemas.microsoft.com/office/drawing/2014/main" id="{BE124C92-91A2-E6BB-48C2-116B8FD18B62}"/>
              </a:ext>
            </a:extLst>
          </p:cNvPr>
          <p:cNvSpPr>
            <a:spLocks noGrp="1"/>
          </p:cNvSpPr>
          <p:nvPr>
            <p:ph type="hdr" sz="quarter"/>
          </p:nvPr>
        </p:nvSpPr>
        <p:spPr/>
        <p:txBody>
          <a:bodyPr/>
          <a:lstStyle/>
          <a:p>
            <a:r>
              <a:rPr lang="en-IN"/>
              <a:t>Title of the Lecture</a:t>
            </a:r>
          </a:p>
        </p:txBody>
      </p:sp>
    </p:spTree>
    <p:extLst>
      <p:ext uri="{BB962C8B-B14F-4D97-AF65-F5344CB8AC3E}">
        <p14:creationId xmlns:p14="http://schemas.microsoft.com/office/powerpoint/2010/main" val="881999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44DAE-F5C6-454D-AFDC-AAF396BA0E4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46AA990-3EAF-4FF9-9555-29B5741C92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A831E3E-4FE5-4F01-AAF8-CB61459487C0}"/>
              </a:ext>
            </a:extLst>
          </p:cNvPr>
          <p:cNvSpPr>
            <a:spLocks noGrp="1"/>
          </p:cNvSpPr>
          <p:nvPr>
            <p:ph type="dt" sz="half" idx="10"/>
          </p:nvPr>
        </p:nvSpPr>
        <p:spPr/>
        <p:txBody>
          <a:bodyPr/>
          <a:lstStyle/>
          <a:p>
            <a:fld id="{AAC131B0-C9FB-4DD5-97EC-21EFEC10F4F4}" type="datetime1">
              <a:rPr lang="en-IN" smtClean="0"/>
              <a:t>30-04-2026</a:t>
            </a:fld>
            <a:endParaRPr lang="en-IN"/>
          </a:p>
        </p:txBody>
      </p:sp>
      <p:sp>
        <p:nvSpPr>
          <p:cNvPr id="5" name="Footer Placeholder 4">
            <a:extLst>
              <a:ext uri="{FF2B5EF4-FFF2-40B4-BE49-F238E27FC236}">
                <a16:creationId xmlns:a16="http://schemas.microsoft.com/office/drawing/2014/main" id="{ACFC3453-1038-4076-9DED-D28773942501}"/>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BD74E3F0-76B7-4C43-9D85-E2E06EFFEE6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786917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30E89-2983-4E1E-8AD3-4F82F0A428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D2E7C4-B740-401D-A25D-37F187F646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D21E203-F203-4711-B7A2-8F797C161933}"/>
              </a:ext>
            </a:extLst>
          </p:cNvPr>
          <p:cNvSpPr>
            <a:spLocks noGrp="1"/>
          </p:cNvSpPr>
          <p:nvPr>
            <p:ph type="dt" sz="half" idx="10"/>
          </p:nvPr>
        </p:nvSpPr>
        <p:spPr/>
        <p:txBody>
          <a:bodyPr/>
          <a:lstStyle/>
          <a:p>
            <a:fld id="{618FFF8D-38DE-44ED-8E8F-F4480F209472}" type="datetime1">
              <a:rPr lang="en-IN" smtClean="0"/>
              <a:t>30-04-2026</a:t>
            </a:fld>
            <a:endParaRPr lang="en-IN"/>
          </a:p>
        </p:txBody>
      </p:sp>
      <p:sp>
        <p:nvSpPr>
          <p:cNvPr id="5" name="Footer Placeholder 4">
            <a:extLst>
              <a:ext uri="{FF2B5EF4-FFF2-40B4-BE49-F238E27FC236}">
                <a16:creationId xmlns:a16="http://schemas.microsoft.com/office/drawing/2014/main" id="{FC26852F-1A31-4CB3-B952-13DAB07C348B}"/>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4697B306-A7A3-4335-A04F-7541869DAA38}"/>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535998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7A19F-7442-4B68-B955-56F6B084B1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B40CD2C-A48F-4775-B189-0793522271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D68908-A714-4228-A602-E7A357FF66D6}"/>
              </a:ext>
            </a:extLst>
          </p:cNvPr>
          <p:cNvSpPr>
            <a:spLocks noGrp="1"/>
          </p:cNvSpPr>
          <p:nvPr>
            <p:ph type="dt" sz="half" idx="10"/>
          </p:nvPr>
        </p:nvSpPr>
        <p:spPr/>
        <p:txBody>
          <a:bodyPr/>
          <a:lstStyle/>
          <a:p>
            <a:fld id="{17460553-21AA-46C9-AB52-F50F6EEE2E62}" type="datetime1">
              <a:rPr lang="en-IN" smtClean="0"/>
              <a:t>30-04-2026</a:t>
            </a:fld>
            <a:endParaRPr lang="en-IN"/>
          </a:p>
        </p:txBody>
      </p:sp>
      <p:sp>
        <p:nvSpPr>
          <p:cNvPr id="5" name="Footer Placeholder 4">
            <a:extLst>
              <a:ext uri="{FF2B5EF4-FFF2-40B4-BE49-F238E27FC236}">
                <a16:creationId xmlns:a16="http://schemas.microsoft.com/office/drawing/2014/main" id="{9CF1287E-6268-4689-BFC0-A3E44DAFEB56}"/>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53BCC483-A732-4FFA-8636-9E5E03751C4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553393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93186-7A7F-4819-B879-6631220F6AC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B7BA3E-E296-4A2F-BD81-158C0CA6B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9120B82-4066-4E7E-A47A-797F200D6D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41A081E-F28F-448A-9D06-E308DE0BB69E}"/>
              </a:ext>
            </a:extLst>
          </p:cNvPr>
          <p:cNvSpPr>
            <a:spLocks noGrp="1"/>
          </p:cNvSpPr>
          <p:nvPr>
            <p:ph type="dt" sz="half" idx="10"/>
          </p:nvPr>
        </p:nvSpPr>
        <p:spPr/>
        <p:txBody>
          <a:bodyPr/>
          <a:lstStyle/>
          <a:p>
            <a:fld id="{2C0909CD-D9E1-4E31-9980-5F3A894C2608}" type="datetime1">
              <a:rPr lang="en-IN" smtClean="0"/>
              <a:t>30-04-2026</a:t>
            </a:fld>
            <a:endParaRPr lang="en-IN"/>
          </a:p>
        </p:txBody>
      </p:sp>
      <p:sp>
        <p:nvSpPr>
          <p:cNvPr id="6" name="Footer Placeholder 5">
            <a:extLst>
              <a:ext uri="{FF2B5EF4-FFF2-40B4-BE49-F238E27FC236}">
                <a16:creationId xmlns:a16="http://schemas.microsoft.com/office/drawing/2014/main" id="{5576A227-6F7B-4D0A-AC3F-0817DBE67B34}"/>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D96FDA79-7B9F-4F23-8932-9C89272C327D}"/>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89756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7A54A-6C69-4D14-8EE5-067692CEE69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A22E6B3-A4FD-4B3B-ABFE-A0841309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D66EDD-FB5D-431C-850B-8141C73681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805FADE-8590-49B1-AF6E-1522EF4F1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6B82C5F-682A-4819-9789-3345121747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E08900-84F2-442F-9178-183865D96DE4}"/>
              </a:ext>
            </a:extLst>
          </p:cNvPr>
          <p:cNvSpPr>
            <a:spLocks noGrp="1"/>
          </p:cNvSpPr>
          <p:nvPr>
            <p:ph type="dt" sz="half" idx="10"/>
          </p:nvPr>
        </p:nvSpPr>
        <p:spPr/>
        <p:txBody>
          <a:bodyPr/>
          <a:lstStyle/>
          <a:p>
            <a:fld id="{31129F84-13A4-42C3-84B9-F21DB80BB174}" type="datetime1">
              <a:rPr lang="en-IN" smtClean="0"/>
              <a:t>30-04-2026</a:t>
            </a:fld>
            <a:endParaRPr lang="en-IN"/>
          </a:p>
        </p:txBody>
      </p:sp>
      <p:sp>
        <p:nvSpPr>
          <p:cNvPr id="8" name="Footer Placeholder 7">
            <a:extLst>
              <a:ext uri="{FF2B5EF4-FFF2-40B4-BE49-F238E27FC236}">
                <a16:creationId xmlns:a16="http://schemas.microsoft.com/office/drawing/2014/main" id="{C2830A47-A763-487C-8B06-98BAF442F43F}"/>
              </a:ext>
            </a:extLst>
          </p:cNvPr>
          <p:cNvSpPr>
            <a:spLocks noGrp="1"/>
          </p:cNvSpPr>
          <p:nvPr>
            <p:ph type="ftr" sz="quarter" idx="11"/>
          </p:nvPr>
        </p:nvSpPr>
        <p:spPr/>
        <p:txBody>
          <a:bodyPr/>
          <a:lstStyle/>
          <a:p>
            <a:r>
              <a:rPr lang="en-US"/>
              <a:t>Name of the Presenter &amp; Department</a:t>
            </a:r>
            <a:endParaRPr lang="en-IN"/>
          </a:p>
        </p:txBody>
      </p:sp>
      <p:sp>
        <p:nvSpPr>
          <p:cNvPr id="9" name="Slide Number Placeholder 8">
            <a:extLst>
              <a:ext uri="{FF2B5EF4-FFF2-40B4-BE49-F238E27FC236}">
                <a16:creationId xmlns:a16="http://schemas.microsoft.com/office/drawing/2014/main" id="{F0BD71BF-9A8B-41EA-A32A-76A5A05F99E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619630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FBD9F-1469-41A5-9202-A0BA0296C63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915A793-C7DE-407E-8328-496ADD262135}"/>
              </a:ext>
            </a:extLst>
          </p:cNvPr>
          <p:cNvSpPr>
            <a:spLocks noGrp="1"/>
          </p:cNvSpPr>
          <p:nvPr>
            <p:ph type="dt" sz="half" idx="10"/>
          </p:nvPr>
        </p:nvSpPr>
        <p:spPr/>
        <p:txBody>
          <a:bodyPr/>
          <a:lstStyle/>
          <a:p>
            <a:fld id="{160D810A-866C-4043-9CBB-5ABA3F831B2D}" type="datetime1">
              <a:rPr lang="en-IN" smtClean="0"/>
              <a:t>30-04-2026</a:t>
            </a:fld>
            <a:endParaRPr lang="en-IN"/>
          </a:p>
        </p:txBody>
      </p:sp>
      <p:sp>
        <p:nvSpPr>
          <p:cNvPr id="4" name="Footer Placeholder 3">
            <a:extLst>
              <a:ext uri="{FF2B5EF4-FFF2-40B4-BE49-F238E27FC236}">
                <a16:creationId xmlns:a16="http://schemas.microsoft.com/office/drawing/2014/main" id="{DCF00BE9-EEA0-4A26-9F1E-E7F9D17984E2}"/>
              </a:ext>
            </a:extLst>
          </p:cNvPr>
          <p:cNvSpPr>
            <a:spLocks noGrp="1"/>
          </p:cNvSpPr>
          <p:nvPr>
            <p:ph type="ftr" sz="quarter" idx="11"/>
          </p:nvPr>
        </p:nvSpPr>
        <p:spPr/>
        <p:txBody>
          <a:bodyPr/>
          <a:lstStyle/>
          <a:p>
            <a:r>
              <a:rPr lang="en-US"/>
              <a:t>Name of the Presenter &amp; Department</a:t>
            </a:r>
            <a:endParaRPr lang="en-IN"/>
          </a:p>
        </p:txBody>
      </p:sp>
      <p:sp>
        <p:nvSpPr>
          <p:cNvPr id="5" name="Slide Number Placeholder 4">
            <a:extLst>
              <a:ext uri="{FF2B5EF4-FFF2-40B4-BE49-F238E27FC236}">
                <a16:creationId xmlns:a16="http://schemas.microsoft.com/office/drawing/2014/main" id="{EA13D293-0ADA-48A5-B648-30CFFAEA9494}"/>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1644412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D89F29-E588-4C2A-8A95-62F572D187B2}"/>
              </a:ext>
            </a:extLst>
          </p:cNvPr>
          <p:cNvSpPr>
            <a:spLocks noGrp="1"/>
          </p:cNvSpPr>
          <p:nvPr>
            <p:ph type="dt" sz="half" idx="10"/>
          </p:nvPr>
        </p:nvSpPr>
        <p:spPr/>
        <p:txBody>
          <a:bodyPr/>
          <a:lstStyle/>
          <a:p>
            <a:fld id="{BBEBE989-A332-410D-A8A6-532B1C75E2C4}" type="datetime1">
              <a:rPr lang="en-IN" smtClean="0"/>
              <a:t>30-04-2026</a:t>
            </a:fld>
            <a:endParaRPr lang="en-IN"/>
          </a:p>
        </p:txBody>
      </p:sp>
      <p:sp>
        <p:nvSpPr>
          <p:cNvPr id="3" name="Footer Placeholder 2">
            <a:extLst>
              <a:ext uri="{FF2B5EF4-FFF2-40B4-BE49-F238E27FC236}">
                <a16:creationId xmlns:a16="http://schemas.microsoft.com/office/drawing/2014/main" id="{0EA7526D-A567-4605-A7A9-135F95B01820}"/>
              </a:ext>
            </a:extLst>
          </p:cNvPr>
          <p:cNvSpPr>
            <a:spLocks noGrp="1"/>
          </p:cNvSpPr>
          <p:nvPr>
            <p:ph type="ftr" sz="quarter" idx="11"/>
          </p:nvPr>
        </p:nvSpPr>
        <p:spPr/>
        <p:txBody>
          <a:bodyPr/>
          <a:lstStyle/>
          <a:p>
            <a:r>
              <a:rPr lang="en-US"/>
              <a:t>Name of the Presenter &amp; Department</a:t>
            </a:r>
            <a:endParaRPr lang="en-IN"/>
          </a:p>
        </p:txBody>
      </p:sp>
      <p:sp>
        <p:nvSpPr>
          <p:cNvPr id="4" name="Slide Number Placeholder 3">
            <a:extLst>
              <a:ext uri="{FF2B5EF4-FFF2-40B4-BE49-F238E27FC236}">
                <a16:creationId xmlns:a16="http://schemas.microsoft.com/office/drawing/2014/main" id="{FC71C8A3-0862-4EB5-AABC-A30859267123}"/>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3923759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4CB5-FA1C-4FC0-AD9B-86A482EC79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1AD36A-F712-4B95-A05A-260123906D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6AD72EF-041F-42BF-9D8B-6654A53889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E05025-346C-4E8E-8D28-42B0844CDECC}"/>
              </a:ext>
            </a:extLst>
          </p:cNvPr>
          <p:cNvSpPr>
            <a:spLocks noGrp="1"/>
          </p:cNvSpPr>
          <p:nvPr>
            <p:ph type="dt" sz="half" idx="10"/>
          </p:nvPr>
        </p:nvSpPr>
        <p:spPr/>
        <p:txBody>
          <a:bodyPr/>
          <a:lstStyle/>
          <a:p>
            <a:fld id="{8C6B5F36-35FA-4268-A441-E6463EAA5FA4}" type="datetime1">
              <a:rPr lang="en-IN" smtClean="0"/>
              <a:t>30-04-2026</a:t>
            </a:fld>
            <a:endParaRPr lang="en-IN"/>
          </a:p>
        </p:txBody>
      </p:sp>
      <p:sp>
        <p:nvSpPr>
          <p:cNvPr id="6" name="Footer Placeholder 5">
            <a:extLst>
              <a:ext uri="{FF2B5EF4-FFF2-40B4-BE49-F238E27FC236}">
                <a16:creationId xmlns:a16="http://schemas.microsoft.com/office/drawing/2014/main" id="{439BFF5B-58F9-427F-A2F5-A3D54513E7A5}"/>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CA99F69D-DD1A-402C-944E-141267614F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21378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B2E9C-65CE-4BA4-85E8-BAEB5B1012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7D281C8-208E-4C02-9EF2-F49A49B50C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721BD1-5B7F-4CBB-B585-DA93A56F82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487DE2-AE53-4247-A661-AD19B8921C4F}"/>
              </a:ext>
            </a:extLst>
          </p:cNvPr>
          <p:cNvSpPr>
            <a:spLocks noGrp="1"/>
          </p:cNvSpPr>
          <p:nvPr>
            <p:ph type="dt" sz="half" idx="10"/>
          </p:nvPr>
        </p:nvSpPr>
        <p:spPr/>
        <p:txBody>
          <a:bodyPr/>
          <a:lstStyle/>
          <a:p>
            <a:fld id="{30B31E1C-51D0-4C9B-85B0-695D92FD0D00}" type="datetime1">
              <a:rPr lang="en-IN" smtClean="0"/>
              <a:t>30-04-2026</a:t>
            </a:fld>
            <a:endParaRPr lang="en-IN"/>
          </a:p>
        </p:txBody>
      </p:sp>
      <p:sp>
        <p:nvSpPr>
          <p:cNvPr id="6" name="Footer Placeholder 5">
            <a:extLst>
              <a:ext uri="{FF2B5EF4-FFF2-40B4-BE49-F238E27FC236}">
                <a16:creationId xmlns:a16="http://schemas.microsoft.com/office/drawing/2014/main" id="{8099459F-FB23-4534-A47C-E0AB046D48DD}"/>
              </a:ext>
            </a:extLst>
          </p:cNvPr>
          <p:cNvSpPr>
            <a:spLocks noGrp="1"/>
          </p:cNvSpPr>
          <p:nvPr>
            <p:ph type="ftr" sz="quarter" idx="11"/>
          </p:nvPr>
        </p:nvSpPr>
        <p:spPr/>
        <p:txBody>
          <a:bodyPr/>
          <a:lstStyle/>
          <a:p>
            <a:r>
              <a:rPr lang="en-US"/>
              <a:t>Name of the Presenter &amp; Department</a:t>
            </a:r>
            <a:endParaRPr lang="en-IN"/>
          </a:p>
        </p:txBody>
      </p:sp>
      <p:sp>
        <p:nvSpPr>
          <p:cNvPr id="7" name="Slide Number Placeholder 6">
            <a:extLst>
              <a:ext uri="{FF2B5EF4-FFF2-40B4-BE49-F238E27FC236}">
                <a16:creationId xmlns:a16="http://schemas.microsoft.com/office/drawing/2014/main" id="{307EF753-176A-4D74-A4D1-51910F5DDF6F}"/>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72150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DDD4F-88D8-4F72-B540-C533966AFA1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8F0F988-6313-4F2F-843A-B5A3826504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943F66-5829-46CF-B0B8-7641FB225D81}"/>
              </a:ext>
            </a:extLst>
          </p:cNvPr>
          <p:cNvSpPr>
            <a:spLocks noGrp="1"/>
          </p:cNvSpPr>
          <p:nvPr>
            <p:ph type="dt" sz="half" idx="10"/>
          </p:nvPr>
        </p:nvSpPr>
        <p:spPr/>
        <p:txBody>
          <a:bodyPr/>
          <a:lstStyle/>
          <a:p>
            <a:fld id="{8928E016-816A-462E-AFD6-EE852EADA12C}" type="datetime1">
              <a:rPr lang="en-IN" smtClean="0"/>
              <a:t>30-04-2026</a:t>
            </a:fld>
            <a:endParaRPr lang="en-IN"/>
          </a:p>
        </p:txBody>
      </p:sp>
      <p:sp>
        <p:nvSpPr>
          <p:cNvPr id="5" name="Footer Placeholder 4">
            <a:extLst>
              <a:ext uri="{FF2B5EF4-FFF2-40B4-BE49-F238E27FC236}">
                <a16:creationId xmlns:a16="http://schemas.microsoft.com/office/drawing/2014/main" id="{5A6B28BB-7E22-4B05-A645-7481DC1649BF}"/>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D6ACA330-8AB6-49E9-862A-112EE7C3C06B}"/>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50615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47E5E0-A998-46A6-BCA4-83F3D11523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79A3B42-B542-4BAA-92C4-925210EF2D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529750-7E8E-4B6F-AFCF-BEAD1874BAE9}"/>
              </a:ext>
            </a:extLst>
          </p:cNvPr>
          <p:cNvSpPr>
            <a:spLocks noGrp="1"/>
          </p:cNvSpPr>
          <p:nvPr>
            <p:ph type="dt" sz="half" idx="10"/>
          </p:nvPr>
        </p:nvSpPr>
        <p:spPr/>
        <p:txBody>
          <a:bodyPr/>
          <a:lstStyle/>
          <a:p>
            <a:fld id="{D1FC357D-D3AE-45A1-AF16-9951E4A1A6C0}" type="datetime1">
              <a:rPr lang="en-IN" smtClean="0"/>
              <a:t>30-04-2026</a:t>
            </a:fld>
            <a:endParaRPr lang="en-IN"/>
          </a:p>
        </p:txBody>
      </p:sp>
      <p:sp>
        <p:nvSpPr>
          <p:cNvPr id="5" name="Footer Placeholder 4">
            <a:extLst>
              <a:ext uri="{FF2B5EF4-FFF2-40B4-BE49-F238E27FC236}">
                <a16:creationId xmlns:a16="http://schemas.microsoft.com/office/drawing/2014/main" id="{35F52F66-CAB7-4CAC-8C40-BE6B877E771C}"/>
              </a:ext>
            </a:extLst>
          </p:cNvPr>
          <p:cNvSpPr>
            <a:spLocks noGrp="1"/>
          </p:cNvSpPr>
          <p:nvPr>
            <p:ph type="ftr" sz="quarter" idx="11"/>
          </p:nvPr>
        </p:nvSpPr>
        <p:spPr/>
        <p:txBody>
          <a:body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F0D6B8D6-A138-46E5-B006-AB4D1E3A8932}"/>
              </a:ext>
            </a:extLst>
          </p:cNvPr>
          <p:cNvSpPr>
            <a:spLocks noGrp="1"/>
          </p:cNvSpPr>
          <p:nvPr>
            <p:ph type="sldNum" sz="quarter" idx="12"/>
          </p:nvPr>
        </p:nvSpPr>
        <p:spPr/>
        <p:txBody>
          <a:bodyPr/>
          <a:lstStyle/>
          <a:p>
            <a:fld id="{C9EED798-B2B7-453D-A02A-83F1CBF01642}" type="slidenum">
              <a:rPr lang="en-IN" smtClean="0"/>
              <a:t>‹#›</a:t>
            </a:fld>
            <a:endParaRPr lang="en-IN"/>
          </a:p>
        </p:txBody>
      </p:sp>
    </p:spTree>
    <p:extLst>
      <p:ext uri="{BB962C8B-B14F-4D97-AF65-F5344CB8AC3E}">
        <p14:creationId xmlns:p14="http://schemas.microsoft.com/office/powerpoint/2010/main" val="2011957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BFB23A-58CF-456B-AB08-73729B667C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C0A73A-70C8-4162-B8EF-D65B849D07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0B0888-81FA-465A-90E7-E59D17F1C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1F3E9B-DCF6-460C-A298-894BB8D79EEF}" type="datetime1">
              <a:rPr lang="en-IN" smtClean="0"/>
              <a:t>30-04-2026</a:t>
            </a:fld>
            <a:endParaRPr lang="en-IN"/>
          </a:p>
        </p:txBody>
      </p:sp>
      <p:sp>
        <p:nvSpPr>
          <p:cNvPr id="5" name="Footer Placeholder 4">
            <a:extLst>
              <a:ext uri="{FF2B5EF4-FFF2-40B4-BE49-F238E27FC236}">
                <a16:creationId xmlns:a16="http://schemas.microsoft.com/office/drawing/2014/main" id="{D12B48A1-228A-48E5-955E-3CBA79661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Name of the Presenter &amp; Department</a:t>
            </a:r>
            <a:endParaRPr lang="en-IN"/>
          </a:p>
        </p:txBody>
      </p:sp>
      <p:sp>
        <p:nvSpPr>
          <p:cNvPr id="6" name="Slide Number Placeholder 5">
            <a:extLst>
              <a:ext uri="{FF2B5EF4-FFF2-40B4-BE49-F238E27FC236}">
                <a16:creationId xmlns:a16="http://schemas.microsoft.com/office/drawing/2014/main" id="{245395B7-BD3B-4473-B16F-5A7A3505BC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EED798-B2B7-453D-A02A-83F1CBF01642}" type="slidenum">
              <a:rPr lang="en-IN" smtClean="0"/>
              <a:t>‹#›</a:t>
            </a:fld>
            <a:endParaRPr lang="en-IN"/>
          </a:p>
        </p:txBody>
      </p:sp>
    </p:spTree>
    <p:extLst>
      <p:ext uri="{BB962C8B-B14F-4D97-AF65-F5344CB8AC3E}">
        <p14:creationId xmlns:p14="http://schemas.microsoft.com/office/powerpoint/2010/main" val="229485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ACEAD-96D3-A032-A33C-97C7C6389C2C}"/>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3EDCE6FD-5F7E-8664-8ED3-31E895D52E72}"/>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32B962B7-0060-92BF-D80F-8CA6E48E339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8589A71-20A6-497A-C266-A3AC590AC7BB}"/>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A9C0AFB6-FDBE-77A2-D576-D59FFAF6D1D5}"/>
              </a:ext>
            </a:extLst>
          </p:cNvPr>
          <p:cNvSpPr>
            <a:spLocks noGrp="1"/>
          </p:cNvSpPr>
          <p:nvPr>
            <p:ph type="sldNum" sz="quarter" idx="12"/>
          </p:nvPr>
        </p:nvSpPr>
        <p:spPr/>
        <p:txBody>
          <a:bodyPr/>
          <a:lstStyle/>
          <a:p>
            <a:fld id="{C9EED798-B2B7-453D-A02A-83F1CBF01642}" type="slidenum">
              <a:rPr lang="en-IN" smtClean="0"/>
              <a:t>1</a:t>
            </a:fld>
            <a:endParaRPr lang="en-IN"/>
          </a:p>
        </p:txBody>
      </p:sp>
      <p:grpSp>
        <p:nvGrpSpPr>
          <p:cNvPr id="18" name="Group 17">
            <a:extLst>
              <a:ext uri="{FF2B5EF4-FFF2-40B4-BE49-F238E27FC236}">
                <a16:creationId xmlns:a16="http://schemas.microsoft.com/office/drawing/2014/main" id="{0118D69F-ABE1-3E32-47BB-EE57D5B92537}"/>
              </a:ext>
            </a:extLst>
          </p:cNvPr>
          <p:cNvGrpSpPr/>
          <p:nvPr/>
        </p:nvGrpSpPr>
        <p:grpSpPr>
          <a:xfrm>
            <a:off x="529337" y="896634"/>
            <a:ext cx="10824463" cy="891025"/>
            <a:chOff x="529337" y="896634"/>
            <a:chExt cx="10824463" cy="891025"/>
          </a:xfrm>
        </p:grpSpPr>
        <p:pic>
          <p:nvPicPr>
            <p:cNvPr id="2" name="Picture 1">
              <a:extLst>
                <a:ext uri="{FF2B5EF4-FFF2-40B4-BE49-F238E27FC236}">
                  <a16:creationId xmlns:a16="http://schemas.microsoft.com/office/drawing/2014/main" id="{7FFD4D94-F232-ACC0-A2EC-5563B02B328F}"/>
                </a:ext>
              </a:extLst>
            </p:cNvPr>
            <p:cNvPicPr>
              <a:picLocks noChangeAspect="1"/>
            </p:cNvPicPr>
            <p:nvPr/>
          </p:nvPicPr>
          <p:blipFill rotWithShape="1">
            <a:blip r:embed="rId3"/>
            <a:srcRect t="27019" b="26058"/>
            <a:stretch/>
          </p:blipFill>
          <p:spPr>
            <a:xfrm>
              <a:off x="529337" y="896634"/>
              <a:ext cx="1898904" cy="891025"/>
            </a:xfrm>
            <a:prstGeom prst="rect">
              <a:avLst/>
            </a:prstGeom>
          </p:spPr>
        </p:pic>
        <p:grpSp>
          <p:nvGrpSpPr>
            <p:cNvPr id="15" name="Group 14">
              <a:extLst>
                <a:ext uri="{FF2B5EF4-FFF2-40B4-BE49-F238E27FC236}">
                  <a16:creationId xmlns:a16="http://schemas.microsoft.com/office/drawing/2014/main" id="{2CFC04D3-2649-B0B2-7F38-D5F9325C1352}"/>
                </a:ext>
              </a:extLst>
            </p:cNvPr>
            <p:cNvGrpSpPr/>
            <p:nvPr/>
          </p:nvGrpSpPr>
          <p:grpSpPr>
            <a:xfrm>
              <a:off x="11015286" y="1236138"/>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F47F37F5-DC62-D5EC-D8A9-D6ECF2CE1ACF}"/>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DBEBAC3F-D050-3CB2-1635-06DD7FCB6AF4}"/>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4" name="Rectangle 3"/>
          <p:cNvSpPr/>
          <p:nvPr/>
        </p:nvSpPr>
        <p:spPr>
          <a:xfrm>
            <a:off x="2653067" y="288643"/>
            <a:ext cx="7090403" cy="523220"/>
          </a:xfrm>
          <a:prstGeom prst="rect">
            <a:avLst/>
          </a:prstGeom>
        </p:spPr>
        <p:txBody>
          <a:bodyPr wrap="none">
            <a:spAutoFit/>
          </a:bodyPr>
          <a:lstStyle/>
          <a:p>
            <a:r>
              <a:rPr lang="en-IN" sz="2800" b="1" dirty="0">
                <a:latin typeface="Verdana" pitchFamily="34" charset="0"/>
                <a:ea typeface="Verdana" pitchFamily="34" charset="0"/>
              </a:rPr>
              <a:t>Tinkering &amp; Mentoring - VACC 201</a:t>
            </a:r>
          </a:p>
        </p:txBody>
      </p:sp>
      <p:sp>
        <p:nvSpPr>
          <p:cNvPr id="20" name="Rectangle 19"/>
          <p:cNvSpPr/>
          <p:nvPr/>
        </p:nvSpPr>
        <p:spPr>
          <a:xfrm>
            <a:off x="2805467" y="1186543"/>
            <a:ext cx="5993949" cy="954107"/>
          </a:xfrm>
          <a:prstGeom prst="rect">
            <a:avLst/>
          </a:prstGeom>
        </p:spPr>
        <p:txBody>
          <a:bodyPr wrap="none">
            <a:spAutoFit/>
          </a:bodyPr>
          <a:lstStyle/>
          <a:p>
            <a:pPr algn="ctr"/>
            <a:r>
              <a:rPr lang="en-IN" sz="2800" b="1" dirty="0">
                <a:latin typeface="Verdana" pitchFamily="34" charset="0"/>
                <a:ea typeface="Verdana" pitchFamily="34" charset="0"/>
              </a:rPr>
              <a:t>Final Project Presentation &amp; </a:t>
            </a:r>
          </a:p>
          <a:p>
            <a:pPr algn="ctr"/>
            <a:r>
              <a:rPr lang="en-IN" sz="2800" b="1" dirty="0">
                <a:latin typeface="Verdana" pitchFamily="34" charset="0"/>
                <a:ea typeface="Verdana" pitchFamily="34" charset="0"/>
              </a:rPr>
              <a:t>Demonstration</a:t>
            </a:r>
          </a:p>
        </p:txBody>
      </p:sp>
      <p:grpSp>
        <p:nvGrpSpPr>
          <p:cNvPr id="21" name="Group 20">
            <a:extLst>
              <a:ext uri="{FF2B5EF4-FFF2-40B4-BE49-F238E27FC236}">
                <a16:creationId xmlns:a16="http://schemas.microsoft.com/office/drawing/2014/main" id="{FE78DED0-2A03-65AD-7E05-0CCEFCAE696C}"/>
              </a:ext>
            </a:extLst>
          </p:cNvPr>
          <p:cNvGrpSpPr/>
          <p:nvPr/>
        </p:nvGrpSpPr>
        <p:grpSpPr>
          <a:xfrm>
            <a:off x="838202" y="2463402"/>
            <a:ext cx="12020532" cy="3877555"/>
            <a:chOff x="504949" y="2267415"/>
            <a:chExt cx="7915987" cy="4146352"/>
          </a:xfrm>
        </p:grpSpPr>
        <p:sp>
          <p:nvSpPr>
            <p:cNvPr id="22" name="TextBox 21">
              <a:extLst>
                <a:ext uri="{FF2B5EF4-FFF2-40B4-BE49-F238E27FC236}">
                  <a16:creationId xmlns:a16="http://schemas.microsoft.com/office/drawing/2014/main" id="{71DF62CC-1549-34C5-2BC7-8B32AAFDA013}"/>
                </a:ext>
              </a:extLst>
            </p:cNvPr>
            <p:cNvSpPr txBox="1"/>
            <p:nvPr/>
          </p:nvSpPr>
          <p:spPr>
            <a:xfrm>
              <a:off x="1604146" y="2267415"/>
              <a:ext cx="6816790" cy="822780"/>
            </a:xfrm>
            <a:prstGeom prst="rect">
              <a:avLst/>
            </a:prstGeom>
            <a:noFill/>
          </p:spPr>
          <p:txBody>
            <a:bodyPr wrap="square" rtlCol="0">
              <a:spAutoFit/>
            </a:bodyPr>
            <a:lstStyle/>
            <a:p>
              <a:r>
                <a:rPr lang="en-US" sz="4400" b="1" dirty="0">
                  <a:latin typeface="Verdana" panose="020B0604030504040204" pitchFamily="34" charset="0"/>
                  <a:ea typeface="Verdana" panose="020B0604030504040204" pitchFamily="34" charset="0"/>
                </a:rPr>
                <a:t>Self Healing Bio Strip</a:t>
              </a:r>
              <a:endParaRPr lang="en-IN" sz="4400" b="1" dirty="0">
                <a:latin typeface="Verdana" panose="020B0604030504040204" pitchFamily="34" charset="0"/>
                <a:ea typeface="Verdana" panose="020B0604030504040204" pitchFamily="34" charset="0"/>
              </a:endParaRPr>
            </a:p>
          </p:txBody>
        </p:sp>
        <p:sp>
          <p:nvSpPr>
            <p:cNvPr id="23" name="TextBox 22">
              <a:extLst>
                <a:ext uri="{FF2B5EF4-FFF2-40B4-BE49-F238E27FC236}">
                  <a16:creationId xmlns:a16="http://schemas.microsoft.com/office/drawing/2014/main" id="{506FB617-A5E9-F51C-410F-70C063DC0BB1}"/>
                </a:ext>
              </a:extLst>
            </p:cNvPr>
            <p:cNvSpPr txBox="1"/>
            <p:nvPr/>
          </p:nvSpPr>
          <p:spPr>
            <a:xfrm>
              <a:off x="504949" y="3197794"/>
              <a:ext cx="3592475" cy="3215973"/>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Date (30/04/2026)</a:t>
              </a:r>
            </a:p>
            <a:p>
              <a:pPr>
                <a:lnSpc>
                  <a:spcPct val="150000"/>
                </a:lnSpc>
              </a:pPr>
              <a:r>
                <a:rPr lang="en-US" sz="1600" dirty="0">
                  <a:latin typeface="Verdana" panose="020B0604030504040204" pitchFamily="34" charset="0"/>
                  <a:ea typeface="Verdana" panose="020B0604030504040204" pitchFamily="34" charset="0"/>
                </a:rPr>
                <a:t>Name of the Presenter: </a:t>
              </a:r>
              <a:r>
                <a:rPr lang="en-US" sz="1600" b="1" dirty="0">
                  <a:latin typeface="Verdana" panose="020B0604030504040204" pitchFamily="34" charset="0"/>
                  <a:ea typeface="Verdana" panose="020B0604030504040204" pitchFamily="34" charset="0"/>
                </a:rPr>
                <a:t>Vallari Kanade</a:t>
              </a:r>
            </a:p>
            <a:p>
              <a:pPr>
                <a:lnSpc>
                  <a:spcPct val="150000"/>
                </a:lnSpc>
              </a:pPr>
              <a:r>
                <a:rPr lang="en-US" sz="1600" b="1" dirty="0">
                  <a:latin typeface="Verdana" panose="020B0604030504040204" pitchFamily="34" charset="0"/>
                  <a:ea typeface="Verdana" panose="020B0604030504040204" pitchFamily="34" charset="0"/>
                </a:rPr>
                <a:t>                                   </a:t>
              </a:r>
              <a:r>
                <a:rPr lang="en-US" sz="1600" b="1" dirty="0" err="1">
                  <a:latin typeface="Verdana" panose="020B0604030504040204" pitchFamily="34" charset="0"/>
                  <a:ea typeface="Verdana" panose="020B0604030504040204" pitchFamily="34" charset="0"/>
                </a:rPr>
                <a:t>Swera</a:t>
              </a:r>
              <a:r>
                <a:rPr lang="en-US" sz="1600" b="1" dirty="0">
                  <a:latin typeface="Verdana" panose="020B0604030504040204" pitchFamily="34" charset="0"/>
                  <a:ea typeface="Verdana" panose="020B0604030504040204" pitchFamily="34" charset="0"/>
                </a:rPr>
                <a:t> Nagar</a:t>
              </a:r>
            </a:p>
            <a:p>
              <a:pPr>
                <a:lnSpc>
                  <a:spcPct val="150000"/>
                </a:lnSpc>
              </a:pPr>
              <a:r>
                <a:rPr lang="en-US" sz="1600" dirty="0">
                  <a:latin typeface="Verdana" panose="020B0604030504040204" pitchFamily="34" charset="0"/>
                  <a:ea typeface="Verdana" panose="020B0604030504040204" pitchFamily="34" charset="0"/>
                </a:rPr>
                <a:t>Email Id</a:t>
              </a:r>
              <a:r>
                <a:rPr lang="en-US" sz="1600">
                  <a:latin typeface="Verdana" panose="020B0604030504040204" pitchFamily="34" charset="0"/>
                  <a:ea typeface="Verdana" panose="020B0604030504040204" pitchFamily="34" charset="0"/>
                </a:rPr>
                <a:t>:</a:t>
              </a:r>
              <a:r>
                <a:rPr lang="en-US" sz="1600" b="1">
                  <a:latin typeface="Verdana" panose="020B0604030504040204" pitchFamily="34" charset="0"/>
                  <a:ea typeface="Verdana" panose="020B0604030504040204" pitchFamily="34" charset="0"/>
                </a:rPr>
                <a:t>25SC02087@</a:t>
              </a:r>
              <a:r>
                <a:rPr lang="en-US" sz="1600" b="1" dirty="0">
                  <a:latin typeface="Verdana" panose="020B0604030504040204" pitchFamily="34" charset="0"/>
                  <a:ea typeface="Verdana" panose="020B0604030504040204" pitchFamily="34" charset="0"/>
                </a:rPr>
                <a:t>gsfcuniversity.ac.in</a:t>
              </a:r>
            </a:p>
            <a:p>
              <a:pPr>
                <a:lnSpc>
                  <a:spcPct val="150000"/>
                </a:lnSpc>
              </a:pPr>
              <a:r>
                <a:rPr lang="en-US" sz="1600" b="1" dirty="0">
                  <a:latin typeface="Verdana" panose="020B0604030504040204" pitchFamily="34" charset="0"/>
                  <a:ea typeface="Verdana" panose="020B0604030504040204" pitchFamily="34" charset="0"/>
                </a:rPr>
                <a:t>             25SC02092@gsfcuniversity.ac.in</a:t>
              </a:r>
            </a:p>
            <a:p>
              <a:pPr marL="12700">
                <a:lnSpc>
                  <a:spcPct val="100000"/>
                </a:lnSpc>
                <a:spcBef>
                  <a:spcPts val="960"/>
                </a:spcBef>
              </a:pPr>
              <a:r>
                <a:rPr lang="en-US" sz="1600" dirty="0">
                  <a:latin typeface="Verdana" panose="020B0604030504040204" pitchFamily="34" charset="0"/>
                  <a:ea typeface="Verdana" panose="020B0604030504040204" pitchFamily="34" charset="0"/>
                </a:rPr>
                <a:t>Mobile No.:</a:t>
              </a:r>
              <a:r>
                <a:rPr lang="en-US" sz="1600" b="1" spc="-20" dirty="0">
                  <a:latin typeface="Verdana"/>
                  <a:cs typeface="Verdana"/>
                </a:rPr>
                <a:t>9157222633</a:t>
              </a:r>
            </a:p>
            <a:p>
              <a:pPr marL="12700">
                <a:lnSpc>
                  <a:spcPct val="100000"/>
                </a:lnSpc>
                <a:spcBef>
                  <a:spcPts val="960"/>
                </a:spcBef>
              </a:pPr>
              <a:r>
                <a:rPr lang="en-US" sz="1600" b="1" spc="-20" dirty="0">
                  <a:latin typeface="Verdana"/>
                  <a:cs typeface="Verdana"/>
                </a:rPr>
                <a:t>                 9825573341</a:t>
              </a:r>
              <a:endParaRPr lang="en-US" sz="1600" dirty="0">
                <a:latin typeface="Verdana" panose="020B0604030504040204" pitchFamily="34" charset="0"/>
                <a:ea typeface="Verdana" panose="020B0604030504040204" pitchFamily="34" charset="0"/>
              </a:endParaRPr>
            </a:p>
            <a:p>
              <a:pPr>
                <a:lnSpc>
                  <a:spcPct val="150000"/>
                </a:lnSpc>
              </a:pPr>
              <a:r>
                <a:rPr lang="en-US" sz="1600" dirty="0">
                  <a:latin typeface="Verdana" panose="020B0604030504040204" pitchFamily="34" charset="0"/>
                  <a:ea typeface="Verdana" panose="020B0604030504040204" pitchFamily="34" charset="0"/>
                </a:rPr>
                <a:t>Faculty Mentor Name: </a:t>
              </a:r>
              <a:r>
                <a:rPr lang="en-US" sz="1600" b="1" dirty="0">
                  <a:latin typeface="Verdana" panose="020B0604030504040204" pitchFamily="34" charset="0"/>
                  <a:ea typeface="Verdana" panose="020B0604030504040204" pitchFamily="34" charset="0"/>
                </a:rPr>
                <a:t>Dr. Prasad </a:t>
              </a:r>
              <a:r>
                <a:rPr lang="en-US" sz="1600" b="1" dirty="0" err="1">
                  <a:latin typeface="Verdana" panose="020B0604030504040204" pitchFamily="34" charset="0"/>
                  <a:ea typeface="Verdana" panose="020B0604030504040204" pitchFamily="34" charset="0"/>
                </a:rPr>
                <a:t>Andhare</a:t>
              </a:r>
              <a:endParaRPr lang="en-US" sz="1600" b="1" dirty="0">
                <a:latin typeface="Verdana" panose="020B0604030504040204" pitchFamily="34" charset="0"/>
                <a:ea typeface="Verdana" panose="020B0604030504040204" pitchFamily="34" charset="0"/>
              </a:endParaRPr>
            </a:p>
          </p:txBody>
        </p:sp>
      </p:grpSp>
      <p:sp>
        <p:nvSpPr>
          <p:cNvPr id="24" name="TextBox 23">
            <a:extLst>
              <a:ext uri="{FF2B5EF4-FFF2-40B4-BE49-F238E27FC236}">
                <a16:creationId xmlns:a16="http://schemas.microsoft.com/office/drawing/2014/main" id="{506FB617-A5E9-F51C-410F-70C063DC0BB1}"/>
              </a:ext>
            </a:extLst>
          </p:cNvPr>
          <p:cNvSpPr txBox="1"/>
          <p:nvPr/>
        </p:nvSpPr>
        <p:spPr>
          <a:xfrm>
            <a:off x="6565080" y="4052202"/>
            <a:ext cx="4841341" cy="1569660"/>
          </a:xfrm>
          <a:prstGeom prst="rect">
            <a:avLst/>
          </a:prstGeom>
          <a:noFill/>
        </p:spPr>
        <p:txBody>
          <a:bodyPr wrap="square" rtlCol="0">
            <a:spAutoFit/>
          </a:bodyPr>
          <a:lstStyle/>
          <a:p>
            <a:pPr>
              <a:lnSpc>
                <a:spcPct val="150000"/>
              </a:lnSpc>
            </a:pPr>
            <a:r>
              <a:rPr lang="en-US" sz="1600" dirty="0">
                <a:latin typeface="Verdana" panose="020B0604030504040204" pitchFamily="34" charset="0"/>
                <a:ea typeface="Verdana" panose="020B0604030504040204" pitchFamily="34" charset="0"/>
              </a:rPr>
              <a:t>Team No.: </a:t>
            </a:r>
            <a:r>
              <a:rPr lang="en-US" sz="1600" b="1" dirty="0">
                <a:latin typeface="Verdana" panose="020B0604030504040204" pitchFamily="34" charset="0"/>
                <a:ea typeface="Verdana" panose="020B0604030504040204" pitchFamily="34" charset="0"/>
              </a:rPr>
              <a:t>SOS_15</a:t>
            </a:r>
          </a:p>
          <a:p>
            <a:pPr>
              <a:lnSpc>
                <a:spcPct val="150000"/>
              </a:lnSpc>
            </a:pPr>
            <a:r>
              <a:rPr lang="en-US" sz="1600" dirty="0">
                <a:latin typeface="Verdana" panose="020B0604030504040204" pitchFamily="34" charset="0"/>
                <a:ea typeface="Verdana" panose="020B0604030504040204" pitchFamily="34" charset="0"/>
              </a:rPr>
              <a:t>Semester: </a:t>
            </a:r>
            <a:r>
              <a:rPr lang="en-US" sz="1600" b="1" dirty="0">
                <a:latin typeface="Verdana" panose="020B0604030504040204" pitchFamily="34" charset="0"/>
                <a:ea typeface="Verdana" panose="020B0604030504040204" pitchFamily="34" charset="0"/>
              </a:rPr>
              <a:t>2nd</a:t>
            </a:r>
          </a:p>
          <a:p>
            <a:pPr>
              <a:lnSpc>
                <a:spcPct val="150000"/>
              </a:lnSpc>
            </a:pPr>
            <a:r>
              <a:rPr lang="en-US" sz="1600" dirty="0">
                <a:latin typeface="Verdana" panose="020B0604030504040204" pitchFamily="34" charset="0"/>
                <a:ea typeface="Verdana" panose="020B0604030504040204" pitchFamily="34" charset="0"/>
              </a:rPr>
              <a:t>Program: </a:t>
            </a:r>
            <a:r>
              <a:rPr lang="en-US" sz="1600" b="1" dirty="0">
                <a:latin typeface="Verdana" panose="020B0604030504040204" pitchFamily="34" charset="0"/>
                <a:ea typeface="Verdana" panose="020B0604030504040204" pitchFamily="34" charset="0"/>
              </a:rPr>
              <a:t>B.sc Biotechnology </a:t>
            </a:r>
          </a:p>
          <a:p>
            <a:pPr>
              <a:lnSpc>
                <a:spcPct val="150000"/>
              </a:lnSpc>
            </a:pPr>
            <a:r>
              <a:rPr lang="en-US" sz="1600" dirty="0">
                <a:latin typeface="Verdana" panose="020B0604030504040204" pitchFamily="34" charset="0"/>
                <a:ea typeface="Verdana" panose="020B0604030504040204" pitchFamily="34" charset="0"/>
              </a:rPr>
              <a:t>School: </a:t>
            </a:r>
            <a:r>
              <a:rPr lang="en-US" sz="1600" b="1" dirty="0">
                <a:latin typeface="Verdana" panose="020B0604030504040204" pitchFamily="34" charset="0"/>
                <a:ea typeface="Verdana" panose="020B0604030504040204" pitchFamily="34" charset="0"/>
              </a:rPr>
              <a:t>School of Science</a:t>
            </a:r>
          </a:p>
        </p:txBody>
      </p:sp>
    </p:spTree>
    <p:extLst>
      <p:ext uri="{BB962C8B-B14F-4D97-AF65-F5344CB8AC3E}">
        <p14:creationId xmlns:p14="http://schemas.microsoft.com/office/powerpoint/2010/main" val="41265852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2</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Student Team</a:t>
            </a:r>
            <a:endParaRPr lang="en-IN" sz="2400" b="1" dirty="0">
              <a:latin typeface="Verdana" panose="020B0604030504040204" pitchFamily="34" charset="0"/>
              <a:ea typeface="Verdana" panose="020B0604030504040204" pitchFamily="34" charset="0"/>
            </a:endParaRPr>
          </a:p>
        </p:txBody>
      </p:sp>
      <p:graphicFrame>
        <p:nvGraphicFramePr>
          <p:cNvPr id="19" name="Content Placeholder 3"/>
          <p:cNvGraphicFramePr>
            <a:graphicFrameLocks/>
          </p:cNvGraphicFramePr>
          <p:nvPr>
            <p:extLst>
              <p:ext uri="{D42A27DB-BD31-4B8C-83A1-F6EECF244321}">
                <p14:modId xmlns:p14="http://schemas.microsoft.com/office/powerpoint/2010/main" val="694079338"/>
              </p:ext>
            </p:extLst>
          </p:nvPr>
        </p:nvGraphicFramePr>
        <p:xfrm>
          <a:off x="457199" y="1600200"/>
          <a:ext cx="10805304" cy="2612604"/>
        </p:xfrm>
        <a:graphic>
          <a:graphicData uri="http://schemas.openxmlformats.org/drawingml/2006/table">
            <a:tbl>
              <a:tblPr firstRow="1" bandRow="1">
                <a:tableStyleId>{5C22544A-7EE6-4342-B048-85BDC9FD1C3A}</a:tableStyleId>
              </a:tblPr>
              <a:tblGrid>
                <a:gridCol w="4536041">
                  <a:extLst>
                    <a:ext uri="{9D8B030D-6E8A-4147-A177-3AD203B41FA5}">
                      <a16:colId xmlns:a16="http://schemas.microsoft.com/office/drawing/2014/main" val="20000"/>
                    </a:ext>
                  </a:extLst>
                </a:gridCol>
                <a:gridCol w="2448885">
                  <a:extLst>
                    <a:ext uri="{9D8B030D-6E8A-4147-A177-3AD203B41FA5}">
                      <a16:colId xmlns:a16="http://schemas.microsoft.com/office/drawing/2014/main" val="20001"/>
                    </a:ext>
                  </a:extLst>
                </a:gridCol>
                <a:gridCol w="3820378">
                  <a:extLst>
                    <a:ext uri="{9D8B030D-6E8A-4147-A177-3AD203B41FA5}">
                      <a16:colId xmlns:a16="http://schemas.microsoft.com/office/drawing/2014/main" val="20002"/>
                    </a:ext>
                  </a:extLst>
                </a:gridCol>
              </a:tblGrid>
              <a:tr h="362164">
                <a:tc>
                  <a:txBody>
                    <a:bodyPr/>
                    <a:lstStyle/>
                    <a:p>
                      <a:pPr marL="90805">
                        <a:lnSpc>
                          <a:spcPct val="100000"/>
                        </a:lnSpc>
                        <a:spcBef>
                          <a:spcPts val="360"/>
                        </a:spcBef>
                      </a:pPr>
                      <a:r>
                        <a:rPr sz="1800" b="1" spc="-20" dirty="0">
                          <a:solidFill>
                            <a:srgbClr val="FFFFFF"/>
                          </a:solidFill>
                          <a:latin typeface="Verdana"/>
                          <a:cs typeface="Verdana"/>
                        </a:rPr>
                        <a:t>Name</a:t>
                      </a:r>
                      <a:endParaRPr sz="1800" dirty="0">
                        <a:latin typeface="Verdana"/>
                        <a:cs typeface="Verdana"/>
                      </a:endParaRPr>
                    </a:p>
                  </a:txBody>
                  <a:tcPr marL="0" marR="0" marB="0"/>
                </a:tc>
                <a:tc>
                  <a:txBody>
                    <a:bodyPr/>
                    <a:lstStyle/>
                    <a:p>
                      <a:pPr marL="90805">
                        <a:lnSpc>
                          <a:spcPct val="100000"/>
                        </a:lnSpc>
                        <a:spcBef>
                          <a:spcPts val="360"/>
                        </a:spcBef>
                      </a:pPr>
                      <a:r>
                        <a:rPr sz="1800" b="1" dirty="0">
                          <a:solidFill>
                            <a:srgbClr val="FFFFFF"/>
                          </a:solidFill>
                          <a:latin typeface="Verdana"/>
                          <a:cs typeface="Verdana"/>
                        </a:rPr>
                        <a:t>Enrollment</a:t>
                      </a:r>
                      <a:r>
                        <a:rPr sz="1800" b="1" spc="-105" dirty="0">
                          <a:solidFill>
                            <a:srgbClr val="FFFFFF"/>
                          </a:solidFill>
                          <a:latin typeface="Verdana"/>
                          <a:cs typeface="Verdana"/>
                        </a:rPr>
                        <a:t> </a:t>
                      </a:r>
                      <a:r>
                        <a:rPr sz="1800" b="1" spc="-25" dirty="0">
                          <a:solidFill>
                            <a:srgbClr val="FFFFFF"/>
                          </a:solidFill>
                          <a:latin typeface="Verdana"/>
                          <a:cs typeface="Verdana"/>
                        </a:rPr>
                        <a:t>No.</a:t>
                      </a:r>
                      <a:endParaRPr sz="1800">
                        <a:latin typeface="Verdana"/>
                        <a:cs typeface="Verdana"/>
                      </a:endParaRPr>
                    </a:p>
                  </a:txBody>
                  <a:tcPr marL="0" marR="0" marB="0"/>
                </a:tc>
                <a:tc>
                  <a:txBody>
                    <a:bodyPr/>
                    <a:lstStyle/>
                    <a:p>
                      <a:pPr marL="91440">
                        <a:lnSpc>
                          <a:spcPct val="100000"/>
                        </a:lnSpc>
                        <a:spcBef>
                          <a:spcPts val="360"/>
                        </a:spcBef>
                      </a:pPr>
                      <a:r>
                        <a:rPr sz="1800" b="1" dirty="0">
                          <a:solidFill>
                            <a:srgbClr val="FFFFFF"/>
                          </a:solidFill>
                          <a:latin typeface="Verdana"/>
                          <a:cs typeface="Verdana"/>
                        </a:rPr>
                        <a:t>Key</a:t>
                      </a:r>
                      <a:r>
                        <a:rPr sz="1800" b="1" spc="-35" dirty="0">
                          <a:solidFill>
                            <a:srgbClr val="FFFFFF"/>
                          </a:solidFill>
                          <a:latin typeface="Verdana"/>
                          <a:cs typeface="Verdana"/>
                        </a:rPr>
                        <a:t> </a:t>
                      </a:r>
                      <a:r>
                        <a:rPr sz="1800" b="1" spc="-10" dirty="0">
                          <a:solidFill>
                            <a:srgbClr val="FFFFFF"/>
                          </a:solidFill>
                          <a:latin typeface="Verdana"/>
                          <a:cs typeface="Verdana"/>
                        </a:rPr>
                        <a:t>Responsibility</a:t>
                      </a:r>
                      <a:endParaRPr sz="1800">
                        <a:latin typeface="Verdana"/>
                        <a:cs typeface="Verdana"/>
                      </a:endParaRPr>
                    </a:p>
                  </a:txBody>
                  <a:tcPr marL="0" marR="0" marB="0"/>
                </a:tc>
                <a:extLst>
                  <a:ext uri="{0D108BD9-81ED-4DB2-BD59-A6C34878D82A}">
                    <a16:rowId xmlns:a16="http://schemas.microsoft.com/office/drawing/2014/main" val="10000"/>
                  </a:ext>
                </a:extLst>
              </a:tr>
              <a:tr h="370840">
                <a:tc>
                  <a:txBody>
                    <a:bodyPr/>
                    <a:lstStyle/>
                    <a:p>
                      <a:pPr marL="90805">
                        <a:lnSpc>
                          <a:spcPct val="100000"/>
                        </a:lnSpc>
                        <a:spcBef>
                          <a:spcPts val="209"/>
                        </a:spcBef>
                      </a:pPr>
                      <a:r>
                        <a:rPr sz="1800" dirty="0">
                          <a:latin typeface="Verdana"/>
                          <a:cs typeface="Verdana"/>
                        </a:rPr>
                        <a:t>Swera</a:t>
                      </a:r>
                      <a:r>
                        <a:rPr sz="1800" spc="-95" dirty="0">
                          <a:latin typeface="Verdana"/>
                          <a:cs typeface="Verdana"/>
                        </a:rPr>
                        <a:t> </a:t>
                      </a:r>
                      <a:r>
                        <a:rPr sz="1800" spc="-20" dirty="0">
                          <a:latin typeface="Verdana"/>
                          <a:cs typeface="Verdana"/>
                        </a:rPr>
                        <a:t>Nagar</a:t>
                      </a:r>
                      <a:endParaRPr sz="1800" dirty="0">
                        <a:latin typeface="Verdana"/>
                        <a:cs typeface="Verdana"/>
                      </a:endParaRPr>
                    </a:p>
                  </a:txBody>
                  <a:tcPr marL="0" marR="0" marT="26669" marB="0"/>
                </a:tc>
                <a:tc>
                  <a:txBody>
                    <a:bodyPr/>
                    <a:lstStyle/>
                    <a:p>
                      <a:pPr marL="90805">
                        <a:lnSpc>
                          <a:spcPct val="100000"/>
                        </a:lnSpc>
                        <a:spcBef>
                          <a:spcPts val="209"/>
                        </a:spcBef>
                      </a:pPr>
                      <a:r>
                        <a:rPr sz="1800" spc="-10" dirty="0">
                          <a:latin typeface="Verdana"/>
                          <a:cs typeface="Verdana"/>
                        </a:rPr>
                        <a:t>25SC02087</a:t>
                      </a:r>
                      <a:endParaRPr sz="1800">
                        <a:latin typeface="Verdana"/>
                        <a:cs typeface="Verdana"/>
                      </a:endParaRPr>
                    </a:p>
                  </a:txBody>
                  <a:tcPr marL="0" marR="0" marT="26669" marB="0"/>
                </a:tc>
                <a:tc>
                  <a:txBody>
                    <a:bodyPr/>
                    <a:lstStyle/>
                    <a:p>
                      <a:pPr algn="ctr">
                        <a:lnSpc>
                          <a:spcPct val="100000"/>
                        </a:lnSpc>
                      </a:pPr>
                      <a:r>
                        <a:rPr lang="en-US" sz="1800" dirty="0">
                          <a:latin typeface="Verdana" panose="020B0604030504040204" pitchFamily="34" charset="0"/>
                          <a:ea typeface="Verdana" panose="020B0604030504040204" pitchFamily="34" charset="0"/>
                          <a:cs typeface="Times New Roman"/>
                        </a:rPr>
                        <a:t>Presenter</a:t>
                      </a:r>
                      <a:r>
                        <a:rPr lang="en-US" sz="900" dirty="0">
                          <a:latin typeface="Times New Roman"/>
                          <a:cs typeface="Times New Roman"/>
                        </a:rPr>
                        <a:t> </a:t>
                      </a:r>
                      <a:endParaRPr sz="900" dirty="0">
                        <a:latin typeface="Times New Roman"/>
                        <a:cs typeface="Times New Roman"/>
                      </a:endParaRPr>
                    </a:p>
                  </a:txBody>
                  <a:tcPr marL="0" marR="0" marT="0" marB="0"/>
                </a:tc>
                <a:extLst>
                  <a:ext uri="{0D108BD9-81ED-4DB2-BD59-A6C34878D82A}">
                    <a16:rowId xmlns:a16="http://schemas.microsoft.com/office/drawing/2014/main" val="10001"/>
                  </a:ext>
                </a:extLst>
              </a:tr>
              <a:tr h="370840">
                <a:tc>
                  <a:txBody>
                    <a:bodyPr/>
                    <a:lstStyle/>
                    <a:p>
                      <a:pPr marL="90805">
                        <a:lnSpc>
                          <a:spcPct val="100000"/>
                        </a:lnSpc>
                        <a:spcBef>
                          <a:spcPts val="360"/>
                        </a:spcBef>
                      </a:pPr>
                      <a:r>
                        <a:rPr sz="1800" dirty="0">
                          <a:latin typeface="Verdana"/>
                          <a:cs typeface="Verdana"/>
                        </a:rPr>
                        <a:t>Aditya</a:t>
                      </a:r>
                      <a:r>
                        <a:rPr sz="1800" spc="-95" dirty="0">
                          <a:latin typeface="Verdana"/>
                          <a:cs typeface="Verdana"/>
                        </a:rPr>
                        <a:t> </a:t>
                      </a:r>
                      <a:r>
                        <a:rPr sz="1800" spc="-10" dirty="0">
                          <a:latin typeface="Verdana"/>
                          <a:cs typeface="Verdana"/>
                        </a:rPr>
                        <a:t>Tanikella</a:t>
                      </a:r>
                      <a:endParaRPr sz="1800" dirty="0">
                        <a:latin typeface="Verdana"/>
                        <a:cs typeface="Verdana"/>
                      </a:endParaRPr>
                    </a:p>
                  </a:txBody>
                  <a:tcPr marL="0" marR="0" marB="0"/>
                </a:tc>
                <a:tc>
                  <a:txBody>
                    <a:bodyPr/>
                    <a:lstStyle/>
                    <a:p>
                      <a:pPr marL="90805">
                        <a:lnSpc>
                          <a:spcPct val="100000"/>
                        </a:lnSpc>
                        <a:spcBef>
                          <a:spcPts val="360"/>
                        </a:spcBef>
                      </a:pPr>
                      <a:r>
                        <a:rPr sz="1800" spc="-10" dirty="0">
                          <a:latin typeface="Verdana"/>
                          <a:cs typeface="Verdana"/>
                        </a:rPr>
                        <a:t>25SC02088</a:t>
                      </a:r>
                      <a:endParaRPr sz="1800">
                        <a:latin typeface="Verdana"/>
                        <a:cs typeface="Verdana"/>
                      </a:endParaRPr>
                    </a:p>
                  </a:txBody>
                  <a:tcPr marL="0" marR="0" marB="0"/>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dirty="0">
                          <a:latin typeface="Times New Roman"/>
                          <a:cs typeface="Times New Roman"/>
                        </a:rPr>
                        <a:t> </a:t>
                      </a:r>
                      <a:r>
                        <a:rPr lang="en-US" sz="1800" dirty="0">
                          <a:latin typeface="Verdana" panose="020B0604030504040204" pitchFamily="34" charset="0"/>
                          <a:ea typeface="Verdana" panose="020B0604030504040204" pitchFamily="34" charset="0"/>
                          <a:cs typeface="Times New Roman"/>
                        </a:rPr>
                        <a:t>Base Material Development</a:t>
                      </a:r>
                    </a:p>
                  </a:txBody>
                  <a:tcPr marL="0" marR="0" marT="0" marB="0"/>
                </a:tc>
                <a:extLst>
                  <a:ext uri="{0D108BD9-81ED-4DB2-BD59-A6C34878D82A}">
                    <a16:rowId xmlns:a16="http://schemas.microsoft.com/office/drawing/2014/main" val="10002"/>
                  </a:ext>
                </a:extLst>
              </a:tr>
              <a:tr h="370840">
                <a:tc>
                  <a:txBody>
                    <a:bodyPr/>
                    <a:lstStyle/>
                    <a:p>
                      <a:pPr marL="90805">
                        <a:lnSpc>
                          <a:spcPct val="100000"/>
                        </a:lnSpc>
                        <a:spcBef>
                          <a:spcPts val="359"/>
                        </a:spcBef>
                      </a:pPr>
                      <a:r>
                        <a:rPr sz="1800" dirty="0">
                          <a:latin typeface="Verdana"/>
                          <a:cs typeface="Verdana"/>
                        </a:rPr>
                        <a:t>Vansh</a:t>
                      </a:r>
                      <a:r>
                        <a:rPr sz="1800" spc="-100" dirty="0">
                          <a:latin typeface="Verdana"/>
                          <a:cs typeface="Verdana"/>
                        </a:rPr>
                        <a:t> </a:t>
                      </a:r>
                      <a:r>
                        <a:rPr sz="1800" spc="-10" dirty="0">
                          <a:latin typeface="Verdana"/>
                          <a:cs typeface="Verdana"/>
                        </a:rPr>
                        <a:t>Umrigar</a:t>
                      </a:r>
                      <a:endParaRPr sz="1800">
                        <a:latin typeface="Verdana"/>
                        <a:cs typeface="Verdana"/>
                      </a:endParaRPr>
                    </a:p>
                  </a:txBody>
                  <a:tcPr marL="0" marR="0" marT="45719" marB="0"/>
                </a:tc>
                <a:tc>
                  <a:txBody>
                    <a:bodyPr/>
                    <a:lstStyle/>
                    <a:p>
                      <a:pPr marL="90805">
                        <a:lnSpc>
                          <a:spcPct val="100000"/>
                        </a:lnSpc>
                        <a:spcBef>
                          <a:spcPts val="359"/>
                        </a:spcBef>
                      </a:pPr>
                      <a:r>
                        <a:rPr sz="1800" spc="-10" dirty="0">
                          <a:latin typeface="Verdana"/>
                          <a:cs typeface="Verdana"/>
                        </a:rPr>
                        <a:t>25SC02089</a:t>
                      </a:r>
                      <a:endParaRPr sz="1800">
                        <a:latin typeface="Verdana"/>
                        <a:cs typeface="Verdana"/>
                      </a:endParaRPr>
                    </a:p>
                  </a:txBody>
                  <a:tcPr marL="0" marR="0" marT="45719" marB="0"/>
                </a:tc>
                <a:tc>
                  <a:txBody>
                    <a:bodyPr/>
                    <a:lstStyle/>
                    <a:p>
                      <a:pPr algn="ctr">
                        <a:lnSpc>
                          <a:spcPct val="100000"/>
                        </a:lnSpc>
                      </a:pPr>
                      <a:r>
                        <a:rPr lang="en-US" sz="1800" dirty="0">
                          <a:latin typeface="Verdana" panose="020B0604030504040204" pitchFamily="34" charset="0"/>
                          <a:ea typeface="Verdana" panose="020B0604030504040204" pitchFamily="34" charset="0"/>
                          <a:cs typeface="Times New Roman"/>
                        </a:rPr>
                        <a:t>Treasurer</a:t>
                      </a:r>
                      <a:endParaRPr sz="1800" dirty="0">
                        <a:latin typeface="Verdana" panose="020B0604030504040204" pitchFamily="34" charset="0"/>
                        <a:ea typeface="Verdana" panose="020B0604030504040204" pitchFamily="34" charset="0"/>
                        <a:cs typeface="Times New Roman"/>
                      </a:endParaRPr>
                    </a:p>
                  </a:txBody>
                  <a:tcPr marL="0" marR="0" marT="0" marB="0"/>
                </a:tc>
                <a:extLst>
                  <a:ext uri="{0D108BD9-81ED-4DB2-BD59-A6C34878D82A}">
                    <a16:rowId xmlns:a16="http://schemas.microsoft.com/office/drawing/2014/main" val="10003"/>
                  </a:ext>
                </a:extLst>
              </a:tr>
              <a:tr h="370840">
                <a:tc>
                  <a:txBody>
                    <a:bodyPr/>
                    <a:lstStyle/>
                    <a:p>
                      <a:pPr marL="90805">
                        <a:lnSpc>
                          <a:spcPct val="100000"/>
                        </a:lnSpc>
                        <a:spcBef>
                          <a:spcPts val="360"/>
                        </a:spcBef>
                      </a:pPr>
                      <a:r>
                        <a:rPr sz="1800" dirty="0">
                          <a:latin typeface="Verdana"/>
                          <a:cs typeface="Verdana"/>
                        </a:rPr>
                        <a:t>Hetvika</a:t>
                      </a:r>
                      <a:r>
                        <a:rPr sz="1800" spc="-45" dirty="0">
                          <a:latin typeface="Verdana"/>
                          <a:cs typeface="Verdana"/>
                        </a:rPr>
                        <a:t> </a:t>
                      </a:r>
                      <a:r>
                        <a:rPr sz="1800" spc="-10" dirty="0">
                          <a:latin typeface="Verdana"/>
                          <a:cs typeface="Verdana"/>
                        </a:rPr>
                        <a:t>Vaghela</a:t>
                      </a:r>
                      <a:endParaRPr sz="1800">
                        <a:latin typeface="Verdana"/>
                        <a:cs typeface="Verdana"/>
                      </a:endParaRPr>
                    </a:p>
                  </a:txBody>
                  <a:tcPr marL="0" marR="0" marB="0"/>
                </a:tc>
                <a:tc>
                  <a:txBody>
                    <a:bodyPr/>
                    <a:lstStyle/>
                    <a:p>
                      <a:pPr marL="90805">
                        <a:lnSpc>
                          <a:spcPct val="100000"/>
                        </a:lnSpc>
                        <a:spcBef>
                          <a:spcPts val="360"/>
                        </a:spcBef>
                      </a:pPr>
                      <a:r>
                        <a:rPr sz="1800" spc="-10" dirty="0">
                          <a:latin typeface="Verdana"/>
                          <a:cs typeface="Verdana"/>
                        </a:rPr>
                        <a:t>25SC02090</a:t>
                      </a:r>
                      <a:endParaRPr sz="1800">
                        <a:latin typeface="Verdana"/>
                        <a:cs typeface="Verdana"/>
                      </a:endParaRPr>
                    </a:p>
                  </a:txBody>
                  <a:tcPr marL="0" marR="0" marB="0"/>
                </a:tc>
                <a:tc>
                  <a:txBody>
                    <a:bodyPr/>
                    <a:lstStyle/>
                    <a:p>
                      <a:pPr algn="ctr">
                        <a:lnSpc>
                          <a:spcPct val="100000"/>
                        </a:lnSpc>
                      </a:pPr>
                      <a:r>
                        <a:rPr lang="en-US" sz="1400" dirty="0">
                          <a:latin typeface="Times New Roman"/>
                          <a:cs typeface="Times New Roman"/>
                        </a:rPr>
                        <a:t>       </a:t>
                      </a:r>
                      <a:r>
                        <a:rPr lang="en-US" sz="1800" dirty="0">
                          <a:latin typeface="Verdana" panose="020B0604030504040204" pitchFamily="34" charset="0"/>
                          <a:ea typeface="Verdana" panose="020B0604030504040204" pitchFamily="34" charset="0"/>
                          <a:cs typeface="Times New Roman"/>
                        </a:rPr>
                        <a:t>Documentation Lead</a:t>
                      </a:r>
                      <a:endParaRPr sz="1800" dirty="0">
                        <a:latin typeface="Verdana" panose="020B0604030504040204" pitchFamily="34" charset="0"/>
                        <a:ea typeface="Verdana" panose="020B0604030504040204" pitchFamily="34" charset="0"/>
                        <a:cs typeface="Times New Roman"/>
                      </a:endParaRPr>
                    </a:p>
                  </a:txBody>
                  <a:tcPr marL="0" marR="0" marT="0" marB="0"/>
                </a:tc>
                <a:extLst>
                  <a:ext uri="{0D108BD9-81ED-4DB2-BD59-A6C34878D82A}">
                    <a16:rowId xmlns:a16="http://schemas.microsoft.com/office/drawing/2014/main" val="10004"/>
                  </a:ext>
                </a:extLst>
              </a:tr>
              <a:tr h="396240">
                <a:tc>
                  <a:txBody>
                    <a:bodyPr/>
                    <a:lstStyle/>
                    <a:p>
                      <a:pPr marL="90805">
                        <a:lnSpc>
                          <a:spcPct val="100000"/>
                        </a:lnSpc>
                        <a:spcBef>
                          <a:spcPts val="359"/>
                        </a:spcBef>
                      </a:pPr>
                      <a:r>
                        <a:rPr sz="1800" dirty="0">
                          <a:latin typeface="Verdana"/>
                          <a:cs typeface="Verdana"/>
                        </a:rPr>
                        <a:t>Vedika</a:t>
                      </a:r>
                      <a:r>
                        <a:rPr sz="1800" spc="-145" dirty="0">
                          <a:latin typeface="Verdana"/>
                          <a:cs typeface="Verdana"/>
                        </a:rPr>
                        <a:t> </a:t>
                      </a:r>
                      <a:r>
                        <a:rPr sz="1800" spc="-10" dirty="0">
                          <a:latin typeface="Verdana"/>
                          <a:cs typeface="Verdana"/>
                        </a:rPr>
                        <a:t>Vaghela</a:t>
                      </a:r>
                      <a:endParaRPr sz="1800">
                        <a:latin typeface="Verdana"/>
                        <a:cs typeface="Verdana"/>
                      </a:endParaRPr>
                    </a:p>
                  </a:txBody>
                  <a:tcPr marL="0" marR="0" marT="45719" marB="0"/>
                </a:tc>
                <a:tc>
                  <a:txBody>
                    <a:bodyPr/>
                    <a:lstStyle/>
                    <a:p>
                      <a:pPr marL="90805">
                        <a:lnSpc>
                          <a:spcPct val="100000"/>
                        </a:lnSpc>
                        <a:spcBef>
                          <a:spcPts val="359"/>
                        </a:spcBef>
                      </a:pPr>
                      <a:r>
                        <a:rPr sz="1800" spc="-10" dirty="0">
                          <a:latin typeface="Verdana"/>
                          <a:cs typeface="Verdana"/>
                        </a:rPr>
                        <a:t>25SC02091</a:t>
                      </a:r>
                      <a:endParaRPr sz="1800">
                        <a:latin typeface="Verdana"/>
                        <a:cs typeface="Verdana"/>
                      </a:endParaRPr>
                    </a:p>
                  </a:txBody>
                  <a:tcPr marL="0" marR="0" marT="45719" marB="0"/>
                </a:tc>
                <a:tc>
                  <a:txBody>
                    <a:bodyPr/>
                    <a:lstStyle/>
                    <a:p>
                      <a:pPr algn="ctr">
                        <a:lnSpc>
                          <a:spcPct val="100000"/>
                        </a:lnSpc>
                      </a:pPr>
                      <a:r>
                        <a:rPr lang="en-US" sz="1400" dirty="0">
                          <a:latin typeface="Times New Roman"/>
                          <a:cs typeface="Times New Roman"/>
                        </a:rPr>
                        <a:t> </a:t>
                      </a:r>
                      <a:r>
                        <a:rPr lang="en-US" sz="1800" dirty="0">
                          <a:latin typeface="Verdana" panose="020B0604030504040204" pitchFamily="34" charset="0"/>
                          <a:ea typeface="Verdana" panose="020B0604030504040204" pitchFamily="34" charset="0"/>
                          <a:cs typeface="Times New Roman"/>
                        </a:rPr>
                        <a:t>Bio Active Additives</a:t>
                      </a:r>
                      <a:endParaRPr sz="1800" dirty="0">
                        <a:latin typeface="Verdana" panose="020B0604030504040204" pitchFamily="34" charset="0"/>
                        <a:ea typeface="Verdana" panose="020B0604030504040204" pitchFamily="34" charset="0"/>
                        <a:cs typeface="Times New Roman"/>
                      </a:endParaRPr>
                    </a:p>
                  </a:txBody>
                  <a:tcPr marL="0" marR="0" marT="0" marB="0"/>
                </a:tc>
                <a:extLst>
                  <a:ext uri="{0D108BD9-81ED-4DB2-BD59-A6C34878D82A}">
                    <a16:rowId xmlns:a16="http://schemas.microsoft.com/office/drawing/2014/main" val="10006"/>
                  </a:ext>
                </a:extLst>
              </a:tr>
              <a:tr h="370840">
                <a:tc>
                  <a:txBody>
                    <a:bodyPr/>
                    <a:lstStyle/>
                    <a:p>
                      <a:pPr marL="90805">
                        <a:lnSpc>
                          <a:spcPct val="100000"/>
                        </a:lnSpc>
                        <a:spcBef>
                          <a:spcPts val="360"/>
                        </a:spcBef>
                      </a:pPr>
                      <a:r>
                        <a:rPr sz="1800" dirty="0">
                          <a:latin typeface="Verdana"/>
                          <a:cs typeface="Verdana"/>
                        </a:rPr>
                        <a:t>Vallari</a:t>
                      </a:r>
                      <a:r>
                        <a:rPr sz="1800" spc="-145" dirty="0">
                          <a:latin typeface="Verdana"/>
                          <a:cs typeface="Verdana"/>
                        </a:rPr>
                        <a:t> </a:t>
                      </a:r>
                      <a:r>
                        <a:rPr lang="en-US" sz="1800" spc="-20" dirty="0">
                          <a:latin typeface="Verdana"/>
                          <a:cs typeface="Verdana"/>
                        </a:rPr>
                        <a:t>Kanade</a:t>
                      </a:r>
                      <a:endParaRPr sz="1800" dirty="0">
                        <a:latin typeface="Verdana"/>
                        <a:cs typeface="Verdana"/>
                      </a:endParaRPr>
                    </a:p>
                  </a:txBody>
                  <a:tcPr marL="0" marR="0" marB="0"/>
                </a:tc>
                <a:tc>
                  <a:txBody>
                    <a:bodyPr/>
                    <a:lstStyle/>
                    <a:p>
                      <a:pPr marL="90805">
                        <a:lnSpc>
                          <a:spcPct val="100000"/>
                        </a:lnSpc>
                        <a:spcBef>
                          <a:spcPts val="360"/>
                        </a:spcBef>
                      </a:pPr>
                      <a:r>
                        <a:rPr sz="1800" spc="-10" dirty="0">
                          <a:latin typeface="Verdana"/>
                          <a:cs typeface="Verdana"/>
                        </a:rPr>
                        <a:t>25SC02092</a:t>
                      </a:r>
                      <a:endParaRPr sz="1800">
                        <a:latin typeface="Verdana"/>
                        <a:cs typeface="Verdana"/>
                      </a:endParaRPr>
                    </a:p>
                  </a:txBody>
                  <a:tcPr marL="0" marR="0" marB="0"/>
                </a:tc>
                <a:tc>
                  <a:txBody>
                    <a:bodyPr/>
                    <a:lstStyle/>
                    <a:p>
                      <a:pPr algn="ctr">
                        <a:lnSpc>
                          <a:spcPct val="100000"/>
                        </a:lnSpc>
                      </a:pPr>
                      <a:r>
                        <a:rPr lang="en-US" sz="1800" dirty="0">
                          <a:latin typeface="Verdana" panose="020B0604030504040204" pitchFamily="34" charset="0"/>
                          <a:ea typeface="Verdana" panose="020B0604030504040204" pitchFamily="34" charset="0"/>
                          <a:cs typeface="Times New Roman"/>
                        </a:rPr>
                        <a:t>Presenter</a:t>
                      </a:r>
                      <a:endParaRPr sz="1800" dirty="0">
                        <a:latin typeface="Times New Roman"/>
                        <a:cs typeface="Times New Roman"/>
                      </a:endParaRPr>
                    </a:p>
                  </a:txBody>
                  <a:tcPr marL="0" marR="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34187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3</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21" name="TextBox 20">
            <a:extLst>
              <a:ext uri="{FF2B5EF4-FFF2-40B4-BE49-F238E27FC236}">
                <a16:creationId xmlns:a16="http://schemas.microsoft.com/office/drawing/2014/main" id="{BE335F3C-F428-ED87-64FD-52E602C87D5A}"/>
              </a:ext>
            </a:extLst>
          </p:cNvPr>
          <p:cNvSpPr txBox="1"/>
          <p:nvPr/>
        </p:nvSpPr>
        <p:spPr>
          <a:xfrm>
            <a:off x="604887" y="1237657"/>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Faculty Mentor</a:t>
            </a:r>
            <a:endParaRPr lang="en-IN" sz="2400" b="1" dirty="0">
              <a:latin typeface="Verdana" panose="020B0604030504040204" pitchFamily="34" charset="0"/>
              <a:ea typeface="Verdana" panose="020B0604030504040204" pitchFamily="34" charset="0"/>
            </a:endParaRPr>
          </a:p>
        </p:txBody>
      </p:sp>
      <p:graphicFrame>
        <p:nvGraphicFramePr>
          <p:cNvPr id="22" name="Content Placeholder 3"/>
          <p:cNvGraphicFramePr>
            <a:graphicFrameLocks/>
          </p:cNvGraphicFramePr>
          <p:nvPr>
            <p:extLst>
              <p:ext uri="{D42A27DB-BD31-4B8C-83A1-F6EECF244321}">
                <p14:modId xmlns:p14="http://schemas.microsoft.com/office/powerpoint/2010/main" val="2597005825"/>
              </p:ext>
            </p:extLst>
          </p:nvPr>
        </p:nvGraphicFramePr>
        <p:xfrm>
          <a:off x="604887" y="2003003"/>
          <a:ext cx="10805304" cy="807719"/>
        </p:xfrm>
        <a:graphic>
          <a:graphicData uri="http://schemas.openxmlformats.org/drawingml/2006/table">
            <a:tbl>
              <a:tblPr firstRow="1" bandRow="1">
                <a:tableStyleId>{5C22544A-7EE6-4342-B048-85BDC9FD1C3A}</a:tableStyleId>
              </a:tblPr>
              <a:tblGrid>
                <a:gridCol w="4211501">
                  <a:extLst>
                    <a:ext uri="{9D8B030D-6E8A-4147-A177-3AD203B41FA5}">
                      <a16:colId xmlns:a16="http://schemas.microsoft.com/office/drawing/2014/main" val="20000"/>
                    </a:ext>
                  </a:extLst>
                </a:gridCol>
                <a:gridCol w="2773425">
                  <a:extLst>
                    <a:ext uri="{9D8B030D-6E8A-4147-A177-3AD203B41FA5}">
                      <a16:colId xmlns:a16="http://schemas.microsoft.com/office/drawing/2014/main" val="20001"/>
                    </a:ext>
                  </a:extLst>
                </a:gridCol>
                <a:gridCol w="3820378">
                  <a:extLst>
                    <a:ext uri="{9D8B030D-6E8A-4147-A177-3AD203B41FA5}">
                      <a16:colId xmlns:a16="http://schemas.microsoft.com/office/drawing/2014/main" val="20002"/>
                    </a:ext>
                  </a:extLst>
                </a:gridCol>
              </a:tblGrid>
              <a:tr h="0">
                <a:tc>
                  <a:txBody>
                    <a:bodyPr/>
                    <a:lstStyle/>
                    <a:p>
                      <a:pPr marL="91440">
                        <a:lnSpc>
                          <a:spcPct val="100000"/>
                        </a:lnSpc>
                        <a:spcBef>
                          <a:spcPts val="359"/>
                        </a:spcBef>
                      </a:pPr>
                      <a:r>
                        <a:rPr sz="1800" b="1" spc="-20" dirty="0">
                          <a:solidFill>
                            <a:srgbClr val="FFFFFF"/>
                          </a:solidFill>
                          <a:latin typeface="Verdana"/>
                          <a:cs typeface="Verdana"/>
                        </a:rPr>
                        <a:t>Name</a:t>
                      </a:r>
                      <a:endParaRPr sz="1800" dirty="0">
                        <a:latin typeface="Verdana"/>
                        <a:cs typeface="Verdana"/>
                      </a:endParaRPr>
                    </a:p>
                  </a:txBody>
                  <a:tcPr marL="0" marR="0" marT="45719" marB="0"/>
                </a:tc>
                <a:tc>
                  <a:txBody>
                    <a:bodyPr/>
                    <a:lstStyle/>
                    <a:p>
                      <a:pPr marL="90805">
                        <a:lnSpc>
                          <a:spcPct val="100000"/>
                        </a:lnSpc>
                        <a:spcBef>
                          <a:spcPts val="359"/>
                        </a:spcBef>
                      </a:pPr>
                      <a:r>
                        <a:rPr sz="1800" b="1" spc="-10" dirty="0">
                          <a:solidFill>
                            <a:srgbClr val="FFFFFF"/>
                          </a:solidFill>
                          <a:latin typeface="Verdana"/>
                          <a:cs typeface="Verdana"/>
                        </a:rPr>
                        <a:t>Designation</a:t>
                      </a:r>
                      <a:endParaRPr sz="1800">
                        <a:latin typeface="Verdana"/>
                        <a:cs typeface="Verdana"/>
                      </a:endParaRPr>
                    </a:p>
                  </a:txBody>
                  <a:tcPr marL="0" marR="0" marT="45719" marB="0"/>
                </a:tc>
                <a:tc>
                  <a:txBody>
                    <a:bodyPr/>
                    <a:lstStyle/>
                    <a:p>
                      <a:pPr marL="90805">
                        <a:lnSpc>
                          <a:spcPct val="100000"/>
                        </a:lnSpc>
                        <a:spcBef>
                          <a:spcPts val="359"/>
                        </a:spcBef>
                      </a:pPr>
                      <a:r>
                        <a:rPr sz="1800" b="1" dirty="0">
                          <a:solidFill>
                            <a:srgbClr val="FFFFFF"/>
                          </a:solidFill>
                          <a:latin typeface="Verdana"/>
                          <a:cs typeface="Verdana"/>
                        </a:rPr>
                        <a:t>Department,</a:t>
                      </a:r>
                      <a:r>
                        <a:rPr sz="1800" b="1" spc="-114" dirty="0">
                          <a:solidFill>
                            <a:srgbClr val="FFFFFF"/>
                          </a:solidFill>
                          <a:latin typeface="Verdana"/>
                          <a:cs typeface="Verdana"/>
                        </a:rPr>
                        <a:t> </a:t>
                      </a:r>
                      <a:r>
                        <a:rPr sz="1800" b="1" spc="-10" dirty="0">
                          <a:solidFill>
                            <a:srgbClr val="FFFFFF"/>
                          </a:solidFill>
                          <a:latin typeface="Verdana"/>
                          <a:cs typeface="Verdana"/>
                        </a:rPr>
                        <a:t>School</a:t>
                      </a:r>
                      <a:endParaRPr sz="1800">
                        <a:latin typeface="Verdana"/>
                        <a:cs typeface="Verdana"/>
                      </a:endParaRPr>
                    </a:p>
                  </a:txBody>
                  <a:tcPr marL="0" marR="0" marT="45719" marB="0"/>
                </a:tc>
                <a:extLst>
                  <a:ext uri="{0D108BD9-81ED-4DB2-BD59-A6C34878D82A}">
                    <a16:rowId xmlns:a16="http://schemas.microsoft.com/office/drawing/2014/main" val="10000"/>
                  </a:ext>
                </a:extLst>
              </a:tr>
              <a:tr h="370840">
                <a:tc>
                  <a:txBody>
                    <a:bodyPr/>
                    <a:lstStyle/>
                    <a:p>
                      <a:pPr marL="91440">
                        <a:lnSpc>
                          <a:spcPct val="100000"/>
                        </a:lnSpc>
                        <a:spcBef>
                          <a:spcPts val="210"/>
                        </a:spcBef>
                      </a:pPr>
                      <a:r>
                        <a:rPr sz="1800" spc="-65" dirty="0">
                          <a:latin typeface="Verdana"/>
                          <a:cs typeface="Verdana"/>
                        </a:rPr>
                        <a:t>Dr.</a:t>
                      </a:r>
                      <a:r>
                        <a:rPr sz="1800" spc="-80" dirty="0">
                          <a:latin typeface="Verdana"/>
                          <a:cs typeface="Verdana"/>
                        </a:rPr>
                        <a:t> </a:t>
                      </a:r>
                      <a:r>
                        <a:rPr sz="1800" dirty="0">
                          <a:latin typeface="Verdana"/>
                          <a:cs typeface="Verdana"/>
                        </a:rPr>
                        <a:t>Prasad</a:t>
                      </a:r>
                      <a:r>
                        <a:rPr sz="1800" spc="-75" dirty="0">
                          <a:latin typeface="Verdana"/>
                          <a:cs typeface="Verdana"/>
                        </a:rPr>
                        <a:t> </a:t>
                      </a:r>
                      <a:r>
                        <a:rPr sz="1800" spc="-10" dirty="0">
                          <a:latin typeface="Verdana"/>
                          <a:cs typeface="Verdana"/>
                        </a:rPr>
                        <a:t>Andhare</a:t>
                      </a:r>
                      <a:endParaRPr sz="1800" dirty="0">
                        <a:latin typeface="Verdana"/>
                        <a:cs typeface="Verdana"/>
                      </a:endParaRPr>
                    </a:p>
                  </a:txBody>
                  <a:tcPr marL="0" marR="0" marT="26670" marB="0"/>
                </a:tc>
                <a:tc>
                  <a:txBody>
                    <a:bodyPr/>
                    <a:lstStyle/>
                    <a:p>
                      <a:pPr>
                        <a:lnSpc>
                          <a:spcPct val="100000"/>
                        </a:lnSpc>
                      </a:pPr>
                      <a:r>
                        <a:rPr lang="en-US" sz="1800" dirty="0">
                          <a:latin typeface="Verdana" panose="020B0604030504040204" pitchFamily="34" charset="0"/>
                          <a:ea typeface="Verdana" panose="020B0604030504040204" pitchFamily="34" charset="0"/>
                          <a:cs typeface="Times New Roman"/>
                        </a:rPr>
                        <a:t>Assistant Professor</a:t>
                      </a:r>
                      <a:endParaRPr sz="1800" dirty="0">
                        <a:latin typeface="Verdana" panose="020B0604030504040204" pitchFamily="34" charset="0"/>
                        <a:ea typeface="Verdana" panose="020B0604030504040204" pitchFamily="34" charset="0"/>
                        <a:cs typeface="Times New Roman"/>
                      </a:endParaRPr>
                    </a:p>
                  </a:txBody>
                  <a:tcPr marL="0" marR="0" marT="0" marB="0"/>
                </a:tc>
                <a:tc>
                  <a:txBody>
                    <a:bodyPr/>
                    <a:lstStyle/>
                    <a:p>
                      <a:pPr>
                        <a:lnSpc>
                          <a:spcPct val="100000"/>
                        </a:lnSpc>
                      </a:pPr>
                      <a:r>
                        <a:rPr lang="en-US" sz="1600" dirty="0">
                          <a:latin typeface="Verdana" panose="020B0604030504040204" pitchFamily="34" charset="0"/>
                          <a:ea typeface="Verdana" panose="020B0604030504040204" pitchFamily="34" charset="0"/>
                          <a:cs typeface="Times New Roman"/>
                        </a:rPr>
                        <a:t>Department of Life Sciences, School of Science, GSFC University </a:t>
                      </a:r>
                      <a:endParaRPr sz="1600" dirty="0">
                        <a:latin typeface="Verdana" panose="020B0604030504040204" pitchFamily="34" charset="0"/>
                        <a:ea typeface="Verdana" panose="020B0604030504040204" pitchFamily="34" charset="0"/>
                        <a:cs typeface="Times New Roman"/>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4066104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4</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247977"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Introduction of Tinkering Project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687468"/>
            <a:ext cx="11072283" cy="4739054"/>
          </a:xfrm>
          <a:prstGeom prst="rect">
            <a:avLst/>
          </a:prstGeom>
          <a:noFill/>
        </p:spPr>
        <p:txBody>
          <a:bodyPr wrap="square" rtlCol="0">
            <a:spAutoFit/>
          </a:bodyPr>
          <a:lstStyle/>
          <a:p>
            <a:pPr>
              <a:lnSpc>
                <a:spcPct val="150000"/>
              </a:lnSpc>
            </a:pPr>
            <a:r>
              <a:rPr lang="en-GB" sz="2000" b="1" dirty="0">
                <a:latin typeface="Verdana" pitchFamily="34" charset="0"/>
                <a:ea typeface="Verdana" pitchFamily="34" charset="0"/>
                <a:cs typeface="Calibri"/>
                <a:sym typeface="Calibri"/>
              </a:rPr>
              <a:t>Title of Tinkering Project: Self Healing Bio Strip</a:t>
            </a:r>
          </a:p>
          <a:p>
            <a:pPr>
              <a:lnSpc>
                <a:spcPct val="150000"/>
              </a:lnSpc>
            </a:pPr>
            <a:r>
              <a:rPr lang="en-GB" sz="2000" b="1" dirty="0">
                <a:latin typeface="Verdana" pitchFamily="34" charset="0"/>
                <a:ea typeface="Verdana" pitchFamily="34" charset="0"/>
                <a:cs typeface="Calibri"/>
                <a:sym typeface="Calibri"/>
              </a:rPr>
              <a:t>Sector: Sustainability </a:t>
            </a:r>
          </a:p>
          <a:p>
            <a:r>
              <a:rPr lang="en-GB" sz="2000" b="1" dirty="0">
                <a:latin typeface="Verdana" pitchFamily="34" charset="0"/>
                <a:ea typeface="Verdana" pitchFamily="34" charset="0"/>
                <a:cs typeface="Calibri"/>
                <a:sym typeface="Calibri"/>
              </a:rPr>
              <a:t>Brief:  Brief of Tinkering Project-</a:t>
            </a:r>
          </a:p>
          <a:p>
            <a:endParaRPr lang="en-GB" sz="2000" b="1" dirty="0">
              <a:latin typeface="Verdana" pitchFamily="34" charset="0"/>
              <a:ea typeface="Verdana" pitchFamily="34" charset="0"/>
              <a:cs typeface="Calibri"/>
              <a:sym typeface="Calibri"/>
            </a:endParaRP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This tinkering project focuses on the development of a </a:t>
            </a:r>
            <a:r>
              <a:rPr lang="en-IN" sz="1600" b="1" dirty="0">
                <a:latin typeface="Verdana" panose="020B0604030504040204" pitchFamily="34" charset="0"/>
                <a:ea typeface="Verdana" panose="020B0604030504040204" pitchFamily="34" charset="0"/>
              </a:rPr>
              <a:t>bio-based self-healing material </a:t>
            </a:r>
            <a:r>
              <a:rPr lang="en-IN" sz="1600" dirty="0">
                <a:latin typeface="Verdana" panose="020B0604030504040204" pitchFamily="34" charset="0"/>
                <a:ea typeface="Verdana" panose="020B0604030504040204" pitchFamily="34" charset="0"/>
              </a:rPr>
              <a:t>using sustainable, naturally derived, and easily available components such as </a:t>
            </a:r>
            <a:r>
              <a:rPr lang="en-IN" sz="1600" dirty="0" err="1">
                <a:latin typeface="Verdana" panose="020B0604030504040204" pitchFamily="34" charset="0"/>
                <a:ea typeface="Verdana" panose="020B0604030504040204" pitchFamily="34" charset="0"/>
              </a:rPr>
              <a:t>gelatin</a:t>
            </a:r>
            <a:r>
              <a:rPr lang="en-IN" sz="1600" dirty="0">
                <a:latin typeface="Verdana" panose="020B0604030504040204" pitchFamily="34" charset="0"/>
                <a:ea typeface="Verdana" panose="020B0604030504040204" pitchFamily="34" charset="0"/>
              </a:rPr>
              <a:t> and chitosan.</a:t>
            </a:r>
          </a:p>
          <a:p>
            <a:pPr marL="285750" indent="-285750">
              <a:buFont typeface="Arial" panose="020B0604020202020204" pitchFamily="34" charset="0"/>
              <a:buChar char="•"/>
            </a:pPr>
            <a:endParaRPr lang="en-IN" sz="16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The project explores the fabrication of a soft, dry but moisture bound strip capable of </a:t>
            </a:r>
            <a:r>
              <a:rPr lang="en-IN" sz="1600" b="1" dirty="0">
                <a:latin typeface="Verdana" panose="020B0604030504040204" pitchFamily="34" charset="0"/>
                <a:ea typeface="Verdana" panose="020B0604030504040204" pitchFamily="34" charset="0"/>
              </a:rPr>
              <a:t>restoring its structural integrity after minor mechanical damage</a:t>
            </a:r>
            <a:r>
              <a:rPr lang="en-IN" sz="1600" dirty="0">
                <a:latin typeface="Verdana" panose="020B0604030504040204" pitchFamily="34" charset="0"/>
                <a:ea typeface="Verdana" panose="020B0604030504040204" pitchFamily="34" charset="0"/>
              </a:rPr>
              <a:t>, while exhibiting properties comparable to conventional protective dressings.</a:t>
            </a:r>
          </a:p>
          <a:p>
            <a:pPr marL="285750" indent="-285750">
              <a:buFont typeface="Arial" panose="020B0604020202020204" pitchFamily="34" charset="0"/>
              <a:buChar char="•"/>
            </a:pPr>
            <a:endParaRPr lang="en-IN" sz="1600" dirty="0">
              <a:latin typeface="Verdana" panose="020B0604030504040204" pitchFamily="34" charset="0"/>
              <a:ea typeface="Verdana" panose="020B0604030504040204" pitchFamily="34" charset="0"/>
            </a:endParaRPr>
          </a:p>
          <a:p>
            <a:pPr marL="285750" indent="-285750">
              <a:buFont typeface="Arial" panose="020B0604020202020204" pitchFamily="34" charset="0"/>
              <a:buChar char="•"/>
            </a:pPr>
            <a:r>
              <a:rPr lang="en-IN" sz="1600" dirty="0">
                <a:latin typeface="Verdana" panose="020B0604030504040204" pitchFamily="34" charset="0"/>
                <a:ea typeface="Verdana" panose="020B0604030504040204" pitchFamily="34" charset="0"/>
              </a:rPr>
              <a:t>The aim is to demonstrate a </a:t>
            </a:r>
            <a:r>
              <a:rPr lang="en-IN" sz="1600" b="1" dirty="0">
                <a:latin typeface="Verdana" panose="020B0604030504040204" pitchFamily="34" charset="0"/>
                <a:ea typeface="Verdana" panose="020B0604030504040204" pitchFamily="34" charset="0"/>
              </a:rPr>
              <a:t>low-cost, 100% biodegradable, plasticized matrix </a:t>
            </a:r>
            <a:r>
              <a:rPr lang="en-IN" sz="1600" dirty="0">
                <a:latin typeface="Verdana" panose="020B0604030504040204" pitchFamily="34" charset="0"/>
                <a:ea typeface="Verdana" panose="020B0604030504040204" pitchFamily="34" charset="0"/>
              </a:rPr>
              <a:t>designed to provide </a:t>
            </a:r>
            <a:r>
              <a:rPr lang="en-IN" sz="1600" b="1" dirty="0">
                <a:latin typeface="Verdana" panose="020B0604030504040204" pitchFamily="34" charset="0"/>
                <a:ea typeface="Verdana" panose="020B0604030504040204" pitchFamily="34" charset="0"/>
              </a:rPr>
              <a:t>durable surface protection</a:t>
            </a:r>
            <a:r>
              <a:rPr lang="en-IN" sz="1600" dirty="0">
                <a:latin typeface="Verdana" panose="020B0604030504040204" pitchFamily="34" charset="0"/>
                <a:ea typeface="Verdana" panose="020B0604030504040204" pitchFamily="34" charset="0"/>
              </a:rPr>
              <a:t> as an eco-friendly alternative to synthetic medical adhesives by applying fundamental principles of biomaterials science, polymer interactions, and material performance evaluation.</a:t>
            </a:r>
          </a:p>
          <a:p>
            <a:pPr>
              <a:lnSpc>
                <a:spcPct val="150000"/>
              </a:lnSpc>
            </a:pPr>
            <a:endParaRPr lang="en-GB" sz="2000" b="1" dirty="0">
              <a:latin typeface="Verdana" pitchFamily="34" charset="0"/>
              <a:ea typeface="Verdana" pitchFamily="34" charset="0"/>
              <a:cs typeface="Calibri"/>
              <a:sym typeface="Calibri"/>
            </a:endParaRPr>
          </a:p>
        </p:txBody>
      </p:sp>
    </p:spTree>
    <p:extLst>
      <p:ext uri="{BB962C8B-B14F-4D97-AF65-F5344CB8AC3E}">
        <p14:creationId xmlns:p14="http://schemas.microsoft.com/office/powerpoint/2010/main" val="1774750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5</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750905"/>
            <a:ext cx="6587024"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Methodology and Tinkering Process</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350940"/>
            <a:ext cx="11736744" cy="5336333"/>
          </a:xfrm>
          <a:prstGeom prst="rect">
            <a:avLst/>
          </a:prstGeom>
          <a:noFill/>
        </p:spPr>
        <p:txBody>
          <a:bodyPr wrap="square" rtlCol="0">
            <a:spAutoFit/>
          </a:bodyPr>
          <a:lstStyle/>
          <a:p>
            <a:r>
              <a:rPr lang="en-US" sz="1600" b="1" dirty="0"/>
              <a:t>Project Approach</a:t>
            </a:r>
            <a:endParaRPr lang="en-US" sz="1600" dirty="0"/>
          </a:p>
          <a:p>
            <a:r>
              <a:rPr lang="en-US" sz="1600" dirty="0"/>
              <a:t>We noticed that most wound dressings available today are made from synthetic materials that do not break down naturally and offer no active healing benefit. This led us to explore whether a natural, plant-based material could serve the same purpose in a more sustainable and skin-friendly way. Our approach was to identify naturally available ingredients that are known to be gentle on the body, biodegradable, and capable of supporting wound healing without any synthetic chemicals. From the beginning we focused on keeping the project realistic and honest about what a student prototype could achieve.</a:t>
            </a:r>
          </a:p>
          <a:p>
            <a:endParaRPr lang="en-US" sz="1600" dirty="0"/>
          </a:p>
          <a:p>
            <a:r>
              <a:rPr lang="en-US" sz="1600" b="1" dirty="0"/>
              <a:t>The Tinkering Journey</a:t>
            </a:r>
            <a:endParaRPr lang="en-US" sz="1600" dirty="0"/>
          </a:p>
          <a:p>
            <a:r>
              <a:rPr lang="en-US" sz="1600" dirty="0"/>
              <a:t>Our process was iterative we did not design everything upfront and execute it perfectly. In the first week we explored the problem and researched natural materials relevant to wound care. The second week was spent deciding which ingredients to use and understanding the role each one would play. In the third week we attempted our first prototype, mixing the ingredients and casting them into a flat mold to dry. What we observed from that first attempt informed changes we made in the fourth week, where we adjusted the balance of ingredients until the material behaved the way we intended. Each failure taught us something more useful than a perfect result would have.</a:t>
            </a:r>
          </a:p>
          <a:p>
            <a:endParaRPr lang="en-US" sz="1600" dirty="0"/>
          </a:p>
          <a:p>
            <a:r>
              <a:rPr lang="en-US" sz="1600" b="1" dirty="0"/>
              <a:t>Role of Mentoring</a:t>
            </a:r>
            <a:endParaRPr lang="en-US" sz="1600" dirty="0"/>
          </a:p>
          <a:p>
            <a:r>
              <a:rPr lang="en-US" sz="1600" dirty="0"/>
              <a:t>Our mentor played a central role throughout the project. Rather than providing direct answers, he guided us to think through problems ourselves. When our early attempts did not produce the results we expected, he helped us identify what was going wrong and encouraged us to revise our approach. His most important contribution was keeping our claims grounded consistently reminding us to describe only what we actually observed rather than assuming results we had not tested. This shaped not just the project but the way we approach scientific thinking in general.</a:t>
            </a:r>
          </a:p>
          <a:p>
            <a:pPr>
              <a:lnSpc>
                <a:spcPct val="150000"/>
              </a:lnSpc>
            </a:pPr>
            <a:endParaRPr lang="en-GB" sz="1600" dirty="0">
              <a:latin typeface="Verdana" pitchFamily="34" charset="0"/>
              <a:ea typeface="Verdana" pitchFamily="34" charset="0"/>
              <a:cs typeface="Calibri"/>
              <a:sym typeface="Calibri"/>
            </a:endParaRPr>
          </a:p>
        </p:txBody>
      </p:sp>
    </p:spTree>
    <p:extLst>
      <p:ext uri="{BB962C8B-B14F-4D97-AF65-F5344CB8AC3E}">
        <p14:creationId xmlns:p14="http://schemas.microsoft.com/office/powerpoint/2010/main" val="4101954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6</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10994322" cy="461665"/>
          </a:xfrm>
          <a:prstGeom prst="rect">
            <a:avLst/>
          </a:prstGeom>
          <a:noFill/>
        </p:spPr>
        <p:txBody>
          <a:bodyPr wrap="square" rtlCol="0">
            <a:spAutoFit/>
          </a:bodyPr>
          <a:lstStyle/>
          <a:p>
            <a:r>
              <a:rPr lang="en-GB" sz="2400" b="1" dirty="0">
                <a:latin typeface="Verdana" panose="020B0604030504040204" pitchFamily="34" charset="0"/>
                <a:ea typeface="Verdana" panose="020B0604030504040204" pitchFamily="34" charset="0"/>
              </a:rPr>
              <a:t>Tools and Technology Used</a:t>
            </a:r>
            <a:endParaRPr lang="en-IN" sz="2400" b="1" dirty="0">
              <a:latin typeface="Verdana" panose="020B0604030504040204" pitchFamily="34" charset="0"/>
              <a:ea typeface="Verdana" panose="020B0604030504040204" pitchFamily="34" charset="0"/>
            </a:endParaRPr>
          </a:p>
        </p:txBody>
      </p:sp>
      <p:sp>
        <p:nvSpPr>
          <p:cNvPr id="6" name="TextBox 5">
            <a:extLst>
              <a:ext uri="{FF2B5EF4-FFF2-40B4-BE49-F238E27FC236}">
                <a16:creationId xmlns:a16="http://schemas.microsoft.com/office/drawing/2014/main" id="{5792038D-8B37-C082-712A-BD13E28E111E}"/>
              </a:ext>
            </a:extLst>
          </p:cNvPr>
          <p:cNvSpPr txBox="1"/>
          <p:nvPr/>
        </p:nvSpPr>
        <p:spPr>
          <a:xfrm>
            <a:off x="393475" y="1688116"/>
            <a:ext cx="11405050" cy="3970318"/>
          </a:xfrm>
          <a:prstGeom prst="rect">
            <a:avLst/>
          </a:prstGeom>
          <a:noFill/>
        </p:spPr>
        <p:txBody>
          <a:bodyPr wrap="square">
            <a:spAutoFit/>
          </a:bodyPr>
          <a:lstStyle/>
          <a:p>
            <a:r>
              <a:rPr lang="en-IN" dirty="0"/>
              <a:t>We worked with standard laboratory equipment throughout this project, which was an important part of keeping it accessible and realistic for a student setting. Mixing equipment such as a glass rod and beakers allowed us to combine our ingredients thoroughly and evenly. </a:t>
            </a:r>
          </a:p>
          <a:p>
            <a:endParaRPr lang="en-IN" dirty="0"/>
          </a:p>
          <a:p>
            <a:r>
              <a:rPr lang="en-IN" dirty="0"/>
              <a:t>A weighing scale and measuring cylinder ensured we added each ingredient in consistent amounts across different attempts, which was essential for comparing results fairly.</a:t>
            </a:r>
          </a:p>
          <a:p>
            <a:endParaRPr lang="en-IN" dirty="0"/>
          </a:p>
          <a:p>
            <a:r>
              <a:rPr lang="en-IN" dirty="0"/>
              <a:t>A flat petri dish served as our casting mould, giving the material a level surface to dry into a uniform thin film. We controlled the drying environment carefully, avoiding high temperatures to protect the natural ingredients from losing their properties during the process. </a:t>
            </a:r>
          </a:p>
          <a:p>
            <a:endParaRPr lang="en-IN" dirty="0"/>
          </a:p>
          <a:p>
            <a:r>
              <a:rPr lang="en-IN" dirty="0"/>
              <a:t>For testing, we used simple hand-based observations bending and folding the film to assess flexibility, and a basic cut-and-press test to observe whether the material showed any tendency to rejoin at a point of damage. All raw materials were sourced from local suppliers, and no specialised or synthetic chemicals were required at any stage.</a:t>
            </a:r>
          </a:p>
        </p:txBody>
      </p:sp>
    </p:spTree>
    <p:extLst>
      <p:ext uri="{BB962C8B-B14F-4D97-AF65-F5344CB8AC3E}">
        <p14:creationId xmlns:p14="http://schemas.microsoft.com/office/powerpoint/2010/main" val="3569065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7</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6874700"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Project Outcome &amp; Development</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450774" y="1591234"/>
            <a:ext cx="11072283" cy="4923720"/>
          </a:xfrm>
          <a:prstGeom prst="rect">
            <a:avLst/>
          </a:prstGeom>
          <a:noFill/>
        </p:spPr>
        <p:txBody>
          <a:bodyPr wrap="square" rtlCol="0">
            <a:spAutoFit/>
          </a:bodyPr>
          <a:lstStyle/>
          <a:p>
            <a:r>
              <a:rPr lang="en-US" sz="1600" b="1" dirty="0"/>
              <a:t>Description of the Prototype</a:t>
            </a:r>
            <a:endParaRPr lang="en-US" sz="1600" dirty="0"/>
          </a:p>
          <a:p>
            <a:r>
              <a:rPr lang="en-US" sz="1600" dirty="0"/>
              <a:t>Our prototype is a thin, flexible film made entirely from natural ingredients. It is designed to be placed over a wound to protect it, maintain a comfortable environment for healing, and provide some natural resistance to bacterial growth. The film is soft enough to conform to the surface of skin and is made from materials that break down naturally over time without leaving harmful residue. One of its most notable characteristics is that when a small cut or crack forms in the film, placing the two sides back in contact with a little moisture allows them to gradually rejoin. This self-healing behaviour arises from the natural bonding properties of the base material we used. The film is not fully sealed it allows a small amount of air to pass through, which is important for healthy wound recovery.</a:t>
            </a:r>
          </a:p>
          <a:p>
            <a:endParaRPr lang="en-US" sz="1600" dirty="0"/>
          </a:p>
          <a:p>
            <a:r>
              <a:rPr lang="en-US" sz="1600" b="1" dirty="0"/>
              <a:t>Development Process and Challenges</a:t>
            </a:r>
            <a:endParaRPr lang="en-US" sz="1600" dirty="0"/>
          </a:p>
          <a:p>
            <a:r>
              <a:rPr lang="en-US" sz="1600" dirty="0"/>
              <a:t>We began by dissolving our natural polymer base in a mild liquid that allowed it to break down evenly into a smooth solution. We then added a plant gel extract and a natural softening agent before pouring the mixture into a flat mold to dry slowly at a low temperature. The process itself was straightforward, but getting the results right took several attempts. Our first film cracked easily when bent, which we addressed by adjusting the amount of softening agent. A later attempt produced a film that was too weak because we had added too much plant extract, so we reduced that amount until we found a better balance. Air bubbles trapped in the solution caused surface defects in one batch, which we solved by allowing the mixture to rest before pouring. Drying at too high a temperature caused surface cracking in another attempt, so we switched to slower room-temperature drying throughout. Each of these problems taught us to think more carefully about cause and effect in material preparation.</a:t>
            </a:r>
          </a:p>
          <a:p>
            <a:pPr>
              <a:lnSpc>
                <a:spcPct val="150000"/>
              </a:lnSpc>
            </a:pPr>
            <a:endParaRPr lang="en-GB" sz="2000" dirty="0">
              <a:latin typeface="Verdana" pitchFamily="34" charset="0"/>
              <a:ea typeface="Verdana" pitchFamily="34" charset="0"/>
              <a:cs typeface="Calibri"/>
              <a:sym typeface="Calibri"/>
            </a:endParaRPr>
          </a:p>
        </p:txBody>
      </p:sp>
      <p:pic>
        <p:nvPicPr>
          <p:cNvPr id="19" name="Picture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05066" y="209068"/>
            <a:ext cx="1136330" cy="360000"/>
          </a:xfrm>
          <a:prstGeom prst="rect">
            <a:avLst/>
          </a:prstGeom>
        </p:spPr>
      </p:pic>
    </p:spTree>
    <p:extLst>
      <p:ext uri="{BB962C8B-B14F-4D97-AF65-F5344CB8AC3E}">
        <p14:creationId xmlns:p14="http://schemas.microsoft.com/office/powerpoint/2010/main" val="177475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8</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Prototype Image/Video</a:t>
            </a:r>
            <a:endParaRPr lang="en-IN" sz="2400" b="1" dirty="0">
              <a:latin typeface="Verdana" panose="020B0604030504040204" pitchFamily="34" charset="0"/>
              <a:ea typeface="Verdana" panose="020B0604030504040204" pitchFamily="34" charset="0"/>
            </a:endParaRPr>
          </a:p>
        </p:txBody>
      </p:sp>
      <p:pic>
        <p:nvPicPr>
          <p:cNvPr id="5" name="Picture 4">
            <a:extLst>
              <a:ext uri="{FF2B5EF4-FFF2-40B4-BE49-F238E27FC236}">
                <a16:creationId xmlns:a16="http://schemas.microsoft.com/office/drawing/2014/main" id="{833BF126-991C-1F07-8A1E-D927A3EB4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76936" y="1649773"/>
            <a:ext cx="8838128" cy="4173560"/>
          </a:xfrm>
          <a:prstGeom prst="rect">
            <a:avLst/>
          </a:prstGeom>
        </p:spPr>
      </p:pic>
    </p:spTree>
    <p:extLst>
      <p:ext uri="{BB962C8B-B14F-4D97-AF65-F5344CB8AC3E}">
        <p14:creationId xmlns:p14="http://schemas.microsoft.com/office/powerpoint/2010/main" val="1774750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9</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367258" y="631741"/>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Learning Outcome</a:t>
            </a:r>
            <a:endParaRPr lang="en-IN" sz="24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57C7E836-D8C8-EA61-E710-C1C20A7E887B}"/>
              </a:ext>
            </a:extLst>
          </p:cNvPr>
          <p:cNvSpPr txBox="1"/>
          <p:nvPr/>
        </p:nvSpPr>
        <p:spPr>
          <a:xfrm>
            <a:off x="367258" y="1156213"/>
            <a:ext cx="11824742" cy="5416163"/>
          </a:xfrm>
          <a:prstGeom prst="rect">
            <a:avLst/>
          </a:prstGeom>
          <a:noFill/>
        </p:spPr>
        <p:txBody>
          <a:bodyPr wrap="square" rtlCol="0">
            <a:spAutoFit/>
          </a:bodyPr>
          <a:lstStyle/>
          <a:p>
            <a:r>
              <a:rPr lang="en-US" sz="1600" b="1" dirty="0"/>
              <a:t>Technical and Conceptual Learning</a:t>
            </a:r>
            <a:endParaRPr lang="en-US" sz="1600" dirty="0"/>
          </a:p>
          <a:p>
            <a:r>
              <a:rPr lang="en-US" sz="1600" dirty="0"/>
              <a:t>We developed a solid understanding of how natural polymers behave and why certain ingredients are suited for wound care applications. We also learned about the basic principles of wound healing in particular why maintaining a moist environment at the wound surface supports faster recovery and how material properties like flexibility, biodegradability, and natural antimicrobial behaviour all contribute to that goal.</a:t>
            </a:r>
          </a:p>
          <a:p>
            <a:endParaRPr lang="en-US" sz="1600" dirty="0"/>
          </a:p>
          <a:p>
            <a:r>
              <a:rPr lang="en-US" sz="1600" b="1" dirty="0"/>
              <a:t>Problem-Solving and Tinkering Skills</a:t>
            </a:r>
            <a:endParaRPr lang="en-US" sz="1600" dirty="0"/>
          </a:p>
          <a:p>
            <a:r>
              <a:rPr lang="en-US" sz="1600" dirty="0"/>
              <a:t>The most significant skill we developed was the ability to observe a problem, think about its likely cause, and make a specific targeted change rather than starting the entire process over. Every challenge we encountered brittleness, structural weakness, drying defects trained us to treat material design as an ongoing process of refinement rather than a single fixed solution. This is the core mindset of tinkering.</a:t>
            </a:r>
          </a:p>
          <a:p>
            <a:endParaRPr lang="en-US" sz="1600" dirty="0"/>
          </a:p>
          <a:p>
            <a:r>
              <a:rPr lang="en-US" sz="1600" b="1" dirty="0"/>
              <a:t>Learning from Mentoring Sessions and Feedback</a:t>
            </a:r>
            <a:endParaRPr lang="en-US" sz="1600" dirty="0"/>
          </a:p>
          <a:p>
            <a:r>
              <a:rPr lang="en-US" sz="1600" dirty="0"/>
              <a:t>Our mentor taught us the difference between what we designed on paper and what we could honestly claim from our actual observations. This introduced us to the concept of scientific integrity presenting work accurately, acknowledging limitations openly, and describing findings without overstating them. This was arguably the most valuable lesson of the entire project because it applies far beyond this one experiment.</a:t>
            </a:r>
          </a:p>
          <a:p>
            <a:endParaRPr lang="en-US" sz="1600" dirty="0"/>
          </a:p>
          <a:p>
            <a:r>
              <a:rPr lang="en-US" sz="1600" b="1" dirty="0"/>
              <a:t>Teamwork and Collaboration</a:t>
            </a:r>
            <a:endParaRPr lang="en-US" sz="1600" dirty="0"/>
          </a:p>
          <a:p>
            <a:r>
              <a:rPr lang="en-US" sz="1600" dirty="0"/>
              <a:t>We divided responsibilities across the team so that each person contributed to a different aspect of the project preparation, observation, documentation, and presentation. Decisions about changes to the formulation were made together, which made the process more balanced and ensured that no single person's assumption drove the outcome. Working collaboratively also meant that when one person missed something during an observation, another person caught it.</a:t>
            </a:r>
          </a:p>
          <a:p>
            <a:pPr algn="just">
              <a:lnSpc>
                <a:spcPct val="150000"/>
              </a:lnSpc>
            </a:pPr>
            <a:endParaRPr lang="en-US" sz="2000" dirty="0">
              <a:latin typeface="Verdana" pitchFamily="34" charset="0"/>
              <a:ea typeface="Verdana" pitchFamily="34" charset="0"/>
              <a:cs typeface="Arial" pitchFamily="34" charset="0"/>
            </a:endParaRPr>
          </a:p>
        </p:txBody>
      </p:sp>
    </p:spTree>
    <p:extLst>
      <p:ext uri="{BB962C8B-B14F-4D97-AF65-F5344CB8AC3E}">
        <p14:creationId xmlns:p14="http://schemas.microsoft.com/office/powerpoint/2010/main" val="1906625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683D0-3DF0-7ECF-B919-3181A6235EDE}"/>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EC7DAFA-846F-22FD-7D37-86AC92D4D04A}"/>
              </a:ext>
            </a:extLst>
          </p:cNvPr>
          <p:cNvGrpSpPr/>
          <p:nvPr/>
        </p:nvGrpSpPr>
        <p:grpSpPr>
          <a:xfrm>
            <a:off x="0" y="6347341"/>
            <a:ext cx="12192000" cy="510659"/>
            <a:chOff x="0" y="6347341"/>
            <a:chExt cx="12192000" cy="510659"/>
          </a:xfrm>
        </p:grpSpPr>
        <p:sp>
          <p:nvSpPr>
            <p:cNvPr id="7" name="Rectangle 6">
              <a:extLst>
                <a:ext uri="{FF2B5EF4-FFF2-40B4-BE49-F238E27FC236}">
                  <a16:creationId xmlns:a16="http://schemas.microsoft.com/office/drawing/2014/main" id="{3C0E7065-A2F3-114C-A506-2F7D3D58FB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Rectangle 1">
              <a:extLst>
                <a:ext uri="{FF2B5EF4-FFF2-40B4-BE49-F238E27FC236}">
                  <a16:creationId xmlns:a16="http://schemas.microsoft.com/office/drawing/2014/main" id="{E724A685-8763-CC9F-B97B-7A643D292F4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8" name="Date Placeholder 7">
            <a:extLst>
              <a:ext uri="{FF2B5EF4-FFF2-40B4-BE49-F238E27FC236}">
                <a16:creationId xmlns:a16="http://schemas.microsoft.com/office/drawing/2014/main" id="{F5953918-DE76-B31A-45C5-32F5E6F3DCD1}"/>
              </a:ext>
            </a:extLst>
          </p:cNvPr>
          <p:cNvSpPr>
            <a:spLocks noGrp="1"/>
          </p:cNvSpPr>
          <p:nvPr>
            <p:ph type="dt" sz="half" idx="10"/>
          </p:nvPr>
        </p:nvSpPr>
        <p:spPr/>
        <p:txBody>
          <a:bodyPr/>
          <a:lstStyle/>
          <a:p>
            <a:fld id="{C4FB4142-13AA-4D01-9CC5-D9549F251D01}" type="datetime1">
              <a:rPr lang="en-IN" smtClean="0">
                <a:solidFill>
                  <a:schemeClr val="tx1"/>
                </a:solidFill>
              </a:rPr>
              <a:t>30-04-2026</a:t>
            </a:fld>
            <a:endParaRPr lang="en-IN" dirty="0">
              <a:solidFill>
                <a:schemeClr val="tx1"/>
              </a:solidFill>
            </a:endParaRPr>
          </a:p>
        </p:txBody>
      </p:sp>
      <p:sp>
        <p:nvSpPr>
          <p:cNvPr id="11" name="Slide Number Placeholder 10">
            <a:extLst>
              <a:ext uri="{FF2B5EF4-FFF2-40B4-BE49-F238E27FC236}">
                <a16:creationId xmlns:a16="http://schemas.microsoft.com/office/drawing/2014/main" id="{6DC42859-249F-6E68-DAC3-FE5450AF171B}"/>
              </a:ext>
            </a:extLst>
          </p:cNvPr>
          <p:cNvSpPr>
            <a:spLocks noGrp="1"/>
          </p:cNvSpPr>
          <p:nvPr>
            <p:ph type="sldNum" sz="quarter" idx="12"/>
          </p:nvPr>
        </p:nvSpPr>
        <p:spPr/>
        <p:txBody>
          <a:bodyPr/>
          <a:lstStyle/>
          <a:p>
            <a:fld id="{C9EED798-B2B7-453D-A02A-83F1CBF01642}" type="slidenum">
              <a:rPr lang="en-IN" smtClean="0">
                <a:solidFill>
                  <a:schemeClr val="tx1"/>
                </a:solidFill>
              </a:rPr>
              <a:t>10</a:t>
            </a:fld>
            <a:endParaRPr lang="en-IN" dirty="0">
              <a:solidFill>
                <a:schemeClr val="tx1"/>
              </a:solidFill>
            </a:endParaRPr>
          </a:p>
        </p:txBody>
      </p:sp>
      <p:grpSp>
        <p:nvGrpSpPr>
          <p:cNvPr id="20" name="Group 19">
            <a:extLst>
              <a:ext uri="{FF2B5EF4-FFF2-40B4-BE49-F238E27FC236}">
                <a16:creationId xmlns:a16="http://schemas.microsoft.com/office/drawing/2014/main" id="{FDF1DC1B-B7DA-E46B-0F15-68E8301CD37A}"/>
              </a:ext>
            </a:extLst>
          </p:cNvPr>
          <p:cNvGrpSpPr/>
          <p:nvPr/>
        </p:nvGrpSpPr>
        <p:grpSpPr>
          <a:xfrm>
            <a:off x="450775" y="170727"/>
            <a:ext cx="11072282" cy="441809"/>
            <a:chOff x="450775" y="170727"/>
            <a:chExt cx="11072282" cy="441809"/>
          </a:xfrm>
        </p:grpSpPr>
        <p:pic>
          <p:nvPicPr>
            <p:cNvPr id="13" name="Picture 12">
              <a:extLst>
                <a:ext uri="{FF2B5EF4-FFF2-40B4-BE49-F238E27FC236}">
                  <a16:creationId xmlns:a16="http://schemas.microsoft.com/office/drawing/2014/main" id="{53506ACD-5F34-D2A0-84A4-24CF7A3B8DAD}"/>
                </a:ext>
              </a:extLst>
            </p:cNvPr>
            <p:cNvPicPr>
              <a:picLocks noChangeAspect="1"/>
            </p:cNvPicPr>
            <p:nvPr/>
          </p:nvPicPr>
          <p:blipFill rotWithShape="1">
            <a:blip r:embed="rId3"/>
            <a:srcRect t="27019" b="26058"/>
            <a:stretch/>
          </p:blipFill>
          <p:spPr>
            <a:xfrm>
              <a:off x="450775" y="170727"/>
              <a:ext cx="941559" cy="441809"/>
            </a:xfrm>
            <a:prstGeom prst="rect">
              <a:avLst/>
            </a:prstGeom>
          </p:spPr>
        </p:pic>
        <p:sp>
          <p:nvSpPr>
            <p:cNvPr id="14" name="Footer Placeholder 9">
              <a:extLst>
                <a:ext uri="{FF2B5EF4-FFF2-40B4-BE49-F238E27FC236}">
                  <a16:creationId xmlns:a16="http://schemas.microsoft.com/office/drawing/2014/main" id="{5382B7E9-4536-C40E-A4E8-03320B8F4626}"/>
                </a:ext>
              </a:extLst>
            </p:cNvPr>
            <p:cNvSpPr txBox="1">
              <a:spLocks/>
            </p:cNvSpPr>
            <p:nvPr/>
          </p:nvSpPr>
          <p:spPr>
            <a:xfrm>
              <a:off x="4038600" y="209068"/>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solidFill>
                  <a:latin typeface="Verdana" pitchFamily="34" charset="0"/>
                  <a:ea typeface="Verdana" pitchFamily="34" charset="0"/>
                </a:rPr>
                <a:t>Self Healing Bio Strip</a:t>
              </a:r>
              <a:endParaRPr lang="en-IN" dirty="0">
                <a:solidFill>
                  <a:schemeClr val="tx1"/>
                </a:solidFill>
                <a:latin typeface="Verdana" pitchFamily="34" charset="0"/>
                <a:ea typeface="Verdana" pitchFamily="34" charset="0"/>
              </a:endParaRPr>
            </a:p>
            <a:p>
              <a:endParaRPr lang="en-IN" dirty="0">
                <a:solidFill>
                  <a:schemeClr val="tx1"/>
                </a:solidFill>
                <a:latin typeface="Verdana" pitchFamily="34" charset="0"/>
                <a:ea typeface="Verdana" pitchFamily="34" charset="0"/>
              </a:endParaRPr>
            </a:p>
          </p:txBody>
        </p:sp>
        <p:grpSp>
          <p:nvGrpSpPr>
            <p:cNvPr id="15" name="Group 14">
              <a:extLst>
                <a:ext uri="{FF2B5EF4-FFF2-40B4-BE49-F238E27FC236}">
                  <a16:creationId xmlns:a16="http://schemas.microsoft.com/office/drawing/2014/main" id="{AB601402-1B58-5112-4833-92A4EE5A097D}"/>
                </a:ext>
              </a:extLst>
            </p:cNvPr>
            <p:cNvGrpSpPr/>
            <p:nvPr/>
          </p:nvGrpSpPr>
          <p:grpSpPr>
            <a:xfrm>
              <a:off x="11184543" y="285624"/>
              <a:ext cx="338514" cy="212015"/>
              <a:chOff x="521095" y="429142"/>
              <a:chExt cx="463644" cy="290385"/>
            </a:xfrm>
            <a:solidFill>
              <a:srgbClr val="0DE5CB"/>
            </a:solidFill>
          </p:grpSpPr>
          <p:sp>
            <p:nvSpPr>
              <p:cNvPr id="16" name="Google Shape;59;p15">
                <a:extLst>
                  <a:ext uri="{FF2B5EF4-FFF2-40B4-BE49-F238E27FC236}">
                    <a16:creationId xmlns:a16="http://schemas.microsoft.com/office/drawing/2014/main" id="{39A0B30E-4AC5-482C-9FF3-AC3E24DD34F5}"/>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7" name="Google Shape;60;p15">
                <a:extLst>
                  <a:ext uri="{FF2B5EF4-FFF2-40B4-BE49-F238E27FC236}">
                    <a16:creationId xmlns:a16="http://schemas.microsoft.com/office/drawing/2014/main" id="{5D713B63-A845-C255-5FCE-FA410A6E5820}"/>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
        <p:nvSpPr>
          <p:cNvPr id="18" name="TextBox 17">
            <a:extLst>
              <a:ext uri="{FF2B5EF4-FFF2-40B4-BE49-F238E27FC236}">
                <a16:creationId xmlns:a16="http://schemas.microsoft.com/office/drawing/2014/main" id="{BE335F3C-F428-ED87-64FD-52E602C87D5A}"/>
              </a:ext>
            </a:extLst>
          </p:cNvPr>
          <p:cNvSpPr txBox="1"/>
          <p:nvPr/>
        </p:nvSpPr>
        <p:spPr>
          <a:xfrm>
            <a:off x="450774" y="900322"/>
            <a:ext cx="4913705" cy="461665"/>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rPr>
              <a:t>Conclusion &amp; Future Scope</a:t>
            </a:r>
            <a:endParaRPr lang="en-IN" sz="2400" b="1" dirty="0">
              <a:latin typeface="Verdana" panose="020B0604030504040204" pitchFamily="34" charset="0"/>
              <a:ea typeface="Verdana" panose="020B0604030504040204" pitchFamily="34" charset="0"/>
            </a:endParaRPr>
          </a:p>
        </p:txBody>
      </p:sp>
      <p:sp>
        <p:nvSpPr>
          <p:cNvPr id="4" name="Rectangle 3"/>
          <p:cNvSpPr/>
          <p:nvPr/>
        </p:nvSpPr>
        <p:spPr>
          <a:xfrm>
            <a:off x="450774" y="1649773"/>
            <a:ext cx="11552967" cy="4843890"/>
          </a:xfrm>
          <a:prstGeom prst="rect">
            <a:avLst/>
          </a:prstGeom>
        </p:spPr>
        <p:txBody>
          <a:bodyPr wrap="square">
            <a:spAutoFit/>
          </a:bodyPr>
          <a:lstStyle/>
          <a:p>
            <a:r>
              <a:rPr lang="en-US" sz="1600" b="1" dirty="0"/>
              <a:t>Conclusion and Summary of Achievements</a:t>
            </a:r>
            <a:endParaRPr lang="en-US" sz="1600" dirty="0"/>
          </a:p>
          <a:p>
            <a:r>
              <a:rPr lang="en-US" sz="1600" dirty="0"/>
              <a:t>Through this project we successfully designed and produced a prototype of a natural, biodegradable wound support film using plant-based and skin-friendly ingredients. The material demonstrated flexibility, a tendency to partially rejoin when damaged and exposed to moisture, and properties consistent with supporting wound healing — all without synthetic chemicals or pharmaceutical additives. We are satisfied that the concept is sound and that the prototype meaningfully represents the idea we set out to explore.\</a:t>
            </a:r>
          </a:p>
          <a:p>
            <a:endParaRPr lang="en-US" sz="1600" dirty="0"/>
          </a:p>
          <a:p>
            <a:r>
              <a:rPr lang="en-US" sz="1600" b="1" dirty="0"/>
              <a:t>Future Enhancements and Applications</a:t>
            </a:r>
            <a:endParaRPr lang="en-US" sz="1600" dirty="0"/>
          </a:p>
          <a:p>
            <a:r>
              <a:rPr lang="en-US" sz="1600" dirty="0"/>
              <a:t>Going forward we would like to carry out proper laboratory testing to measure the film's actual performance — including how well it allows air to pass through, how effectively it resists bacterial growth, and how safely it breaks down over time. We also see potential to improve the material's mechanical strength and explore whether it could be adapted for different wound types. With further development and clinical validation, a material like this could be a meaningful contribution to sustainable healthcare, particularly in settings where access to expensive synthetic dressings is limited.</a:t>
            </a:r>
          </a:p>
          <a:p>
            <a:endParaRPr lang="en-US" sz="1600" dirty="0"/>
          </a:p>
          <a:p>
            <a:r>
              <a:rPr lang="en-US" sz="1600" b="1" dirty="0"/>
              <a:t>Reflection on the Project Experience</a:t>
            </a:r>
            <a:endParaRPr lang="en-US" sz="1600" dirty="0"/>
          </a:p>
          <a:p>
            <a:r>
              <a:rPr lang="en-US" sz="1600" dirty="0"/>
              <a:t>The most important thing this project taught us is that design is never finished on the first attempt. Every time something did not work the way we expected, we learned something more useful than if it had gone perfectly. We also learned that being honest about what you do not know is just as important as demonstrating what you do know. This project gave us practical experience with the kind of thinking that real scientific and engineering work actually requires — patience, observation, revision, and intellectual honesty.</a:t>
            </a:r>
          </a:p>
          <a:p>
            <a:pPr algn="just">
              <a:lnSpc>
                <a:spcPct val="150000"/>
              </a:lnSpc>
            </a:pPr>
            <a:endParaRPr lang="en-IN" sz="1600" dirty="0">
              <a:latin typeface="Verdana" pitchFamily="34" charset="0"/>
              <a:ea typeface="Verdana" pitchFamily="34" charset="0"/>
            </a:endParaRPr>
          </a:p>
        </p:txBody>
      </p:sp>
    </p:spTree>
    <p:extLst>
      <p:ext uri="{BB962C8B-B14F-4D97-AF65-F5344CB8AC3E}">
        <p14:creationId xmlns:p14="http://schemas.microsoft.com/office/powerpoint/2010/main" val="1440541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22A7-944B-E8BE-3E42-54DBD2B06B36}"/>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228F781D-E434-8188-39AD-C98FE71BF244}"/>
              </a:ext>
            </a:extLst>
          </p:cNvPr>
          <p:cNvGrpSpPr/>
          <p:nvPr/>
        </p:nvGrpSpPr>
        <p:grpSpPr>
          <a:xfrm>
            <a:off x="0" y="6347341"/>
            <a:ext cx="12192000" cy="510659"/>
            <a:chOff x="0" y="6347341"/>
            <a:chExt cx="12192000" cy="510659"/>
          </a:xfrm>
        </p:grpSpPr>
        <p:sp>
          <p:nvSpPr>
            <p:cNvPr id="6" name="Rectangle 5">
              <a:extLst>
                <a:ext uri="{FF2B5EF4-FFF2-40B4-BE49-F238E27FC236}">
                  <a16:creationId xmlns:a16="http://schemas.microsoft.com/office/drawing/2014/main" id="{D3F201AC-A431-FBAE-774F-B9E359CD954D}"/>
                </a:ext>
              </a:extLst>
            </p:cNvPr>
            <p:cNvSpPr/>
            <p:nvPr/>
          </p:nvSpPr>
          <p:spPr>
            <a:xfrm>
              <a:off x="0" y="6374853"/>
              <a:ext cx="12192000" cy="483147"/>
            </a:xfrm>
            <a:prstGeom prst="rect">
              <a:avLst/>
            </a:prstGeom>
            <a:solidFill>
              <a:srgbClr val="3AF4D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032FFB2B-1001-4F05-9548-E8962570D21A}"/>
                </a:ext>
              </a:extLst>
            </p:cNvPr>
            <p:cNvSpPr/>
            <p:nvPr/>
          </p:nvSpPr>
          <p:spPr>
            <a:xfrm flipV="1">
              <a:off x="0" y="6347341"/>
              <a:ext cx="12192000" cy="45719"/>
            </a:xfrm>
            <a:prstGeom prst="rect">
              <a:avLst/>
            </a:prstGeom>
            <a:gradFill flip="none" rotWithShape="1">
              <a:gsLst>
                <a:gs pos="46000">
                  <a:srgbClr val="00B0F0"/>
                </a:gs>
                <a:gs pos="37740">
                  <a:srgbClr val="00B0F0"/>
                </a:gs>
                <a:gs pos="57000">
                  <a:srgbClr val="FFC000"/>
                </a:gs>
                <a:gs pos="0">
                  <a:schemeClr val="accent1"/>
                </a:gs>
                <a:gs pos="74000">
                  <a:srgbClr val="FFC000"/>
                </a:gs>
                <a:gs pos="83000">
                  <a:srgbClr val="FFC000"/>
                </a:gs>
                <a:gs pos="100000">
                  <a:srgbClr val="FFC000"/>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9" name="Slide Number Placeholder 8">
            <a:extLst>
              <a:ext uri="{FF2B5EF4-FFF2-40B4-BE49-F238E27FC236}">
                <a16:creationId xmlns:a16="http://schemas.microsoft.com/office/drawing/2014/main" id="{C78342AA-8AD8-31F9-791F-B79FF9EC15F7}"/>
              </a:ext>
            </a:extLst>
          </p:cNvPr>
          <p:cNvSpPr>
            <a:spLocks noGrp="1"/>
          </p:cNvSpPr>
          <p:nvPr>
            <p:ph type="sldNum" sz="quarter" idx="12"/>
          </p:nvPr>
        </p:nvSpPr>
        <p:spPr/>
        <p:txBody>
          <a:bodyPr/>
          <a:lstStyle/>
          <a:p>
            <a:fld id="{C9EED798-B2B7-453D-A02A-83F1CBF01642}" type="slidenum">
              <a:rPr lang="en-IN" smtClean="0">
                <a:solidFill>
                  <a:schemeClr val="tx1"/>
                </a:solidFill>
              </a:rPr>
              <a:t>11</a:t>
            </a:fld>
            <a:endParaRPr lang="en-IN">
              <a:solidFill>
                <a:schemeClr val="tx1"/>
              </a:solidFill>
            </a:endParaRPr>
          </a:p>
        </p:txBody>
      </p:sp>
      <p:sp>
        <p:nvSpPr>
          <p:cNvPr id="11" name="Date Placeholder 10">
            <a:extLst>
              <a:ext uri="{FF2B5EF4-FFF2-40B4-BE49-F238E27FC236}">
                <a16:creationId xmlns:a16="http://schemas.microsoft.com/office/drawing/2014/main" id="{7209BDFC-F87F-0AD3-0AD2-6D90EC65DA40}"/>
              </a:ext>
            </a:extLst>
          </p:cNvPr>
          <p:cNvSpPr>
            <a:spLocks noGrp="1"/>
          </p:cNvSpPr>
          <p:nvPr>
            <p:ph type="dt" sz="half" idx="10"/>
          </p:nvPr>
        </p:nvSpPr>
        <p:spPr/>
        <p:txBody>
          <a:bodyPr/>
          <a:lstStyle/>
          <a:p>
            <a:fld id="{72FD1B5B-4067-417C-A62E-EE6EE02E9F51}" type="datetime1">
              <a:rPr lang="en-IN" smtClean="0">
                <a:solidFill>
                  <a:schemeClr val="tx1"/>
                </a:solidFill>
              </a:rPr>
              <a:t>30-04-2026</a:t>
            </a:fld>
            <a:endParaRPr lang="en-IN" dirty="0">
              <a:solidFill>
                <a:schemeClr val="tx1"/>
              </a:solidFill>
            </a:endParaRPr>
          </a:p>
        </p:txBody>
      </p:sp>
      <p:grpSp>
        <p:nvGrpSpPr>
          <p:cNvPr id="16" name="Group 15">
            <a:extLst>
              <a:ext uri="{FF2B5EF4-FFF2-40B4-BE49-F238E27FC236}">
                <a16:creationId xmlns:a16="http://schemas.microsoft.com/office/drawing/2014/main" id="{3956432F-B09D-FA20-7755-3F884FC63554}"/>
              </a:ext>
            </a:extLst>
          </p:cNvPr>
          <p:cNvGrpSpPr/>
          <p:nvPr/>
        </p:nvGrpSpPr>
        <p:grpSpPr>
          <a:xfrm>
            <a:off x="450775" y="170727"/>
            <a:ext cx="3551249" cy="5467038"/>
            <a:chOff x="450775" y="170727"/>
            <a:chExt cx="3551249" cy="5467038"/>
          </a:xfrm>
        </p:grpSpPr>
        <p:sp>
          <p:nvSpPr>
            <p:cNvPr id="4" name="TextBox 3">
              <a:extLst>
                <a:ext uri="{FF2B5EF4-FFF2-40B4-BE49-F238E27FC236}">
                  <a16:creationId xmlns:a16="http://schemas.microsoft.com/office/drawing/2014/main" id="{7E47A91F-8F23-8FAE-598F-91984EEEDECC}"/>
                </a:ext>
              </a:extLst>
            </p:cNvPr>
            <p:cNvSpPr txBox="1"/>
            <p:nvPr/>
          </p:nvSpPr>
          <p:spPr>
            <a:xfrm>
              <a:off x="838200" y="5146027"/>
              <a:ext cx="3163824" cy="491738"/>
            </a:xfrm>
            <a:prstGeom prst="rect">
              <a:avLst/>
            </a:prstGeom>
            <a:noFill/>
          </p:spPr>
          <p:txBody>
            <a:bodyPr wrap="square" rtlCol="0">
              <a:spAutoFit/>
            </a:bodyPr>
            <a:lstStyle/>
            <a:p>
              <a:pPr>
                <a:lnSpc>
                  <a:spcPct val="150000"/>
                </a:lnSpc>
              </a:pPr>
              <a:r>
                <a:rPr lang="en-US" sz="2000" b="1" dirty="0">
                  <a:latin typeface="Verdana" panose="020B0604030504040204" pitchFamily="34" charset="0"/>
                  <a:ea typeface="Verdana" panose="020B0604030504040204" pitchFamily="34" charset="0"/>
                </a:rPr>
                <a:t>Thank You..</a:t>
              </a:r>
            </a:p>
          </p:txBody>
        </p:sp>
        <p:pic>
          <p:nvPicPr>
            <p:cNvPr id="2" name="Picture 1">
              <a:extLst>
                <a:ext uri="{FF2B5EF4-FFF2-40B4-BE49-F238E27FC236}">
                  <a16:creationId xmlns:a16="http://schemas.microsoft.com/office/drawing/2014/main" id="{6B42C481-7049-2649-C990-123E9D6EE6F9}"/>
                </a:ext>
              </a:extLst>
            </p:cNvPr>
            <p:cNvPicPr>
              <a:picLocks noChangeAspect="1"/>
            </p:cNvPicPr>
            <p:nvPr/>
          </p:nvPicPr>
          <p:blipFill rotWithShape="1">
            <a:blip r:embed="rId3"/>
            <a:srcRect t="27019" b="26058"/>
            <a:stretch/>
          </p:blipFill>
          <p:spPr>
            <a:xfrm>
              <a:off x="450775" y="170727"/>
              <a:ext cx="941559" cy="441809"/>
            </a:xfrm>
            <a:prstGeom prst="rect">
              <a:avLst/>
            </a:prstGeom>
          </p:spPr>
        </p:pic>
        <p:grpSp>
          <p:nvGrpSpPr>
            <p:cNvPr id="13" name="Group 12">
              <a:extLst>
                <a:ext uri="{FF2B5EF4-FFF2-40B4-BE49-F238E27FC236}">
                  <a16:creationId xmlns:a16="http://schemas.microsoft.com/office/drawing/2014/main" id="{4AF49D2F-1FD4-4CCE-B487-BBE0423B32FD}"/>
                </a:ext>
              </a:extLst>
            </p:cNvPr>
            <p:cNvGrpSpPr/>
            <p:nvPr/>
          </p:nvGrpSpPr>
          <p:grpSpPr>
            <a:xfrm>
              <a:off x="450775" y="5338110"/>
              <a:ext cx="338514" cy="212015"/>
              <a:chOff x="521095" y="429142"/>
              <a:chExt cx="463644" cy="290385"/>
            </a:xfrm>
            <a:solidFill>
              <a:srgbClr val="0DE5CB"/>
            </a:solidFill>
          </p:grpSpPr>
          <p:sp>
            <p:nvSpPr>
              <p:cNvPr id="14" name="Google Shape;59;p15">
                <a:extLst>
                  <a:ext uri="{FF2B5EF4-FFF2-40B4-BE49-F238E27FC236}">
                    <a16:creationId xmlns:a16="http://schemas.microsoft.com/office/drawing/2014/main" id="{4C7DBC1E-9F03-C501-03C4-40611332AF6C}"/>
                  </a:ext>
                </a:extLst>
              </p:cNvPr>
              <p:cNvSpPr/>
              <p:nvPr/>
            </p:nvSpPr>
            <p:spPr>
              <a:xfrm>
                <a:off x="521095" y="429142"/>
                <a:ext cx="213556" cy="290385"/>
              </a:xfrm>
              <a:custGeom>
                <a:avLst/>
                <a:gdLst/>
                <a:ahLst/>
                <a:cxnLst/>
                <a:rect l="l" t="t" r="r" b="b"/>
                <a:pathLst>
                  <a:path w="5273" h="7170" extrusionOk="0">
                    <a:moveTo>
                      <a:pt x="1679" y="1"/>
                    </a:moveTo>
                    <a:lnTo>
                      <a:pt x="0" y="1680"/>
                    </a:lnTo>
                    <a:lnTo>
                      <a:pt x="1914" y="3576"/>
                    </a:lnTo>
                    <a:lnTo>
                      <a:pt x="0" y="5490"/>
                    </a:lnTo>
                    <a:lnTo>
                      <a:pt x="1679" y="7169"/>
                    </a:lnTo>
                    <a:lnTo>
                      <a:pt x="5273" y="3576"/>
                    </a:lnTo>
                    <a:lnTo>
                      <a:pt x="1679" y="1"/>
                    </a:lnTo>
                    <a:close/>
                  </a:path>
                </a:pathLst>
              </a:custGeom>
              <a:grp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5" name="Google Shape;60;p15">
                <a:extLst>
                  <a:ext uri="{FF2B5EF4-FFF2-40B4-BE49-F238E27FC236}">
                    <a16:creationId xmlns:a16="http://schemas.microsoft.com/office/drawing/2014/main" id="{43830E1C-48D8-36F4-42D1-F7CF813F028F}"/>
                  </a:ext>
                </a:extLst>
              </p:cNvPr>
              <p:cNvSpPr/>
              <p:nvPr/>
            </p:nvSpPr>
            <p:spPr>
              <a:xfrm>
                <a:off x="771183" y="429142"/>
                <a:ext cx="213556" cy="290385"/>
              </a:xfrm>
              <a:custGeom>
                <a:avLst/>
                <a:gdLst/>
                <a:ahLst/>
                <a:cxnLst/>
                <a:rect l="l" t="t" r="r" b="b"/>
                <a:pathLst>
                  <a:path w="5273" h="7170" extrusionOk="0">
                    <a:moveTo>
                      <a:pt x="1680" y="1"/>
                    </a:moveTo>
                    <a:lnTo>
                      <a:pt x="0" y="1680"/>
                    </a:lnTo>
                    <a:lnTo>
                      <a:pt x="1914" y="3576"/>
                    </a:lnTo>
                    <a:lnTo>
                      <a:pt x="0" y="5490"/>
                    </a:lnTo>
                    <a:lnTo>
                      <a:pt x="1680" y="7169"/>
                    </a:lnTo>
                    <a:lnTo>
                      <a:pt x="5273" y="3576"/>
                    </a:lnTo>
                    <a:lnTo>
                      <a:pt x="1680" y="1"/>
                    </a:ln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grpSp>
    </p:spTree>
    <p:extLst>
      <p:ext uri="{BB962C8B-B14F-4D97-AF65-F5344CB8AC3E}">
        <p14:creationId xmlns:p14="http://schemas.microsoft.com/office/powerpoint/2010/main" val="1257494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6416</TotalTime>
  <Words>1881</Words>
  <Application>Microsoft Office PowerPoint</Application>
  <PresentationFormat>Widescreen</PresentationFormat>
  <Paragraphs>174</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Koppula Santhosh Kumar</dc:creator>
  <cp:lastModifiedBy>izumi .</cp:lastModifiedBy>
  <cp:revision>99</cp:revision>
  <dcterms:created xsi:type="dcterms:W3CDTF">2021-10-26T04:13:36Z</dcterms:created>
  <dcterms:modified xsi:type="dcterms:W3CDTF">2026-04-30T06:14:47Z</dcterms:modified>
</cp:coreProperties>
</file>
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85" r:id="rId2"/>
    <p:sldId id="391" r:id="rId3"/>
    <p:sldId id="399" r:id="rId4"/>
    <p:sldId id="386" r:id="rId5"/>
    <p:sldId id="395" r:id="rId6"/>
    <p:sldId id="398" r:id="rId7"/>
    <p:sldId id="387" r:id="rId8"/>
    <p:sldId id="369" r:id="rId9"/>
    <p:sldId id="400" r:id="rId10"/>
    <p:sldId id="401" r:id="rId11"/>
    <p:sldId id="402" r:id="rId12"/>
    <p:sldId id="403" r:id="rId13"/>
    <p:sldId id="404" r:id="rId14"/>
    <p:sldId id="405" r:id="rId15"/>
    <p:sldId id="406" r:id="rId16"/>
    <p:sldId id="407" r:id="rId17"/>
    <p:sldId id="412" r:id="rId18"/>
    <p:sldId id="409" r:id="rId19"/>
    <p:sldId id="410" r:id="rId20"/>
    <p:sldId id="41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BF5"/>
    <a:srgbClr val="CFD5EA"/>
    <a:srgbClr val="2B08BE"/>
    <a:srgbClr val="3AF4DE"/>
    <a:srgbClr val="00579F"/>
    <a:srgbClr val="F38804"/>
    <a:srgbClr val="F088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theme" Target="theme/theme1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handoutMaster" Target="handoutMasters/handoutMaster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notesMaster" Target="notesMasters/notesMaster1.xml" /><Relationship Id="rId27" Type="http://schemas.openxmlformats.org/officeDocument/2006/relationships/tableStyles" Target="tableStyle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47B6EB-0BB1-C32C-3B34-752451026B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Title of the Lecture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448683-8521-6073-2C81-F8520864A5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BFDA0E-5E6C-4306-8AB2-29F8FCF3C958}" type="datetime1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2F20D1-16B4-9F7A-BB85-080E110D09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Name of the Faculty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EAAA16-EDF6-9DF1-8EB7-35D30CF089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3E807-71D2-486E-AE16-CD1CC0E54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573664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Title of the Lecture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2D3B07-1EF9-4F31-BBF9-B441EA500D2B}" type="datetime1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Name of the Faculty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69606-77D1-4BD4-A656-2B410C8A8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218291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24CB7-D9CB-D7BC-38C5-22835B6B6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202A9-CFBD-392A-C6FC-67244359A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F8034-DE1C-9354-4BA6-A58DEE95A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58762-1C39-7258-269A-53FB50055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1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6E8E4-77C3-303A-A331-63071D59DD9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DBC76F-BDC4-44EB-8BD4-FD1F3D45BCB7}" type="datetime1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7C3AE-2686-EC32-20B5-0EA9F476499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6EAC641E-5B23-4E69-10A1-43521E504C5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3119930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2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3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4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5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6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7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7F88F-62E7-993B-CFCD-A8C938839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9CDC8C-6ED8-1518-1EAE-6118A5049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A9FB8-A9E2-D872-BE7C-598738801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8BF31-DBA9-BF45-F5FB-597B7D697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8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A1DC6-60B9-69E4-B1F1-29CB6993AFE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C133B7E-50E6-4784-A0B7-BF133C708F0B}" type="datetime1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289E0-996E-38BE-B832-B1C3B7DBE14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BE124C92-91A2-E6BB-48C2-116B8FD18B6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881999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44DAE-F5C6-454D-AFDC-AAF396BA0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6AA990-3EAF-4FF9-9555-29B5741C9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31E3E-4FE5-4F01-AAF8-CB6145948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131B0-C9FB-4DD5-97EC-21EFEC10F4F4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C3453-1038-4076-9DED-D28773942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the Presenter &amp; Department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4E3F0-76B7-4C43-9D85-E2E06EFFE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917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0E89-2983-4E1E-8AD3-4F82F0A4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2E7C4-B740-401D-A25D-37F187F64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1E203-F203-4711-B7A2-8F797C161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FF8D-38DE-44ED-8E8F-F4480F209472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6852F-1A31-4CB3-B952-13DAB07C3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the Presenter &amp; Department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7B306-A7A3-4335-A04F-7541869DA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998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7A19F-7442-4B68-B955-56F6B084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0CD2C-A48F-4775-B189-079352227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68908-A714-4228-A602-E7A357FF6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0553-21AA-46C9-AB52-F50F6EEE2E62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1287E-6268-4689-BFC0-A3E44DAF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the Presenter &amp; Department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CC483-A732-4FFA-8636-9E5E03751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393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93186-7A7F-4819-B879-6631220F6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7BA3E-E296-4A2F-BD81-158C0CA6B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20B82-4066-4E7E-A47A-797F200D6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A081E-F28F-448A-9D06-E308DE0BB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09CD-D9E1-4E31-9980-5F3A894C2608}" type="datetime1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6A227-6F7B-4D0A-AC3F-0817DBE67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the Presenter &amp; Department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FDA79-7B9F-4F23-8932-9C89272C3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5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7A54A-6C69-4D14-8EE5-067692CEE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2E6B3-A4FD-4B3B-ABFE-A0841309E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66EDD-FB5D-431C-850B-8141C7368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05FADE-8590-49B1-AF6E-1522EF4F11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82C5F-682A-4819-9789-3345121747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E08900-84F2-442F-9178-183865D96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9F84-13A4-42C3-84B9-F21DB80BB174}" type="datetime1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830A47-A763-487C-8B06-98BAF442F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the Presenter &amp; Department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BD71BF-9A8B-41EA-A32A-76A5A05F9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630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FBD9F-1469-41A5-9202-A0BA0296C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15A793-C7DE-407E-8328-496ADD262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D810A-866C-4043-9CBB-5ABA3F831B2D}" type="datetime1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F00BE9-EEA0-4A26-9F1E-E7F9D1798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the Presenter &amp; Department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3D293-0ADA-48A5-B648-30CFFAEA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412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D89F29-E588-4C2A-8A95-62F572D18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BE989-A332-410D-A8A6-532B1C75E2C4}" type="datetime1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A7526D-A567-4605-A7A9-135F95B01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the Presenter &amp; Department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1C8A3-0862-4EB5-AABC-A3085926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759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4CB5-FA1C-4FC0-AD9B-86A482EC7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AD36A-F712-4B95-A05A-260123906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AD72EF-041F-42BF-9D8B-6654A5388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05025-346C-4E8E-8D28-42B0844CD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B5F36-35FA-4268-A441-E6463EAA5FA4}" type="datetime1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BFF5B-58F9-427F-A2F5-A3D54513E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the Presenter &amp; Department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9F69D-DD1A-402C-944E-141267614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785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B2E9C-65CE-4BA4-85E8-BAEB5B101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D281C8-208E-4C02-9EF2-F49A49B50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21BD1-5B7F-4CBB-B585-DA93A56F8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87DE2-AE53-4247-A661-AD19B8921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31E1C-51D0-4C9B-85B0-695D92FD0D00}" type="datetime1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9459F-FB23-4534-A47C-E0AB046D4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the Presenter &amp; Department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EF753-176A-4D74-A4D1-51910F5DD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50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DDD4F-88D8-4F72-B540-C533966AF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F0F988-6313-4F2F-843A-B5A382650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43F66-5829-46CF-B0B8-7641FB225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8E016-816A-462E-AFD6-EE852EADA12C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B28BB-7E22-4B05-A645-7481DC164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the Presenter &amp; Department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CA330-8AB6-49E9-862A-112EE7C3C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615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47E5E0-A998-46A6-BCA4-83F3D11523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A3B42-B542-4BAA-92C4-925210EF2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29750-7E8E-4B6F-AFCF-BEAD1874B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357D-D3AE-45A1-AF16-9951E4A1A6C0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52F66-CAB7-4CAC-8C40-BE6B877E7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the Presenter &amp; Department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6B8D6-A138-46E5-B006-AB4D1E3A8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957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BFB23A-58CF-456B-AB08-73729B667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0A73A-70C8-4162-B8EF-D65B849D0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B0888-81FA-465A-90E7-E59D17F1C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F3E9B-DCF6-460C-A298-894BB8D79EEF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B48A1-228A-48E5-955E-3CBA79661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Name of the Presenter &amp; Department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395B7-BD3B-4473-B16F-5A7A3505B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ED798-B2B7-453D-A02A-83F1CBF01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85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jpe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jpe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7" Type="http://schemas.openxmlformats.org/officeDocument/2006/relationships/image" Target="../media/image7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6.jpeg" /><Relationship Id="rId5" Type="http://schemas.openxmlformats.org/officeDocument/2006/relationships/image" Target="../media/image5.jpeg" /><Relationship Id="rId4" Type="http://schemas.openxmlformats.org/officeDocument/2006/relationships/image" Target="../media/image4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8.jpe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2.jpeg" /><Relationship Id="rId4" Type="http://schemas.openxmlformats.org/officeDocument/2006/relationships/image" Target="../media/image11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6" Type="http://schemas.openxmlformats.org/officeDocument/2006/relationships/image" Target="../media/image14.png" /><Relationship Id="rId5" Type="http://schemas.openxmlformats.org/officeDocument/2006/relationships/image" Target="../media/image1.png" /><Relationship Id="rId4" Type="http://schemas.openxmlformats.org/officeDocument/2006/relationships/image" Target="../media/image13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6.jpe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20.jpeg" /><Relationship Id="rId4" Type="http://schemas.openxmlformats.org/officeDocument/2006/relationships/image" Target="../media/image19.jpeg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4.jpe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ACEAD-96D3-A032-A33C-97C7C6389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EDCE6FD-5F7E-8664-8ED3-31E895D52E72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2B962B7-0060-92BF-D80F-8CA6E48E339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8589A71-20A6-497A-C266-A3AC590AC7BB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C0AFB6-FDBE-77A2-D576-D59FFAF6D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1</a:t>
            </a:fld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118D69F-ABE1-3E32-47BB-EE57D5B92537}"/>
              </a:ext>
            </a:extLst>
          </p:cNvPr>
          <p:cNvGrpSpPr/>
          <p:nvPr/>
        </p:nvGrpSpPr>
        <p:grpSpPr>
          <a:xfrm>
            <a:off x="5462" y="-8241"/>
            <a:ext cx="11586463" cy="1504020"/>
            <a:chOff x="-232663" y="-591647"/>
            <a:chExt cx="11586463" cy="20398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FFD4D94-F232-ACC0-A2EC-5563B02B32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-232663" y="-591647"/>
              <a:ext cx="1898904" cy="891025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CFC04D3-2649-B0B2-7F38-D5F9325C1352}"/>
                </a:ext>
              </a:extLst>
            </p:cNvPr>
            <p:cNvGrpSpPr/>
            <p:nvPr/>
          </p:nvGrpSpPr>
          <p:grpSpPr>
            <a:xfrm>
              <a:off x="11015286" y="1236138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F47F37F5-DC62-D5EC-D8A9-D6ECF2CE1ACF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DBEBAC3F-D050-3CB2-1635-06DD7FCB6AF4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" name="Rectangle 3"/>
          <p:cNvSpPr/>
          <p:nvPr/>
        </p:nvSpPr>
        <p:spPr>
          <a:xfrm>
            <a:off x="2552426" y="-3039"/>
            <a:ext cx="70904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>
                <a:latin typeface="Verdana" pitchFamily="34" charset="0"/>
                <a:ea typeface="Verdana" pitchFamily="34" charset="0"/>
              </a:rPr>
              <a:t>Tinkering &amp; Mentoring - VACC 201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9259" y="519945"/>
            <a:ext cx="109018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>
                <a:latin typeface="Verdana" pitchFamily="34" charset="0"/>
                <a:ea typeface="Verdana" pitchFamily="34" charset="0"/>
              </a:rPr>
              <a:t>Problem Identification, Ideation &amp; Initial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66950-E3B8-1408-22D2-14BC8C5AB641}"/>
              </a:ext>
            </a:extLst>
          </p:cNvPr>
          <p:cNvSpPr txBox="1"/>
          <p:nvPr/>
        </p:nvSpPr>
        <p:spPr>
          <a:xfrm>
            <a:off x="2422" y="1169638"/>
            <a:ext cx="12185041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ea typeface="Calibri"/>
                <a:cs typeface="Calibri"/>
              </a:rPr>
              <a:t>Name Of The Product</a:t>
            </a:r>
          </a:p>
          <a:p>
            <a:pPr algn="ctr"/>
            <a:r>
              <a:rPr lang="en-US" sz="4000" b="1">
                <a:ea typeface="Calibri"/>
                <a:cs typeface="Calibri"/>
              </a:rPr>
              <a:t>CITRAGROW</a:t>
            </a:r>
          </a:p>
          <a:p>
            <a:pPr algn="ctr"/>
            <a:r>
              <a:rPr lang="en-US" sz="2800" b="1">
                <a:ea typeface="Calibri"/>
                <a:cs typeface="Calibri"/>
              </a:rPr>
              <a:t>"Growing Sustainably for Tomorrow"</a:t>
            </a:r>
          </a:p>
          <a:p>
            <a:pPr algn="ctr"/>
            <a:endParaRPr lang="en-US" sz="2800">
              <a:ea typeface="Calibri"/>
              <a:cs typeface="Calibri"/>
            </a:endParaRPr>
          </a:p>
        </p:txBody>
      </p:sp>
      <p:pic>
        <p:nvPicPr>
          <p:cNvPr id="23" name="Picture 22" descr="A plant inside a glass container&#10;&#10;AI-generated content may be incorrect.">
            <a:extLst>
              <a:ext uri="{FF2B5EF4-FFF2-40B4-BE49-F238E27FC236}">
                <a16:creationId xmlns:a16="http://schemas.microsoft.com/office/drawing/2014/main" id="{63EEF570-9014-04F5-C9CB-BCA491132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943" y="2559169"/>
            <a:ext cx="4744529" cy="378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585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05-05-2026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2</a:t>
            </a:fld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4" cy="441809"/>
            <a:chOff x="450775" y="170727"/>
            <a:chExt cx="11072284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/>
                  <a:ea typeface="Verdana"/>
                </a:rPr>
                <a:t>CITRAGROW</a:t>
              </a:r>
              <a:endParaRPr lang="en-US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4" y="285624"/>
              <a:ext cx="338515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450774" y="900322"/>
            <a:ext cx="4913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Verdana" panose="020B0604030504040204" pitchFamily="34" charset="0"/>
                <a:ea typeface="Verdana" panose="020B0604030504040204" pitchFamily="34" charset="0"/>
              </a:rPr>
              <a:t>Student Team</a:t>
            </a:r>
            <a:endParaRPr lang="en-IN" sz="24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858927"/>
              </p:ext>
            </p:extLst>
          </p:nvPr>
        </p:nvGraphicFramePr>
        <p:xfrm>
          <a:off x="432486" y="1740243"/>
          <a:ext cx="10640208" cy="4271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57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435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Verdana"/>
                          <a:ea typeface="Verdana"/>
                          <a:cs typeface="+mn-lt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Verdana"/>
                          <a:ea typeface="Verdana"/>
                          <a:cs typeface="+mn-lt"/>
                        </a:rPr>
                        <a:t>Enrollment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Verdana"/>
                          <a:ea typeface="Verdana"/>
                          <a:cs typeface="+mn-lt"/>
                        </a:rPr>
                        <a:t>Key responsibilities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latin typeface="Verdana"/>
                          <a:ea typeface="Verdana"/>
                        </a:rPr>
                        <a:t>PARMAR MAHI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latin typeface="Verdana"/>
                          <a:ea typeface="Verdana"/>
                        </a:rPr>
                        <a:t>25sc02044</a:t>
                      </a:r>
                      <a:endParaRPr lang="en-US">
                        <a:latin typeface="Verda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+mn-lt"/>
                        </a:rPr>
                        <a:t>MANAGEMENT , TRACK PROGRESS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94927"/>
                  </a:ext>
                </a:extLst>
              </a:tr>
              <a:tr h="61576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latin typeface="Verdana"/>
                          <a:ea typeface="Verdana"/>
                        </a:rPr>
                        <a:t>PARMAR NIRMAL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latin typeface="Verdana"/>
                          <a:ea typeface="Verdana"/>
                        </a:rPr>
                        <a:t>25sc02045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Verdana"/>
                          <a:ea typeface="Verdana"/>
                          <a:cs typeface="+mn-lt"/>
                        </a:rPr>
                        <a:t>RAW MATERIAL COLLECTION &amp;PRE-PROCESSING LEAD 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653358"/>
                  </a:ext>
                </a:extLst>
              </a:tr>
              <a:tr h="61576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latin typeface="Verdana"/>
                          <a:ea typeface="Verdana"/>
                        </a:rPr>
                        <a:t>PARMAR SHRUSTI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latin typeface="Verdana"/>
                          <a:ea typeface="Verdana"/>
                        </a:rPr>
                        <a:t>25sc02046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Verdana"/>
                          <a:ea typeface="Verdana"/>
                        </a:rPr>
                        <a:t>APPLICATIONS,IMPACT AND REAL WORLD    REVELANCE</a:t>
                      </a:r>
                      <a:endParaRPr lang="en-US" sz="1600" b="0" kern="1200">
                        <a:solidFill>
                          <a:schemeClr val="bg1"/>
                        </a:solidFill>
                        <a:effectLst/>
                        <a:latin typeface="Verdana"/>
                        <a:ea typeface="Verdana"/>
                        <a:cs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13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latin typeface="Verdana"/>
                          <a:ea typeface="Verdana"/>
                        </a:rPr>
                        <a:t>PATEL DAX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latin typeface="Verdana"/>
                          <a:ea typeface="Verdana"/>
                        </a:rPr>
                        <a:t>25sc02047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Verdana"/>
                          <a:ea typeface="Verdana"/>
                        </a:rPr>
                        <a:t>LITERATURE REVIEW&amp; THEORY SPECIALIST (BACKGROUND RESEARCHER)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76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latin typeface="Verdana"/>
                          <a:ea typeface="Verdana"/>
                        </a:rPr>
                        <a:t>PATEL DHWANI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latin typeface="Verdana"/>
                          <a:ea typeface="Verdana"/>
                        </a:rPr>
                        <a:t>25sc02048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Verdana"/>
                          <a:ea typeface="Verdana"/>
                        </a:rPr>
                        <a:t>TESTING ,ANALYSIS &amp; QUALITY ASSESMENT </a:t>
                      </a:r>
                      <a:endParaRPr lang="en-US" sz="180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76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latin typeface="Verdana"/>
                          <a:ea typeface="Verdana"/>
                        </a:rPr>
                        <a:t>PATEL DHYANI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latin typeface="Verdana"/>
                          <a:ea typeface="Verdana"/>
                        </a:rPr>
                        <a:t>25sc02049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Verdana"/>
                          <a:ea typeface="Verdana"/>
                        </a:rPr>
                        <a:t>FERMENTATION &amp;PROCESS CONTROL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187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05-05-2026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3</a:t>
            </a:fld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4" cy="441809"/>
            <a:chOff x="450775" y="170727"/>
            <a:chExt cx="11072284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/>
                  <a:ea typeface="Verdana"/>
                </a:rPr>
                <a:t>CITRAGROW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4" y="285624"/>
              <a:ext cx="338515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604887" y="1237657"/>
            <a:ext cx="4913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Verdana" panose="020B0604030504040204" pitchFamily="34" charset="0"/>
                <a:ea typeface="Verdana" panose="020B0604030504040204" pitchFamily="34" charset="0"/>
              </a:rPr>
              <a:t>Faculty Mentor</a:t>
            </a:r>
            <a:endParaRPr lang="en-IN" sz="24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2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0756706"/>
              </p:ext>
            </p:extLst>
          </p:nvPr>
        </p:nvGraphicFramePr>
        <p:xfrm>
          <a:off x="604887" y="2003003"/>
          <a:ext cx="1080530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1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0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Verdana"/>
                          <a:ea typeface="Verdana"/>
                          <a:cs typeface="+mn-lt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Verdana"/>
                          <a:ea typeface="Verdana"/>
                          <a:cs typeface="+mn-lt"/>
                        </a:rPr>
                        <a:t>Designation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Verdana"/>
                          <a:ea typeface="Verdana"/>
                          <a:cs typeface="+mn-lt"/>
                        </a:rPr>
                        <a:t>Department,</a:t>
                      </a:r>
                      <a:r>
                        <a:rPr lang="en-US" sz="1800" b="1" baseline="0">
                          <a:solidFill>
                            <a:schemeClr val="bg1"/>
                          </a:solidFill>
                          <a:effectLst/>
                          <a:latin typeface="Verdana"/>
                          <a:ea typeface="Verdana"/>
                          <a:cs typeface="+mn-lt"/>
                        </a:rPr>
                        <a:t> School</a:t>
                      </a:r>
                      <a:endParaRPr lang="en-US" sz="1800" b="1">
                        <a:solidFill>
                          <a:schemeClr val="bg1"/>
                        </a:solidFill>
                        <a:effectLst/>
                        <a:latin typeface="Verdana"/>
                        <a:ea typeface="Verdana"/>
                        <a:cs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80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Professor, Department of Life Sciences.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Coordinator, Research &amp; Development Cell &amp; NAAC Initiatives.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36EA749-73A0-99E2-D002-D72FE9A8F670}"/>
              </a:ext>
            </a:extLst>
          </p:cNvPr>
          <p:cNvSpPr txBox="1"/>
          <p:nvPr/>
        </p:nvSpPr>
        <p:spPr>
          <a:xfrm>
            <a:off x="604887" y="2377781"/>
            <a:ext cx="3482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Dr. </a:t>
            </a:r>
            <a:r>
              <a:rPr lang="en-US" err="1"/>
              <a:t>Devjani</a:t>
            </a:r>
            <a:r>
              <a:rPr lang="en-US"/>
              <a:t> Banerjee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C336D-8CB1-E65E-9638-2315FEBC6412}"/>
              </a:ext>
            </a:extLst>
          </p:cNvPr>
          <p:cNvSpPr txBox="1"/>
          <p:nvPr/>
        </p:nvSpPr>
        <p:spPr>
          <a:xfrm>
            <a:off x="7709440" y="2370271"/>
            <a:ext cx="3631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SOS life Sciences</a:t>
            </a:r>
          </a:p>
        </p:txBody>
      </p:sp>
    </p:spTree>
    <p:extLst>
      <p:ext uri="{BB962C8B-B14F-4D97-AF65-F5344CB8AC3E}">
        <p14:creationId xmlns:p14="http://schemas.microsoft.com/office/powerpoint/2010/main" val="4066104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05-05-2026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4</a:t>
            </a:fld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4" cy="441809"/>
            <a:chOff x="450775" y="170727"/>
            <a:chExt cx="11072284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/>
                  <a:ea typeface="Verdana"/>
                </a:rPr>
                <a:t>CITRAGROW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4" y="285624"/>
              <a:ext cx="338515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450774" y="900322"/>
            <a:ext cx="624797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>
                <a:latin typeface="Verdana"/>
                <a:ea typeface="Verdana"/>
              </a:rPr>
              <a:t>Brief of Tinkering Project</a:t>
            </a:r>
          </a:p>
          <a:p>
            <a:endParaRPr lang="en-US" sz="24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C7E836-D8C8-EA61-E710-C1C20A7E8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-1663" y="1365265"/>
            <a:ext cx="6536002" cy="48013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lvl="0" indent="-342900" fontAlgn="base">
              <a:buFont typeface="Arial"/>
              <a:buChar char="•"/>
            </a:pPr>
            <a:r>
              <a:rPr lang="en-IN">
                <a:latin typeface="Verdana"/>
                <a:ea typeface="Verdana"/>
              </a:rPr>
              <a:t>Title of Tinkering Project: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CitraGrow</a:t>
            </a:r>
            <a:r>
              <a:rPr lang="en-US">
                <a:latin typeface="Verdana"/>
                <a:ea typeface="Verdana"/>
              </a:rPr>
              <a:t> </a:t>
            </a:r>
            <a:endParaRPr lang="en-IN">
              <a:latin typeface="Verdana"/>
              <a:ea typeface="Verdana"/>
            </a:endParaRPr>
          </a:p>
          <a:p>
            <a:pPr marL="342900" lvl="0" indent="-342900" fontAlgn="base">
              <a:buFont typeface="Arial"/>
              <a:buChar char="•"/>
            </a:pPr>
            <a:endParaRPr lang="en-IN">
              <a:latin typeface="Verdana"/>
              <a:ea typeface="Verdana"/>
            </a:endParaRPr>
          </a:p>
          <a:p>
            <a:pPr marL="342900" indent="-342900" fontAlgn="base">
              <a:buFont typeface="Arial"/>
              <a:buChar char="•"/>
            </a:pPr>
            <a:r>
              <a:rPr lang="en-IN">
                <a:latin typeface="Verdana"/>
                <a:ea typeface="Verdana"/>
              </a:rPr>
              <a:t>Sector: Organic Fertilizer</a:t>
            </a:r>
            <a:endParaRPr lang="en-US">
              <a:latin typeface="Verdana"/>
              <a:ea typeface="Verdana"/>
            </a:endParaRPr>
          </a:p>
          <a:p>
            <a:pPr marL="342900" lvl="0" indent="-342900" fontAlgn="base">
              <a:buFont typeface="Arial"/>
              <a:buChar char="•"/>
            </a:pPr>
            <a:endParaRPr lang="en-IN">
              <a:latin typeface="Verdana"/>
              <a:ea typeface="Verdana"/>
            </a:endParaRPr>
          </a:p>
          <a:p>
            <a:pPr marL="342900" indent="-342900" fontAlgn="base">
              <a:buFont typeface="Arial"/>
              <a:buChar char="•"/>
            </a:pPr>
            <a:r>
              <a:rPr lang="en-IN">
                <a:latin typeface="Verdana"/>
                <a:ea typeface="Verdana"/>
              </a:rPr>
              <a:t>Brief of Tinkering Project:  </a:t>
            </a:r>
            <a:r>
              <a:rPr lang="en-US">
                <a:latin typeface="Verdana"/>
                <a:ea typeface="Verdana"/>
              </a:rPr>
              <a:t>The project </a:t>
            </a:r>
            <a:r>
              <a:rPr lang="en-US" err="1">
                <a:latin typeface="Verdana"/>
                <a:ea typeface="Verdana"/>
              </a:rPr>
              <a:t>Citragrow</a:t>
            </a:r>
            <a:r>
              <a:rPr lang="en-US">
                <a:latin typeface="Verdana"/>
                <a:ea typeface="Verdana"/>
              </a:rPr>
              <a:t> focuses on developing a natural organic fertilizer using orange peels, sugar molasses, and water through fermentation.
</a:t>
            </a:r>
            <a:r>
              <a:rPr lang="en-US">
                <a:latin typeface="Verdana"/>
                <a:ea typeface="Verdana"/>
                <a:cs typeface="Calibri"/>
              </a:rPr>
              <a:t>Increasing use of chemical cleaners and fertilizers causes environmental pollution and health issues.</a:t>
            </a:r>
            <a:endParaRPr lang="en-IN">
              <a:latin typeface="Verdana"/>
              <a:ea typeface="Verdana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>
                <a:latin typeface="Verdana"/>
                <a:ea typeface="Calibri"/>
                <a:cs typeface="Calibri"/>
              </a:rPr>
              <a:t>The bio-enzyme can be effectively utilized as an organic fertilizer to improve plant productivity while supporting environmentally sustainable practices.</a:t>
            </a:r>
            <a:endParaRPr lang="en-IN">
              <a:latin typeface="Verdana"/>
              <a:ea typeface="Verdana"/>
            </a:endParaRPr>
          </a:p>
          <a:p>
            <a:pPr marL="342900" indent="-342900">
              <a:buFont typeface="Arial"/>
              <a:buChar char="•"/>
            </a:pPr>
            <a:r>
              <a:rPr lang="en-US">
                <a:latin typeface="Verdana"/>
                <a:ea typeface="Verdana"/>
              </a:rPr>
              <a:t>The bio-enzyme can be used for household cleaning, deodorizing, gardening, and waste management, promoting sustainable living.</a:t>
            </a:r>
            <a:br>
              <a:rPr lang="en-US">
                <a:latin typeface="Verdana"/>
                <a:ea typeface="Verdana"/>
              </a:rPr>
            </a:br>
            <a:endParaRPr lang="en-US">
              <a:latin typeface="Verdana"/>
              <a:ea typeface="Verdana"/>
            </a:endParaRPr>
          </a:p>
        </p:txBody>
      </p:sp>
      <p:pic>
        <p:nvPicPr>
          <p:cNvPr id="5" name="Picture 4" descr="A jar of oranges on a table&#10;&#10;AI-generated content may be incorrect.">
            <a:extLst>
              <a:ext uri="{FF2B5EF4-FFF2-40B4-BE49-F238E27FC236}">
                <a16:creationId xmlns:a16="http://schemas.microsoft.com/office/drawing/2014/main" id="{46CED854-80A7-DA5A-3FF7-611B085EB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4" y="885825"/>
            <a:ext cx="4524375" cy="545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750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57819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05-05-2026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5</a:t>
            </a:fld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4" cy="441809"/>
            <a:chOff x="450775" y="170727"/>
            <a:chExt cx="11072284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CITRAGROW</a:t>
              </a:r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4" y="285624"/>
              <a:ext cx="338515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286017" y="601700"/>
            <a:ext cx="11075678" cy="55399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>
                <a:latin typeface="Verdana"/>
                <a:ea typeface="Verdana"/>
              </a:rPr>
              <a:t>Objective</a:t>
            </a:r>
            <a:endParaRPr lang="en-US"/>
          </a:p>
          <a:p>
            <a:endParaRPr lang="en-US" sz="2400" b="1" dirty="0">
              <a:latin typeface="Verdana"/>
              <a:ea typeface="Verdana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Verdana"/>
                <a:ea typeface="Verdana"/>
                <a:cs typeface="+mn-lt"/>
              </a:rPr>
              <a:t>🔬Bio-enzyme Preparation</a:t>
            </a:r>
            <a:endParaRPr lang="en-US">
              <a:latin typeface="Verdana"/>
              <a:ea typeface="Verdana"/>
            </a:endParaRPr>
          </a:p>
          <a:p>
            <a:r>
              <a:rPr lang="en-US">
                <a:latin typeface="Verdana"/>
                <a:ea typeface="Verdana"/>
                <a:cs typeface="+mn-lt"/>
              </a:rPr>
              <a:t> Develop natural fertilizer using orange peels, molasses &amp; water</a:t>
            </a:r>
            <a:endParaRPr lang="en-US" dirty="0">
              <a:latin typeface="Verdana"/>
              <a:ea typeface="Verdan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Verdana"/>
                <a:ea typeface="Verdana"/>
                <a:cs typeface="+mn-lt"/>
              </a:rPr>
              <a:t>♻️Waste Management</a:t>
            </a:r>
          </a:p>
          <a:p>
            <a:r>
              <a:rPr lang="en-US">
                <a:latin typeface="Verdana"/>
                <a:ea typeface="Verdana"/>
                <a:cs typeface="+mn-lt"/>
              </a:rPr>
              <a:t>-Convert kitchen waste into useful eco-friendly product</a:t>
            </a:r>
            <a:endParaRPr lang="en-US">
              <a:latin typeface="Verdana"/>
              <a:ea typeface="Verdan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Verdana"/>
                <a:ea typeface="Verdana"/>
                <a:cs typeface="+mn-lt"/>
              </a:rPr>
              <a:t>💰Cost-effective Solution</a:t>
            </a:r>
            <a:endParaRPr lang="en-US" dirty="0">
              <a:latin typeface="Verdana"/>
              <a:ea typeface="Verdana"/>
            </a:endParaRPr>
          </a:p>
          <a:p>
            <a:r>
              <a:rPr lang="en-US">
                <a:latin typeface="Verdana"/>
                <a:ea typeface="Verdana"/>
                <a:cs typeface="+mn-lt"/>
              </a:rPr>
              <a:t>-Low-cost, non-toxic alternative to chemicals</a:t>
            </a:r>
            <a:endParaRPr lang="en-US" dirty="0">
              <a:latin typeface="Verdana"/>
              <a:ea typeface="Verdan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Verdana"/>
                <a:ea typeface="Verdana"/>
                <a:cs typeface="+mn-lt"/>
              </a:rPr>
              <a:t>Soil &amp; Plant Health</a:t>
            </a:r>
            <a:endParaRPr lang="en-US" dirty="0">
              <a:latin typeface="Verdana"/>
              <a:ea typeface="Verdana"/>
            </a:endParaRPr>
          </a:p>
          <a:p>
            <a:r>
              <a:rPr lang="en-US">
                <a:latin typeface="Verdana"/>
                <a:ea typeface="Verdana"/>
                <a:cs typeface="+mn-lt"/>
              </a:rPr>
              <a:t>-Enhance soil quality and plant growth</a:t>
            </a:r>
            <a:endParaRPr lang="en-US" dirty="0">
              <a:latin typeface="Verdana"/>
              <a:ea typeface="Verdan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Verdana"/>
                <a:ea typeface="Verdana"/>
                <a:cs typeface="+mn-lt"/>
              </a:rPr>
              <a:t>🌍 Environmental Protection</a:t>
            </a:r>
            <a:endParaRPr lang="en-US" dirty="0">
              <a:latin typeface="Verdana"/>
              <a:ea typeface="Verdana"/>
            </a:endParaRPr>
          </a:p>
          <a:p>
            <a:r>
              <a:rPr lang="en-US">
                <a:latin typeface="Verdana"/>
                <a:ea typeface="Verdana"/>
                <a:cs typeface="+mn-lt"/>
              </a:rPr>
              <a:t>-Reduce pollution and promote sustainability</a:t>
            </a:r>
            <a:endParaRPr lang="en-US" dirty="0">
              <a:latin typeface="Verdana"/>
              <a:ea typeface="Verdan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Verdana"/>
                <a:ea typeface="Verdana"/>
                <a:cs typeface="+mn-lt"/>
              </a:rPr>
              <a:t>🧪 Scientific Study</a:t>
            </a:r>
          </a:p>
          <a:p>
            <a:r>
              <a:rPr lang="en-US" dirty="0">
                <a:latin typeface="Verdana"/>
                <a:ea typeface="Verdana"/>
                <a:cs typeface="+mn-lt"/>
              </a:rPr>
              <a:t>-Understand fermentation </a:t>
            </a:r>
            <a:r>
              <a:rPr lang="en-US" dirty="0" err="1">
                <a:latin typeface="Verdana"/>
                <a:ea typeface="Verdana"/>
                <a:cs typeface="+mn-lt"/>
              </a:rPr>
              <a:t>proces</a:t>
            </a:r>
            <a:endParaRPr lang="en-US" dirty="0">
              <a:latin typeface="Verdana"/>
              <a:ea typeface="Verdana"/>
              <a:cs typeface="Calibri"/>
            </a:endParaRPr>
          </a:p>
          <a:p>
            <a:r>
              <a:rPr lang="en-US">
                <a:latin typeface="Verdana"/>
                <a:ea typeface="Verdana"/>
                <a:cs typeface="+mn-lt"/>
              </a:rPr>
              <a:t>🏡 Multiple Uses</a:t>
            </a:r>
          </a:p>
          <a:p>
            <a:r>
              <a:rPr lang="en-US">
                <a:latin typeface="Verdana"/>
                <a:ea typeface="Verdana"/>
                <a:cs typeface="+mn-lt"/>
              </a:rPr>
              <a:t>-Gardening, cleaning, deodorizing, waste management</a:t>
            </a:r>
            <a:endParaRPr lang="en-US">
              <a:latin typeface="Verdana"/>
              <a:ea typeface="Verdana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Verdana"/>
                <a:ea typeface="Verdana"/>
                <a:cs typeface="+mn-lt"/>
              </a:rPr>
              <a:t>📢 </a:t>
            </a:r>
            <a:r>
              <a:rPr lang="en-US">
                <a:latin typeface="Verdana"/>
                <a:ea typeface="Verdana"/>
                <a:cs typeface="+mn-lt"/>
              </a:rPr>
              <a:t>Awareness</a:t>
            </a:r>
            <a:endParaRPr lang="en-US" dirty="0">
              <a:latin typeface="Verdana"/>
              <a:ea typeface="Verdana"/>
            </a:endParaRPr>
          </a:p>
          <a:p>
            <a:r>
              <a:rPr lang="en-US">
                <a:latin typeface="Verdana"/>
                <a:ea typeface="Verdana"/>
                <a:cs typeface="+mn-lt"/>
              </a:rPr>
              <a:t>-Promote sustainable lifestyle practices</a:t>
            </a:r>
            <a:endParaRPr lang="en-US" dirty="0">
              <a:latin typeface="Verdana"/>
              <a:ea typeface="Verdana"/>
            </a:endParaRPr>
          </a:p>
          <a:p>
            <a:endParaRPr lang="en-US" dirty="0">
              <a:latin typeface="Verdana"/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101954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05-05-2026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6</a:t>
            </a:fld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4" cy="441809"/>
            <a:chOff x="450775" y="170727"/>
            <a:chExt cx="11072284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86225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CITRAGROW</a:t>
              </a:r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4" y="285624"/>
              <a:ext cx="338515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436397" y="900322"/>
            <a:ext cx="11066208" cy="13542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400" b="1">
                <a:latin typeface="Verdana"/>
                <a:ea typeface="Verdana"/>
              </a:rPr>
              <a:t>USP/ Novelty/ Unique Points of Tinkering Project</a:t>
            </a:r>
          </a:p>
          <a:p>
            <a:endParaRPr lang="en-GB" sz="2000" b="1">
              <a:latin typeface="Verdana"/>
              <a:ea typeface="Verdana"/>
            </a:endParaRPr>
          </a:p>
          <a:p>
            <a:endParaRPr lang="en-GB">
              <a:latin typeface="Verdana"/>
              <a:ea typeface="Verdana"/>
              <a:cs typeface="Calibri"/>
            </a:endParaRPr>
          </a:p>
          <a:p>
            <a:r>
              <a:rPr lang="en-GB" sz="2000" b="1">
                <a:latin typeface="Verdana"/>
                <a:ea typeface="Verdana"/>
              </a:rPr>
              <a:t>    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CD387AE-7D47-5A67-D04F-3E31628C1109}"/>
              </a:ext>
            </a:extLst>
          </p:cNvPr>
          <p:cNvCxnSpPr/>
          <p:nvPr/>
        </p:nvCxnSpPr>
        <p:spPr>
          <a:xfrm flipH="1">
            <a:off x="6035613" y="1416830"/>
            <a:ext cx="7924" cy="476237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2C54B81-8B04-CBDD-0BF2-FECBD993ABAB}"/>
              </a:ext>
            </a:extLst>
          </p:cNvPr>
          <p:cNvCxnSpPr/>
          <p:nvPr/>
        </p:nvCxnSpPr>
        <p:spPr>
          <a:xfrm>
            <a:off x="1812790" y="3794102"/>
            <a:ext cx="9022190" cy="1255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B203D8E-BCDC-6103-8031-0005F0B8678D}"/>
              </a:ext>
            </a:extLst>
          </p:cNvPr>
          <p:cNvSpPr txBox="1"/>
          <p:nvPr/>
        </p:nvSpPr>
        <p:spPr>
          <a:xfrm>
            <a:off x="1811746" y="2220124"/>
            <a:ext cx="422299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Verdana"/>
              <a:ea typeface="Verdana"/>
              <a:cs typeface="Calibri"/>
            </a:endParaRPr>
          </a:p>
          <a:p>
            <a:r>
              <a:rPr lang="en-GB">
                <a:latin typeface="Verdana"/>
                <a:ea typeface="Verdana"/>
                <a:cs typeface="Calibri"/>
              </a:rPr>
              <a:t>    </a:t>
            </a:r>
          </a:p>
          <a:p>
            <a:endParaRPr lang="en-GB">
              <a:latin typeface="Verdana"/>
              <a:ea typeface="Verdana"/>
              <a:cs typeface="Calibri"/>
            </a:endParaRPr>
          </a:p>
          <a:p>
            <a:endParaRPr lang="en-GB">
              <a:latin typeface="Verdana"/>
              <a:ea typeface="Verdana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A169DD-62E5-3C51-32A0-AC4781A045FC}"/>
              </a:ext>
            </a:extLst>
          </p:cNvPr>
          <p:cNvSpPr txBox="1"/>
          <p:nvPr/>
        </p:nvSpPr>
        <p:spPr>
          <a:xfrm>
            <a:off x="6054420" y="1413331"/>
            <a:ext cx="614272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Verdana"/>
              <a:ea typeface="Verdana"/>
              <a:cs typeface="Calibri"/>
            </a:endParaRPr>
          </a:p>
          <a:p>
            <a:r>
              <a:rPr lang="en-GB">
                <a:latin typeface="Verdana"/>
                <a:ea typeface="Verdana"/>
                <a:cs typeface="Calibri"/>
              </a:rPr>
              <a:t> 2)ECO-FRIENDLY AND ORGANIC</a:t>
            </a:r>
            <a:endParaRPr lang="en-GB"/>
          </a:p>
          <a:p>
            <a:endParaRPr lang="en-GB">
              <a:latin typeface="Verdana"/>
              <a:ea typeface="Verdana"/>
              <a:cs typeface="Calibri"/>
            </a:endParaRPr>
          </a:p>
          <a:p>
            <a:r>
              <a:rPr lang="en-GB">
                <a:latin typeface="Verdana"/>
                <a:ea typeface="Verdana"/>
                <a:cs typeface="Calibri"/>
              </a:rPr>
              <a:t>     -100% Biodegradable formulation.</a:t>
            </a:r>
          </a:p>
          <a:p>
            <a:r>
              <a:rPr lang="en-GB">
                <a:latin typeface="Verdana"/>
                <a:ea typeface="Verdana"/>
                <a:cs typeface="Calibri"/>
              </a:rPr>
              <a:t>     -Safe for soil and plants.</a:t>
            </a:r>
          </a:p>
          <a:p>
            <a:r>
              <a:rPr lang="en-GB">
                <a:latin typeface="Verdana"/>
                <a:ea typeface="Verdana"/>
                <a:cs typeface="Calibri"/>
              </a:rPr>
              <a:t>     -Prevents chemical soil damage.</a:t>
            </a:r>
          </a:p>
          <a:p>
            <a:endParaRPr lang="en-GB">
              <a:latin typeface="Verdana"/>
              <a:ea typeface="Verdana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D948F4-57E7-011C-84E5-6449F10B24E8}"/>
              </a:ext>
            </a:extLst>
          </p:cNvPr>
          <p:cNvSpPr txBox="1"/>
          <p:nvPr/>
        </p:nvSpPr>
        <p:spPr>
          <a:xfrm>
            <a:off x="843960" y="3802426"/>
            <a:ext cx="518770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Verdana"/>
              <a:ea typeface="Verdana"/>
              <a:cs typeface="Calibri"/>
            </a:endParaRPr>
          </a:p>
          <a:p>
            <a:r>
              <a:rPr lang="en-GB">
                <a:latin typeface="Verdana"/>
                <a:ea typeface="Verdana"/>
                <a:cs typeface="Calibri"/>
              </a:rPr>
              <a:t>  3)LOW-COST AND REPLICABLE.</a:t>
            </a:r>
          </a:p>
          <a:p>
            <a:endParaRPr lang="en-GB">
              <a:latin typeface="Verdana"/>
              <a:ea typeface="Verdana"/>
              <a:cs typeface="Calibri"/>
            </a:endParaRPr>
          </a:p>
          <a:p>
            <a:r>
              <a:rPr lang="en-GB">
                <a:latin typeface="Verdana"/>
                <a:ea typeface="Verdana"/>
                <a:cs typeface="Calibri"/>
              </a:rPr>
              <a:t>       -Uses locally available materials.</a:t>
            </a:r>
          </a:p>
          <a:p>
            <a:r>
              <a:rPr lang="en-GB">
                <a:latin typeface="Verdana"/>
                <a:ea typeface="Verdana"/>
                <a:cs typeface="Calibri"/>
              </a:rPr>
              <a:t>       -Minimal equipment required.</a:t>
            </a:r>
          </a:p>
          <a:p>
            <a:r>
              <a:rPr lang="en-GB">
                <a:latin typeface="Verdana"/>
                <a:ea typeface="Verdana"/>
                <a:cs typeface="Calibri"/>
              </a:rPr>
              <a:t>       -Easy to produce at small scale.</a:t>
            </a:r>
          </a:p>
          <a:p>
            <a:endParaRPr lang="en-GB">
              <a:latin typeface="Verdana"/>
              <a:ea typeface="Verdana"/>
              <a:cs typeface="Calibr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1335D7-14E7-1828-D02E-AB89EB7F548B}"/>
              </a:ext>
            </a:extLst>
          </p:cNvPr>
          <p:cNvSpPr txBox="1"/>
          <p:nvPr/>
        </p:nvSpPr>
        <p:spPr>
          <a:xfrm>
            <a:off x="6067859" y="3798131"/>
            <a:ext cx="612194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Verdana"/>
              <a:ea typeface="Verdana"/>
              <a:cs typeface="Calibri"/>
            </a:endParaRPr>
          </a:p>
          <a:p>
            <a:r>
              <a:rPr lang="en-GB">
                <a:latin typeface="Verdana"/>
                <a:ea typeface="Verdana"/>
                <a:cs typeface="Calibri"/>
              </a:rPr>
              <a:t> 4)SUPPORT TO SUSTAINABLE AGRICULTURE.</a:t>
            </a:r>
          </a:p>
          <a:p>
            <a:endParaRPr lang="en-GB">
              <a:latin typeface="Verdana"/>
              <a:ea typeface="Verdana"/>
              <a:cs typeface="Calibri"/>
            </a:endParaRPr>
          </a:p>
          <a:p>
            <a:r>
              <a:rPr lang="en-GB">
                <a:latin typeface="Verdana"/>
                <a:ea typeface="Verdana"/>
                <a:cs typeface="Calibri"/>
              </a:rPr>
              <a:t>     -Promotes organic farming practices.</a:t>
            </a:r>
          </a:p>
          <a:p>
            <a:r>
              <a:rPr lang="en-GB">
                <a:latin typeface="Verdana"/>
                <a:ea typeface="Verdana"/>
                <a:cs typeface="Calibri"/>
              </a:rPr>
              <a:t>     -Reduces dependence on synthetic fertilizers.</a:t>
            </a:r>
          </a:p>
          <a:p>
            <a:r>
              <a:rPr lang="en-GB">
                <a:latin typeface="Verdana"/>
                <a:ea typeface="Verdana"/>
                <a:cs typeface="Calibri"/>
              </a:rPr>
              <a:t>     -Improves natural soil fertility.</a:t>
            </a:r>
          </a:p>
          <a:p>
            <a:pPr algn="l"/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E2C442-3A77-3227-A6E9-1163BB2D2BF0}"/>
              </a:ext>
            </a:extLst>
          </p:cNvPr>
          <p:cNvSpPr txBox="1"/>
          <p:nvPr/>
        </p:nvSpPr>
        <p:spPr>
          <a:xfrm>
            <a:off x="1064094" y="1413537"/>
            <a:ext cx="497514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r>
              <a:rPr lang="en-GB">
                <a:latin typeface="Verdana"/>
                <a:ea typeface="Verdana"/>
              </a:rPr>
              <a:t>1)WASTE TO WEALTH INNOVATION.</a:t>
            </a:r>
          </a:p>
          <a:p>
            <a:endParaRPr lang="en-GB">
              <a:latin typeface="Verdana"/>
              <a:ea typeface="Verdana"/>
            </a:endParaRPr>
          </a:p>
          <a:p>
            <a:r>
              <a:rPr lang="en-GB">
                <a:latin typeface="Verdana"/>
                <a:ea typeface="Verdana"/>
              </a:rPr>
              <a:t>    -Citrus waste used as input material.</a:t>
            </a:r>
          </a:p>
          <a:p>
            <a:r>
              <a:rPr lang="en-GB">
                <a:latin typeface="Verdana"/>
                <a:ea typeface="Verdana"/>
              </a:rPr>
              <a:t>    -Conversation of waste into organic fertilizer.</a:t>
            </a:r>
          </a:p>
          <a:p>
            <a:r>
              <a:rPr lang="en-GB">
                <a:latin typeface="Verdana"/>
                <a:ea typeface="Verdana"/>
              </a:rPr>
              <a:t>    -Supports sustainable waste utilization.   </a:t>
            </a:r>
            <a:endParaRPr lang="en-GB">
              <a:latin typeface="Verdana"/>
              <a:ea typeface="Verdan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9065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05-05-2026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Name of the Presenter &amp; Department</a:t>
            </a:r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7</a:t>
            </a:fld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4" cy="441809"/>
            <a:chOff x="450775" y="170727"/>
            <a:chExt cx="11072284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CITRAGROW</a:t>
              </a:r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4" y="285624"/>
              <a:ext cx="338515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450774" y="900322"/>
            <a:ext cx="6874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Verdana" panose="020B0604030504040204" pitchFamily="34" charset="0"/>
                <a:ea typeface="Verdana" panose="020B0604030504040204" pitchFamily="34" charset="0"/>
              </a:rPr>
              <a:t>Project Timeline &amp; Milestones</a:t>
            </a:r>
            <a:endParaRPr lang="en-IN" sz="24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066" y="209068"/>
            <a:ext cx="1136330" cy="3600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2BD3F9-E7DA-9C7C-2A5F-2C5E496D0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053631"/>
              </p:ext>
            </p:extLst>
          </p:nvPr>
        </p:nvGraphicFramePr>
        <p:xfrm>
          <a:off x="491850" y="1590958"/>
          <a:ext cx="11197737" cy="45817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2579">
                  <a:extLst>
                    <a:ext uri="{9D8B030D-6E8A-4147-A177-3AD203B41FA5}">
                      <a16:colId xmlns:a16="http://schemas.microsoft.com/office/drawing/2014/main" val="1328271235"/>
                    </a:ext>
                  </a:extLst>
                </a:gridCol>
                <a:gridCol w="3732579">
                  <a:extLst>
                    <a:ext uri="{9D8B030D-6E8A-4147-A177-3AD203B41FA5}">
                      <a16:colId xmlns:a16="http://schemas.microsoft.com/office/drawing/2014/main" val="188439906"/>
                    </a:ext>
                  </a:extLst>
                </a:gridCol>
                <a:gridCol w="3732579">
                  <a:extLst>
                    <a:ext uri="{9D8B030D-6E8A-4147-A177-3AD203B41FA5}">
                      <a16:colId xmlns:a16="http://schemas.microsoft.com/office/drawing/2014/main" val="2918251202"/>
                    </a:ext>
                  </a:extLst>
                </a:gridCol>
              </a:tblGrid>
              <a:tr h="543393">
                <a:tc>
                  <a:txBody>
                    <a:bodyPr/>
                    <a:lstStyle/>
                    <a:p>
                      <a:r>
                        <a:rPr lang="en-IN" b="0" i="1">
                          <a:solidFill>
                            <a:schemeClr val="bg1"/>
                          </a:solidFill>
                        </a:rPr>
                        <a:t>Week</a:t>
                      </a:r>
                      <a:endParaRPr lang="en-US" b="0" i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Activity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Milestones achieved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479238"/>
                  </a:ext>
                </a:extLst>
              </a:tr>
              <a:tr h="1108249">
                <a:tc>
                  <a:txBody>
                    <a:bodyPr/>
                    <a:lstStyle/>
                    <a:p>
                      <a:r>
                        <a:rPr lang="en-IN"/>
                        <a:t>Week 1-2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Collection and preparation of ingredients (150 g orange peels, 150 g lemon peels, sugar/molasses, yeast, water).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Materials prepared and formulation finalized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6416060"/>
                  </a:ext>
                </a:extLst>
              </a:tr>
              <a:tr h="1386590">
                <a:tc>
                  <a:txBody>
                    <a:bodyPr/>
                    <a:lstStyle/>
                    <a:p>
                      <a:r>
                        <a:rPr lang="en-IN"/>
                        <a:t>Week 3-14(3months)</a:t>
                      </a:r>
                      <a:endParaRPr lang="en-US"/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Preparation of solution and fermentation process.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Active microbial fermentation initiated. 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170343"/>
                  </a:ext>
                </a:extLst>
              </a:tr>
              <a:tr h="1365235">
                <a:tc>
                  <a:txBody>
                    <a:bodyPr/>
                    <a:lstStyle/>
                    <a:p>
                      <a:r>
                        <a:rPr lang="en-IN"/>
                        <a:t>Week 15-16</a:t>
                      </a:r>
                      <a:endParaRPr lang="en-US"/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latin typeface="Calibri"/>
                        </a:rPr>
                        <a:t>Filtration, dilution (1:10), observation, application to plants, result analysis, and documentation. Effectiveness of liquid fertilizer evaluated and completed.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Liquid fertilizer ready and applied. </a:t>
                      </a: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Effectiveness evaluated and project completed. 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941420"/>
                  </a:ext>
                </a:extLst>
              </a:tr>
            </a:tbl>
          </a:graphicData>
        </a:graphic>
      </p:graphicFrame>
      <p:pic>
        <p:nvPicPr>
          <p:cNvPr id="3" name="Picture 2" descr="A scale with orange peels on it&#10;&#10;AI-generated content may be incorrect.">
            <a:extLst>
              <a:ext uri="{FF2B5EF4-FFF2-40B4-BE49-F238E27FC236}">
                <a16:creationId xmlns:a16="http://schemas.microsoft.com/office/drawing/2014/main" id="{D97E93D8-E7C6-1353-E4BB-C70DAC9923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0819" y="2150267"/>
            <a:ext cx="1471613" cy="1247778"/>
          </a:xfrm>
          <a:prstGeom prst="rect">
            <a:avLst/>
          </a:prstGeom>
        </p:spPr>
      </p:pic>
      <p:pic>
        <p:nvPicPr>
          <p:cNvPr id="5" name="Picture 4" descr="A glass jug with brown liquid in it&#10;&#10;AI-generated content may be incorrect.">
            <a:extLst>
              <a:ext uri="{FF2B5EF4-FFF2-40B4-BE49-F238E27FC236}">
                <a16:creationId xmlns:a16="http://schemas.microsoft.com/office/drawing/2014/main" id="{D6019C62-53C1-F159-BAAC-89F093EA68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1696" y="3369468"/>
            <a:ext cx="1477951" cy="1381128"/>
          </a:xfrm>
          <a:prstGeom prst="rect">
            <a:avLst/>
          </a:prstGeom>
        </p:spPr>
      </p:pic>
      <p:pic>
        <p:nvPicPr>
          <p:cNvPr id="6" name="Picture 5" descr="A person pouring liquid into a potted plant&#10;&#10;AI-generated content may be incorrect.">
            <a:extLst>
              <a:ext uri="{FF2B5EF4-FFF2-40B4-BE49-F238E27FC236}">
                <a16:creationId xmlns:a16="http://schemas.microsoft.com/office/drawing/2014/main" id="{A3ED0A62-55C5-535C-6EF3-3C5238130E2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11" r="-1118"/>
          <a:stretch>
            <a:fillRect/>
          </a:stretch>
        </p:blipFill>
        <p:spPr>
          <a:xfrm>
            <a:off x="2727816" y="4743714"/>
            <a:ext cx="1484389" cy="141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750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D22A7-944B-E8BE-3E42-54DBD2B06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28F781D-E434-8188-39AD-C98FE71BF244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3F201AC-A431-FBAE-774F-B9E359CD95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32FFB2B-1001-4F05-9548-E8962570D21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8342AA-8AD8-31F9-791F-B79FF9EC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8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7209BDFC-F87F-0AD3-0AD2-6D90EC65D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1B5B-4067-417C-A62E-EE6EE02E9F51}" type="datetime1">
              <a:rPr lang="en-IN" smtClean="0">
                <a:solidFill>
                  <a:schemeClr val="tx1"/>
                </a:solidFill>
              </a:rPr>
              <a:t>05-05-2026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88F57B9-72F6-F8CD-7E20-C147544EC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Name of the Presenter</a:t>
            </a:r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956432F-B09D-FA20-7755-3F884FC63554}"/>
              </a:ext>
            </a:extLst>
          </p:cNvPr>
          <p:cNvGrpSpPr/>
          <p:nvPr/>
        </p:nvGrpSpPr>
        <p:grpSpPr>
          <a:xfrm>
            <a:off x="450775" y="170727"/>
            <a:ext cx="3551249" cy="5467038"/>
            <a:chOff x="450775" y="170727"/>
            <a:chExt cx="3551249" cy="546703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E47A91F-8F23-8FAE-598F-91984EEEDECC}"/>
                </a:ext>
              </a:extLst>
            </p:cNvPr>
            <p:cNvSpPr txBox="1"/>
            <p:nvPr/>
          </p:nvSpPr>
          <p:spPr>
            <a:xfrm>
              <a:off x="838200" y="5146027"/>
              <a:ext cx="3163824" cy="491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b="1">
                  <a:latin typeface="Verdana" panose="020B0604030504040204" pitchFamily="34" charset="0"/>
                  <a:ea typeface="Verdana" panose="020B0604030504040204" pitchFamily="34" charset="0"/>
                </a:rPr>
                <a:t>Thank You..</a:t>
              </a: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B42C481-7049-2649-C990-123E9D6EE6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AF49D2F-1FD4-4CCE-B487-BBE0423B32FD}"/>
                </a:ext>
              </a:extLst>
            </p:cNvPr>
            <p:cNvGrpSpPr/>
            <p:nvPr/>
          </p:nvGrpSpPr>
          <p:grpSpPr>
            <a:xfrm>
              <a:off x="450775" y="5338110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4" name="Google Shape;59;p15">
                <a:extLst>
                  <a:ext uri="{FF2B5EF4-FFF2-40B4-BE49-F238E27FC236}">
                    <a16:creationId xmlns:a16="http://schemas.microsoft.com/office/drawing/2014/main" id="{4C7DBC1E-9F03-C501-03C4-40611332AF6C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60;p15">
                <a:extLst>
                  <a:ext uri="{FF2B5EF4-FFF2-40B4-BE49-F238E27FC236}">
                    <a16:creationId xmlns:a16="http://schemas.microsoft.com/office/drawing/2014/main" id="{43830E1C-48D8-36F4-42D1-F7CF813F028F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8" name="Picture 7" descr="A hand pouring liquid onto a plant&#10;&#10;AI-generated content may be incorrect.">
            <a:extLst>
              <a:ext uri="{FF2B5EF4-FFF2-40B4-BE49-F238E27FC236}">
                <a16:creationId xmlns:a16="http://schemas.microsoft.com/office/drawing/2014/main" id="{F817BEA0-05E9-128A-2166-A28F68CCB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6197" y="152399"/>
            <a:ext cx="6155023" cy="60154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57494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15EA4-50C5-4036-5520-4C9BD891F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941" y="285624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b="1">
                <a:latin typeface="Verdana"/>
                <a:ea typeface="Verdana"/>
              </a:rPr>
              <a:t>Introduction</a:t>
            </a:r>
            <a:endParaRPr lang="en-IN" sz="36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DFDD9-27B8-0F77-4C63-188733B74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862" y="1565194"/>
            <a:ext cx="10515600" cy="4645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>
                <a:latin typeface="Verdana" panose="020B0604030504040204" pitchFamily="34" charset="0"/>
                <a:ea typeface="Verdana" panose="020B0604030504040204" pitchFamily="34" charset="0"/>
              </a:rPr>
              <a:t>"Growing Sustainably for Tomorrow“</a:t>
            </a:r>
          </a:p>
          <a:p>
            <a:r>
              <a:rPr lang="en-US" sz="1800">
                <a:latin typeface="Verdana" panose="020B0604030504040204" pitchFamily="34" charset="0"/>
                <a:ea typeface="Verdana" panose="020B0604030504040204" pitchFamily="34" charset="0"/>
              </a:rPr>
              <a:t>Chemical fertilizers and synthetic cleaners are silently degrading our soil and polluting our environment — the world needs a smarter, greener alternative.</a:t>
            </a:r>
          </a:p>
          <a:p>
            <a:r>
              <a:rPr lang="en-US" sz="1800" err="1">
                <a:latin typeface="Verdana" panose="020B0604030504040204" pitchFamily="34" charset="0"/>
                <a:ea typeface="Verdana" panose="020B0604030504040204" pitchFamily="34" charset="0"/>
              </a:rPr>
              <a:t>CitraGrow</a:t>
            </a:r>
            <a:r>
              <a:rPr lang="en-US" sz="1800">
                <a:latin typeface="Verdana" panose="020B0604030504040204" pitchFamily="34" charset="0"/>
                <a:ea typeface="Verdana" panose="020B0604030504040204" pitchFamily="34" charset="0"/>
              </a:rPr>
              <a:t> is a student-driven initiative that upcycles citrus peels (orange &amp; lemon) into a powerful bio-enzyme organic fertilizer, using just three simple ingredients: peels, sugar molasses, and water.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86C25-9F0B-CE28-6307-81BAC2E81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9</a:t>
            </a:fld>
            <a:endParaRPr lang="en-IN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50B0DF6-8DA8-EB9E-E895-CBA07A5B18E4}"/>
              </a:ext>
            </a:extLst>
          </p:cNvPr>
          <p:cNvGrpSpPr/>
          <p:nvPr/>
        </p:nvGrpSpPr>
        <p:grpSpPr>
          <a:xfrm>
            <a:off x="0" y="6356350"/>
            <a:ext cx="12192000" cy="510659"/>
            <a:chOff x="0" y="6347341"/>
            <a:chExt cx="12192000" cy="51065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284B7AF-FC58-60B7-9764-C34882ACD71A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6040829-4363-C5E0-95C5-571887402385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3659C56-1B76-DA08-2769-788029114FB6}"/>
              </a:ext>
            </a:extLst>
          </p:cNvPr>
          <p:cNvGrpSpPr/>
          <p:nvPr/>
        </p:nvGrpSpPr>
        <p:grpSpPr>
          <a:xfrm>
            <a:off x="450775" y="170727"/>
            <a:ext cx="11072284" cy="441809"/>
            <a:chOff x="450775" y="170727"/>
            <a:chExt cx="11072284" cy="441809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66E321D-71BE-A5EC-D30C-CEF1790EE2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24" name="Footer Placeholder 9">
              <a:extLst>
                <a:ext uri="{FF2B5EF4-FFF2-40B4-BE49-F238E27FC236}">
                  <a16:creationId xmlns:a16="http://schemas.microsoft.com/office/drawing/2014/main" id="{8CB5AF64-D8FA-81F9-B498-B3508AB228A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CITRAGROW</a:t>
              </a:r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5B45235-6A9B-1ED6-ED59-6E6A2DFF7205}"/>
                </a:ext>
              </a:extLst>
            </p:cNvPr>
            <p:cNvGrpSpPr/>
            <p:nvPr/>
          </p:nvGrpSpPr>
          <p:grpSpPr>
            <a:xfrm>
              <a:off x="11184544" y="285624"/>
              <a:ext cx="338515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26" name="Google Shape;59;p15">
                <a:extLst>
                  <a:ext uri="{FF2B5EF4-FFF2-40B4-BE49-F238E27FC236}">
                    <a16:creationId xmlns:a16="http://schemas.microsoft.com/office/drawing/2014/main" id="{377C4398-817A-263C-45BE-DA67C6156F84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60;p15">
                <a:extLst>
                  <a:ext uri="{FF2B5EF4-FFF2-40B4-BE49-F238E27FC236}">
                    <a16:creationId xmlns:a16="http://schemas.microsoft.com/office/drawing/2014/main" id="{A3CBFCCE-B238-EC48-6C3F-84920AFE6146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5807094-97A4-E9E2-C991-809D5A119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73"/>
          <a:stretch>
            <a:fillRect/>
          </a:stretch>
        </p:blipFill>
        <p:spPr>
          <a:xfrm>
            <a:off x="2486974" y="3429000"/>
            <a:ext cx="6862509" cy="288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371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E2089-D38D-27A8-3F8D-03CBC2111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776" y="1138713"/>
            <a:ext cx="8159824" cy="52168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>
                <a:latin typeface="Verdana" panose="020B0604030504040204" pitchFamily="34" charset="0"/>
                <a:ea typeface="Verdana" panose="020B0604030504040204" pitchFamily="34" charset="0"/>
              </a:rPr>
              <a:t>The Problem in Depth</a:t>
            </a:r>
          </a:p>
          <a:p>
            <a:r>
              <a:rPr lang="en-US" sz="1800">
                <a:latin typeface="Verdana"/>
                <a:ea typeface="Verdana"/>
                <a:cs typeface="+mn-lt"/>
              </a:rPr>
              <a:t>Chemical fertilizers degrade soil &amp; reduce microbial diversity.</a:t>
            </a:r>
            <a:endParaRPr lang="en-US" sz="1800">
              <a:latin typeface="Verdana"/>
              <a:ea typeface="Verdana"/>
            </a:endParaRPr>
          </a:p>
          <a:p>
            <a:r>
              <a:rPr lang="en-US" sz="1800">
                <a:latin typeface="Verdana"/>
                <a:ea typeface="Verdana"/>
                <a:cs typeface="+mn-lt"/>
              </a:rPr>
              <a:t>Synthetic cleaners pollute water &amp; harm aquatic life.</a:t>
            </a:r>
            <a:endParaRPr lang="en-US">
              <a:latin typeface="Verdana"/>
              <a:ea typeface="Verdana"/>
            </a:endParaRPr>
          </a:p>
          <a:p>
            <a:r>
              <a:rPr lang="en-US" sz="1800">
                <a:latin typeface="Verdana"/>
                <a:ea typeface="Verdana"/>
                <a:cs typeface="+mn-lt"/>
              </a:rPr>
              <a:t>Citrus/kitchen waste overloads landfills.</a:t>
            </a:r>
            <a:endParaRPr lang="en-US">
              <a:latin typeface="Verdana"/>
              <a:ea typeface="Verdana"/>
            </a:endParaRPr>
          </a:p>
          <a:p>
            <a:pPr marL="0" indent="0">
              <a:buNone/>
            </a:pPr>
            <a:r>
              <a:rPr lang="en-US" sz="1800" b="1">
                <a:latin typeface="Verdana"/>
                <a:ea typeface="Verdana"/>
              </a:rPr>
              <a:t>Our Vision with </a:t>
            </a:r>
            <a:r>
              <a:rPr lang="en-US" sz="1800" b="1" err="1">
                <a:latin typeface="Verdana"/>
                <a:ea typeface="Verdana"/>
              </a:rPr>
              <a:t>CitraGrow</a:t>
            </a:r>
            <a:endParaRPr lang="en-US" sz="1800" b="1">
              <a:latin typeface="Verdana"/>
              <a:ea typeface="Verdana"/>
            </a:endParaRPr>
          </a:p>
          <a:p>
            <a:r>
              <a:rPr lang="en-US" sz="1800">
                <a:latin typeface="Verdana"/>
                <a:ea typeface="Verdana"/>
                <a:cs typeface="+mn-lt"/>
              </a:rPr>
              <a:t>Turn waste into an eco-friendly resource.</a:t>
            </a:r>
            <a:endParaRPr lang="en-US" sz="1800">
              <a:latin typeface="Verdana"/>
              <a:ea typeface="Verdana"/>
            </a:endParaRPr>
          </a:p>
          <a:p>
            <a:r>
              <a:rPr lang="en-US" sz="1800">
                <a:latin typeface="Verdana"/>
                <a:ea typeface="Verdana"/>
                <a:cs typeface="+mn-lt"/>
              </a:rPr>
              <a:t>Support sustainable, organic farming.</a:t>
            </a:r>
            <a:endParaRPr lang="en-US" sz="1800">
              <a:latin typeface="Verdana"/>
              <a:ea typeface="Verdana"/>
            </a:endParaRPr>
          </a:p>
          <a:p>
            <a:r>
              <a:rPr lang="en-US" sz="1800">
                <a:latin typeface="Verdana"/>
                <a:ea typeface="Verdana"/>
                <a:cs typeface="+mn-lt"/>
              </a:rPr>
              <a:t>Enable zero-waste living at low cost.</a:t>
            </a:r>
            <a:endParaRPr lang="en-US">
              <a:latin typeface="Verdana"/>
              <a:ea typeface="Verdana"/>
            </a:endParaRPr>
          </a:p>
          <a:p>
            <a:pPr marL="0" indent="0">
              <a:buNone/>
            </a:pPr>
            <a:r>
              <a:rPr lang="en-US" sz="1800" b="1">
                <a:latin typeface="Verdana"/>
                <a:ea typeface="Verdana"/>
              </a:rPr>
              <a:t>Expected Impact</a:t>
            </a:r>
            <a:endParaRPr lang="en-US" sz="1800">
              <a:latin typeface="Verdana"/>
              <a:ea typeface="Verdana"/>
              <a:cs typeface="Calibri"/>
            </a:endParaRPr>
          </a:p>
          <a:p>
            <a:r>
              <a:rPr lang="en-US" sz="1800">
                <a:latin typeface="Verdana" panose="020B0604030504040204" pitchFamily="34" charset="0"/>
                <a:ea typeface="Verdana" panose="020B0604030504040204" pitchFamily="34" charset="0"/>
              </a:rPr>
              <a:t>Improved soil health and plant growth.</a:t>
            </a:r>
          </a:p>
          <a:p>
            <a:r>
              <a:rPr lang="en-US" sz="1800">
                <a:latin typeface="Verdana"/>
                <a:ea typeface="Verdana"/>
              </a:rPr>
              <a:t>Less environmental pollution.</a:t>
            </a:r>
          </a:p>
          <a:p>
            <a:r>
              <a:rPr lang="en-US" sz="1800">
                <a:latin typeface="Verdana"/>
                <a:ea typeface="Verdana"/>
              </a:rPr>
              <a:t>Wider adoption of sustainable habits.</a:t>
            </a:r>
          </a:p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ACE1E-FB6E-FB07-B6B0-2E84C608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10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2F4B9B1-AD48-3971-9C1E-B003B0A7788A}"/>
              </a:ext>
            </a:extLst>
          </p:cNvPr>
          <p:cNvGrpSpPr/>
          <p:nvPr/>
        </p:nvGrpSpPr>
        <p:grpSpPr>
          <a:xfrm>
            <a:off x="450775" y="170727"/>
            <a:ext cx="11072284" cy="441809"/>
            <a:chOff x="450775" y="170727"/>
            <a:chExt cx="11072284" cy="44180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36DBD52-1152-344B-8F94-4D07C97B23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9" name="Footer Placeholder 9">
              <a:extLst>
                <a:ext uri="{FF2B5EF4-FFF2-40B4-BE49-F238E27FC236}">
                  <a16:creationId xmlns:a16="http://schemas.microsoft.com/office/drawing/2014/main" id="{00327C62-9860-44AB-C197-A4ABF8FF406B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CITRAGROW</a:t>
              </a:r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897A247-1DAC-B5AF-6F60-C3E561DE61E8}"/>
                </a:ext>
              </a:extLst>
            </p:cNvPr>
            <p:cNvGrpSpPr/>
            <p:nvPr/>
          </p:nvGrpSpPr>
          <p:grpSpPr>
            <a:xfrm>
              <a:off x="11184544" y="285624"/>
              <a:ext cx="338515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1" name="Google Shape;59;p15">
                <a:extLst>
                  <a:ext uri="{FF2B5EF4-FFF2-40B4-BE49-F238E27FC236}">
                    <a16:creationId xmlns:a16="http://schemas.microsoft.com/office/drawing/2014/main" id="{75520829-F32F-561C-5EF2-9CF9250D3B96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60;p15">
                <a:extLst>
                  <a:ext uri="{FF2B5EF4-FFF2-40B4-BE49-F238E27FC236}">
                    <a16:creationId xmlns:a16="http://schemas.microsoft.com/office/drawing/2014/main" id="{9259B810-DBF4-E779-E4F3-DE895D19BD65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4826E0-8F62-62E8-5716-0E950B20552A}"/>
              </a:ext>
            </a:extLst>
          </p:cNvPr>
          <p:cNvGrpSpPr/>
          <p:nvPr/>
        </p:nvGrpSpPr>
        <p:grpSpPr>
          <a:xfrm>
            <a:off x="0" y="6356350"/>
            <a:ext cx="12192000" cy="510659"/>
            <a:chOff x="0" y="6347341"/>
            <a:chExt cx="12192000" cy="51065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2DC5830-9FF1-3AD1-22D2-F51722D0B951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B169674-A95E-35D9-45DF-90527E6AEC64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7809A24-1FD7-C86C-1845-2921DB9243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898" y="1058226"/>
            <a:ext cx="2743200" cy="15262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48DD86C-D989-EF5A-9480-E7095C4CF3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898" y="2611978"/>
            <a:ext cx="2743200" cy="17847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3FC4E85-6891-2A0A-BFD4-07DB3EFCEC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898" y="4415264"/>
            <a:ext cx="2743200" cy="176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025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928C6-7926-5443-AE59-1F28343C2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67373" y="1343601"/>
            <a:ext cx="2743200" cy="365125"/>
          </a:xfrm>
        </p:spPr>
        <p:txBody>
          <a:bodyPr/>
          <a:lstStyle/>
          <a:p>
            <a:fld id="{C9EED798-B2B7-453D-A02A-83F1CBF01642}" type="slidenum">
              <a:rPr lang="en-IN" smtClean="0"/>
              <a:t>11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A7AE54-DC1D-4F3E-5194-E33C6A7E8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910" y="629171"/>
            <a:ext cx="7582290" cy="107955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BEAB5A8-C778-D0EA-E29E-28C4350777AE}"/>
              </a:ext>
            </a:extLst>
          </p:cNvPr>
          <p:cNvGrpSpPr/>
          <p:nvPr/>
        </p:nvGrpSpPr>
        <p:grpSpPr>
          <a:xfrm>
            <a:off x="450775" y="170727"/>
            <a:ext cx="11072284" cy="441809"/>
            <a:chOff x="450775" y="170727"/>
            <a:chExt cx="11072284" cy="44180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EA43BB9-62DF-7EB7-D12B-DD34BC7643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1" name="Footer Placeholder 9">
              <a:extLst>
                <a:ext uri="{FF2B5EF4-FFF2-40B4-BE49-F238E27FC236}">
                  <a16:creationId xmlns:a16="http://schemas.microsoft.com/office/drawing/2014/main" id="{676E3813-16DD-F0DC-EA18-AA91CF5AAE78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CITRAGROW</a:t>
              </a:r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DD434C6-7BD6-3196-FCE3-6A7A20B8AE11}"/>
                </a:ext>
              </a:extLst>
            </p:cNvPr>
            <p:cNvGrpSpPr/>
            <p:nvPr/>
          </p:nvGrpSpPr>
          <p:grpSpPr>
            <a:xfrm>
              <a:off x="11184544" y="285624"/>
              <a:ext cx="338515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3" name="Google Shape;59;p15">
                <a:extLst>
                  <a:ext uri="{FF2B5EF4-FFF2-40B4-BE49-F238E27FC236}">
                    <a16:creationId xmlns:a16="http://schemas.microsoft.com/office/drawing/2014/main" id="{1B65C422-4841-7A79-7CF9-2D7736161129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60;p15">
                <a:extLst>
                  <a:ext uri="{FF2B5EF4-FFF2-40B4-BE49-F238E27FC236}">
                    <a16:creationId xmlns:a16="http://schemas.microsoft.com/office/drawing/2014/main" id="{8E8B314D-321D-0372-32E6-BF55F4126385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B5F93C8-E908-6B25-9623-266D0F01B8DA}"/>
              </a:ext>
            </a:extLst>
          </p:cNvPr>
          <p:cNvGrpSpPr/>
          <p:nvPr/>
        </p:nvGrpSpPr>
        <p:grpSpPr>
          <a:xfrm>
            <a:off x="0" y="6356350"/>
            <a:ext cx="12192000" cy="510659"/>
            <a:chOff x="0" y="6347341"/>
            <a:chExt cx="12192000" cy="51065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A19A5B8-4BA9-AC8D-960B-9DBBF212D24C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ED07555-7FA8-93BD-014C-9E779B7F2333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citragrow video">
            <a:hlinkClick r:id="" action="ppaction://media"/>
            <a:extLst>
              <a:ext uri="{FF2B5EF4-FFF2-40B4-BE49-F238E27FC236}">
                <a16:creationId xmlns:a16="http://schemas.microsoft.com/office/drawing/2014/main" id="{707BD358-8443-99EB-19C5-32E3E0ED76A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392334" y="1708726"/>
            <a:ext cx="9272241" cy="450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96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7CDC3-5FC4-13A2-1451-9F7DF576C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865" y="576616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b="1">
                <a:latin typeface="Verdana"/>
                <a:ea typeface="Verdana"/>
              </a:rPr>
              <a:t>Materials</a:t>
            </a:r>
            <a:endParaRPr lang="en-IN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92573-52B7-9822-C83C-E590A8DAF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459" y="1717321"/>
            <a:ext cx="10515600" cy="45640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3300" b="1">
                <a:latin typeface="Verdana" panose="020B0604030504040204" pitchFamily="34" charset="0"/>
                <a:ea typeface="Verdana" panose="020B0604030504040204" pitchFamily="34" charset="0"/>
              </a:rPr>
              <a:t>Raw Materials</a:t>
            </a:r>
            <a:endParaRPr lang="en-IN" sz="33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sz="3300">
                <a:latin typeface="Verdana" panose="020B0604030504040204" pitchFamily="34" charset="0"/>
                <a:ea typeface="Verdana" panose="020B0604030504040204" pitchFamily="34" charset="0"/>
              </a:rPr>
              <a:t>Orange peel powder </a:t>
            </a:r>
            <a:r>
              <a:rPr lang="en-IN" sz="3300" i="1">
                <a:latin typeface="Verdana" panose="020B0604030504040204" pitchFamily="34" charset="0"/>
                <a:ea typeface="Verdana" panose="020B0604030504040204" pitchFamily="34" charset="0"/>
              </a:rPr>
              <a:t>(from dried citrus peels)</a:t>
            </a:r>
            <a:r>
              <a:rPr lang="en-IN" sz="330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r>
              <a:rPr lang="en-IN" sz="3300">
                <a:latin typeface="Verdana" panose="020B0604030504040204" pitchFamily="34" charset="0"/>
                <a:ea typeface="Verdana" panose="020B0604030504040204" pitchFamily="34" charset="0"/>
              </a:rPr>
              <a:t>Jaggery / Sugar molasses </a:t>
            </a:r>
          </a:p>
          <a:p>
            <a:r>
              <a:rPr lang="en-IN" sz="3300">
                <a:latin typeface="Verdana" panose="020B0604030504040204" pitchFamily="34" charset="0"/>
                <a:ea typeface="Verdana" panose="020B0604030504040204" pitchFamily="34" charset="0"/>
              </a:rPr>
              <a:t>Water </a:t>
            </a:r>
          </a:p>
          <a:p>
            <a:pPr marL="0" indent="0">
              <a:buNone/>
            </a:pPr>
            <a:r>
              <a:rPr lang="en-IN" sz="3300" b="1">
                <a:latin typeface="Verdana" panose="020B0604030504040204" pitchFamily="34" charset="0"/>
                <a:ea typeface="Verdana" panose="020B0604030504040204" pitchFamily="34" charset="0"/>
              </a:rPr>
              <a:t>Plant Material</a:t>
            </a:r>
            <a:endParaRPr lang="en-IN" sz="33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sz="3300">
                <a:latin typeface="Verdana" panose="020B0604030504040204" pitchFamily="34" charset="0"/>
                <a:ea typeface="Verdana" panose="020B0604030504040204" pitchFamily="34" charset="0"/>
              </a:rPr>
              <a:t>Fenugreek seeds (</a:t>
            </a:r>
            <a:r>
              <a:rPr lang="en-IN" sz="3300" i="1" err="1">
                <a:latin typeface="Verdana" panose="020B0604030504040204" pitchFamily="34" charset="0"/>
                <a:ea typeface="Verdana" panose="020B0604030504040204" pitchFamily="34" charset="0"/>
              </a:rPr>
              <a:t>Methi</a:t>
            </a:r>
            <a:r>
              <a:rPr lang="en-IN" sz="3300"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</a:p>
          <a:p>
            <a:pPr marL="0" indent="0">
              <a:buNone/>
            </a:pPr>
            <a:r>
              <a:rPr lang="en-IN" sz="3300" b="1">
                <a:latin typeface="Verdana" panose="020B0604030504040204" pitchFamily="34" charset="0"/>
                <a:ea typeface="Verdana" panose="020B0604030504040204" pitchFamily="34" charset="0"/>
              </a:rPr>
              <a:t>Equipment</a:t>
            </a:r>
            <a:endParaRPr lang="en-IN" sz="33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sz="3300">
                <a:latin typeface="Verdana" panose="020B0604030504040204" pitchFamily="34" charset="0"/>
                <a:ea typeface="Verdana" panose="020B0604030504040204" pitchFamily="34" charset="0"/>
              </a:rPr>
              <a:t>Airtight container </a:t>
            </a:r>
            <a:r>
              <a:rPr lang="en-IN" sz="3300" i="1">
                <a:latin typeface="Verdana" panose="020B0604030504040204" pitchFamily="34" charset="0"/>
                <a:ea typeface="Verdana" panose="020B0604030504040204" pitchFamily="34" charset="0"/>
              </a:rPr>
              <a:t>(for fermentation)</a:t>
            </a:r>
            <a:r>
              <a:rPr lang="en-IN" sz="330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r>
              <a:rPr lang="en-IN" sz="3300">
                <a:latin typeface="Verdana" panose="020B0604030504040204" pitchFamily="34" charset="0"/>
                <a:ea typeface="Verdana" panose="020B0604030504040204" pitchFamily="34" charset="0"/>
              </a:rPr>
              <a:t>Measuring cup / cylinder </a:t>
            </a:r>
          </a:p>
          <a:p>
            <a:r>
              <a:rPr lang="en-IN" sz="3300">
                <a:latin typeface="Verdana" panose="020B0604030504040204" pitchFamily="34" charset="0"/>
                <a:ea typeface="Verdana" panose="020B0604030504040204" pitchFamily="34" charset="0"/>
              </a:rPr>
              <a:t>Stirring rod or spoon </a:t>
            </a:r>
          </a:p>
          <a:p>
            <a:r>
              <a:rPr lang="en-IN" sz="3300">
                <a:latin typeface="Verdana" panose="020B0604030504040204" pitchFamily="34" charset="0"/>
                <a:ea typeface="Verdana" panose="020B0604030504040204" pitchFamily="34" charset="0"/>
              </a:rPr>
              <a:t>Grinder </a:t>
            </a:r>
            <a:r>
              <a:rPr lang="en-IN" sz="3300" i="1">
                <a:latin typeface="Verdana" panose="020B0604030504040204" pitchFamily="34" charset="0"/>
                <a:ea typeface="Verdana" panose="020B0604030504040204" pitchFamily="34" charset="0"/>
              </a:rPr>
              <a:t>(for peel powder preparation)</a:t>
            </a:r>
            <a:r>
              <a:rPr lang="en-IN" sz="330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0" indent="0">
              <a:buNone/>
            </a:pPr>
            <a:r>
              <a:rPr lang="en-IN" sz="3300" b="1">
                <a:latin typeface="Verdana" panose="020B0604030504040204" pitchFamily="34" charset="0"/>
                <a:ea typeface="Verdana" panose="020B0604030504040204" pitchFamily="34" charset="0"/>
              </a:rPr>
              <a:t>Experimental Setup</a:t>
            </a:r>
            <a:endParaRPr lang="en-IN" sz="33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sz="3300">
                <a:latin typeface="Verdana" panose="020B0604030504040204" pitchFamily="34" charset="0"/>
                <a:ea typeface="Verdana" panose="020B0604030504040204" pitchFamily="34" charset="0"/>
              </a:rPr>
              <a:t>Plant pots </a:t>
            </a:r>
          </a:p>
          <a:p>
            <a:r>
              <a:rPr lang="en-IN" sz="3300">
                <a:latin typeface="Verdana" panose="020B0604030504040204" pitchFamily="34" charset="0"/>
                <a:ea typeface="Verdana" panose="020B0604030504040204" pitchFamily="34" charset="0"/>
              </a:rPr>
              <a:t>Soil </a:t>
            </a:r>
            <a:r>
              <a:rPr lang="en-IN" sz="3300" i="1">
                <a:latin typeface="Verdana" panose="020B0604030504040204" pitchFamily="34" charset="0"/>
                <a:ea typeface="Verdana" panose="020B0604030504040204" pitchFamily="34" charset="0"/>
              </a:rPr>
              <a:t>(same type for all pots)</a:t>
            </a:r>
            <a:endParaRPr lang="en-IN" sz="33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5359B-D850-EBC8-7B15-876F13999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FF8D-38DE-44ED-8E8F-F4480F209472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11A57-5FCE-FA76-54C8-242B3611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the Presenter &amp; Department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E568A-431D-A3F1-7922-EE6B4B152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12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996177-9836-5EE1-50A9-94676385B4D4}"/>
              </a:ext>
            </a:extLst>
          </p:cNvPr>
          <p:cNvGrpSpPr/>
          <p:nvPr/>
        </p:nvGrpSpPr>
        <p:grpSpPr>
          <a:xfrm>
            <a:off x="450775" y="170727"/>
            <a:ext cx="11072284" cy="441809"/>
            <a:chOff x="450775" y="170727"/>
            <a:chExt cx="11072284" cy="44180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597303E-3808-7266-8D3D-F4A4028759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9" name="Footer Placeholder 9">
              <a:extLst>
                <a:ext uri="{FF2B5EF4-FFF2-40B4-BE49-F238E27FC236}">
                  <a16:creationId xmlns:a16="http://schemas.microsoft.com/office/drawing/2014/main" id="{0CD93DBC-5500-AE07-28E1-75C6DA3D5067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CITRAGROW</a:t>
              </a:r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05A7A9C-44BA-62C0-C23B-21F8DE6A62AF}"/>
                </a:ext>
              </a:extLst>
            </p:cNvPr>
            <p:cNvGrpSpPr/>
            <p:nvPr/>
          </p:nvGrpSpPr>
          <p:grpSpPr>
            <a:xfrm>
              <a:off x="11184544" y="285624"/>
              <a:ext cx="338515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1" name="Google Shape;59;p15">
                <a:extLst>
                  <a:ext uri="{FF2B5EF4-FFF2-40B4-BE49-F238E27FC236}">
                    <a16:creationId xmlns:a16="http://schemas.microsoft.com/office/drawing/2014/main" id="{C5EE74C5-71CE-CCAD-41E8-0D56BDDB7F44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60;p15">
                <a:extLst>
                  <a:ext uri="{FF2B5EF4-FFF2-40B4-BE49-F238E27FC236}">
                    <a16:creationId xmlns:a16="http://schemas.microsoft.com/office/drawing/2014/main" id="{9FAD1A67-8CA4-D3D4-4CCD-000AA3A424FE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ECAE1B-4ACC-A68B-C1F1-82D3E90DA6F3}"/>
              </a:ext>
            </a:extLst>
          </p:cNvPr>
          <p:cNvGrpSpPr/>
          <p:nvPr/>
        </p:nvGrpSpPr>
        <p:grpSpPr>
          <a:xfrm>
            <a:off x="0" y="6356350"/>
            <a:ext cx="12192000" cy="510659"/>
            <a:chOff x="0" y="6347341"/>
            <a:chExt cx="12192000" cy="51065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9EB4F63-184A-A3B8-E6BE-BA9A6EF98BAC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B012795-14DD-E1AE-301B-ECE821933840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6736A566-C7CA-FFAA-527F-38CD98720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841" y="3333495"/>
            <a:ext cx="2739041" cy="22256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DC79734-8F8F-8F7B-62AD-ACB288BFD2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841" y="1115900"/>
            <a:ext cx="2730500" cy="222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460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378CD-CB2A-C3AD-6A20-F62B12238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865" y="814513"/>
            <a:ext cx="10515600" cy="57578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800" b="1">
                <a:latin typeface="Verdana" panose="020B0604030504040204" pitchFamily="34" charset="0"/>
                <a:ea typeface="Verdana" panose="020B0604030504040204" pitchFamily="34" charset="0"/>
              </a:rPr>
              <a:t>Experimental Setup</a:t>
            </a:r>
          </a:p>
          <a:p>
            <a:r>
              <a:rPr lang="en-IN" sz="1900" b="1">
                <a:latin typeface="Verdana" panose="020B0604030504040204" pitchFamily="34" charset="0"/>
                <a:ea typeface="Verdana" panose="020B0604030504040204" pitchFamily="34" charset="0"/>
              </a:rPr>
              <a:t>Control Pot</a:t>
            </a:r>
            <a:br>
              <a:rPr lang="en-IN" sz="190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IN" sz="1900">
                <a:latin typeface="Verdana" panose="020B0604030504040204" pitchFamily="34" charset="0"/>
                <a:ea typeface="Verdana" panose="020B0604030504040204" pitchFamily="34" charset="0"/>
              </a:rPr>
              <a:t>→ Soil + Water + Fenugreek seeds </a:t>
            </a:r>
            <a:r>
              <a:rPr lang="en-IN" sz="1900" i="1">
                <a:latin typeface="Verdana" panose="020B0604030504040204" pitchFamily="34" charset="0"/>
                <a:ea typeface="Verdana" panose="020B0604030504040204" pitchFamily="34" charset="0"/>
              </a:rPr>
              <a:t>(no fertilizer)</a:t>
            </a:r>
            <a:r>
              <a:rPr lang="en-IN" sz="190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r>
              <a:rPr lang="en-IN" sz="1900" b="1">
                <a:latin typeface="Verdana" panose="020B0604030504040204" pitchFamily="34" charset="0"/>
                <a:ea typeface="Verdana" panose="020B0604030504040204" pitchFamily="34" charset="0"/>
              </a:rPr>
              <a:t>Test Pots</a:t>
            </a:r>
            <a:br>
              <a:rPr lang="en-IN" sz="190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IN" sz="1900">
                <a:latin typeface="Verdana" panose="020B0604030504040204" pitchFamily="34" charset="0"/>
                <a:ea typeface="Verdana" panose="020B0604030504040204" pitchFamily="34" charset="0"/>
              </a:rPr>
              <a:t>→ Soil + Fenugreek seeds + </a:t>
            </a:r>
            <a:r>
              <a:rPr lang="en-IN" sz="1900" err="1">
                <a:latin typeface="Verdana" panose="020B0604030504040204" pitchFamily="34" charset="0"/>
                <a:ea typeface="Verdana" panose="020B0604030504040204" pitchFamily="34" charset="0"/>
              </a:rPr>
              <a:t>CitraGrow</a:t>
            </a:r>
            <a:r>
              <a:rPr lang="en-IN" sz="1900">
                <a:latin typeface="Verdana" panose="020B0604030504040204" pitchFamily="34" charset="0"/>
                <a:ea typeface="Verdana" panose="020B0604030504040204" pitchFamily="34" charset="0"/>
              </a:rPr>
              <a:t> bio-enzyme </a:t>
            </a:r>
          </a:p>
          <a:p>
            <a:pPr marL="0" indent="0">
              <a:buNone/>
            </a:pPr>
            <a:endParaRPr lang="en-IN" sz="1900" b="1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IN" sz="1900" b="1">
                <a:latin typeface="Verdana" panose="020B0604030504040204" pitchFamily="34" charset="0"/>
                <a:ea typeface="Verdana" panose="020B0604030504040204" pitchFamily="34" charset="0"/>
              </a:rPr>
              <a:t>Observation Parameters</a:t>
            </a:r>
          </a:p>
          <a:p>
            <a:r>
              <a:rPr lang="en-IN" sz="1900">
                <a:latin typeface="Verdana" panose="020B0604030504040204" pitchFamily="34" charset="0"/>
                <a:ea typeface="Verdana" panose="020B0604030504040204" pitchFamily="34" charset="0"/>
              </a:rPr>
              <a:t>Germination rate </a:t>
            </a:r>
          </a:p>
          <a:p>
            <a:r>
              <a:rPr lang="en-IN" sz="1900">
                <a:latin typeface="Verdana" panose="020B0604030504040204" pitchFamily="34" charset="0"/>
                <a:ea typeface="Verdana" panose="020B0604030504040204" pitchFamily="34" charset="0"/>
              </a:rPr>
              <a:t>Plant height </a:t>
            </a:r>
          </a:p>
          <a:p>
            <a:r>
              <a:rPr lang="en-IN" sz="1900">
                <a:latin typeface="Verdana" panose="020B0604030504040204" pitchFamily="34" charset="0"/>
                <a:ea typeface="Verdana" panose="020B0604030504040204" pitchFamily="34" charset="0"/>
              </a:rPr>
              <a:t>Number of leaves </a:t>
            </a:r>
          </a:p>
          <a:p>
            <a:r>
              <a:rPr lang="en-IN" sz="1900">
                <a:latin typeface="Verdana" panose="020B0604030504040204" pitchFamily="34" charset="0"/>
                <a:ea typeface="Verdana" panose="020B0604030504040204" pitchFamily="34" charset="0"/>
              </a:rPr>
              <a:t>Overall plant health</a:t>
            </a:r>
          </a:p>
          <a:p>
            <a:pPr marL="0" indent="0">
              <a:buNone/>
            </a:pPr>
            <a:endParaRPr lang="en-IN" sz="1900" b="1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IN" sz="1900" b="1">
                <a:latin typeface="Verdana" panose="020B0604030504040204" pitchFamily="34" charset="0"/>
                <a:ea typeface="Verdana" panose="020B0604030504040204" pitchFamily="34" charset="0"/>
              </a:rPr>
              <a:t>Variables</a:t>
            </a:r>
          </a:p>
          <a:p>
            <a:r>
              <a:rPr lang="en-IN" sz="1900" b="1">
                <a:latin typeface="Verdana" panose="020B0604030504040204" pitchFamily="34" charset="0"/>
                <a:ea typeface="Verdana" panose="020B0604030504040204" pitchFamily="34" charset="0"/>
              </a:rPr>
              <a:t>Independent Variable</a:t>
            </a:r>
            <a:br>
              <a:rPr lang="en-IN" sz="190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IN" sz="1900">
                <a:latin typeface="Verdana" panose="020B0604030504040204" pitchFamily="34" charset="0"/>
                <a:ea typeface="Verdana" panose="020B0604030504040204" pitchFamily="34" charset="0"/>
              </a:rPr>
              <a:t>→ Bio-enzyme fertilizer </a:t>
            </a:r>
          </a:p>
          <a:p>
            <a:r>
              <a:rPr lang="en-IN" sz="1900" b="1">
                <a:latin typeface="Verdana" panose="020B0604030504040204" pitchFamily="34" charset="0"/>
                <a:ea typeface="Verdana" panose="020B0604030504040204" pitchFamily="34" charset="0"/>
              </a:rPr>
              <a:t>Dependent Variable</a:t>
            </a:r>
            <a:br>
              <a:rPr lang="en-IN" sz="190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IN" sz="1900">
                <a:latin typeface="Verdana" panose="020B0604030504040204" pitchFamily="34" charset="0"/>
                <a:ea typeface="Verdana" panose="020B0604030504040204" pitchFamily="34" charset="0"/>
              </a:rPr>
              <a:t>→ Growth of Fenugreek plants </a:t>
            </a:r>
          </a:p>
          <a:p>
            <a:r>
              <a:rPr lang="en-IN" sz="1900" b="1">
                <a:latin typeface="Verdana" panose="020B0604030504040204" pitchFamily="34" charset="0"/>
                <a:ea typeface="Verdana" panose="020B0604030504040204" pitchFamily="34" charset="0"/>
              </a:rPr>
              <a:t>Controlled Variables</a:t>
            </a:r>
            <a:br>
              <a:rPr lang="en-IN" sz="190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IN" sz="1900">
                <a:latin typeface="Verdana" panose="020B0604030504040204" pitchFamily="34" charset="0"/>
                <a:ea typeface="Verdana" panose="020B0604030504040204" pitchFamily="34" charset="0"/>
              </a:rPr>
              <a:t>→ Soil type, water quantity, sunlight exposure, seed type.</a:t>
            </a:r>
          </a:p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20330-FD24-B524-E6D7-763480D4A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FF8D-38DE-44ED-8E8F-F4480F209472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E517F-23A0-18B5-8A8F-3308B84E6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the Presenter &amp; Department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EE63E-C86C-C0B6-8936-9366C263B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13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DB642CA-9C36-39FE-D54E-4DC9E59F09FA}"/>
              </a:ext>
            </a:extLst>
          </p:cNvPr>
          <p:cNvGrpSpPr/>
          <p:nvPr/>
        </p:nvGrpSpPr>
        <p:grpSpPr>
          <a:xfrm>
            <a:off x="450775" y="170727"/>
            <a:ext cx="11072284" cy="441809"/>
            <a:chOff x="450775" y="170727"/>
            <a:chExt cx="11072284" cy="44180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B31D8B7-BC2F-31CF-CD1B-83B9B3D993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9" name="Footer Placeholder 9">
              <a:extLst>
                <a:ext uri="{FF2B5EF4-FFF2-40B4-BE49-F238E27FC236}">
                  <a16:creationId xmlns:a16="http://schemas.microsoft.com/office/drawing/2014/main" id="{27D8FC89-187A-9DF3-089A-2C562A2BD6DC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CITRAGROW</a:t>
              </a:r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8EE3363-E8C9-53BA-B2D7-F84AA3B86F82}"/>
                </a:ext>
              </a:extLst>
            </p:cNvPr>
            <p:cNvGrpSpPr/>
            <p:nvPr/>
          </p:nvGrpSpPr>
          <p:grpSpPr>
            <a:xfrm>
              <a:off x="11184544" y="285624"/>
              <a:ext cx="338515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1" name="Google Shape;59;p15">
                <a:extLst>
                  <a:ext uri="{FF2B5EF4-FFF2-40B4-BE49-F238E27FC236}">
                    <a16:creationId xmlns:a16="http://schemas.microsoft.com/office/drawing/2014/main" id="{2BDEA7AC-8263-4909-AFC4-4E194D7D153B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60;p15">
                <a:extLst>
                  <a:ext uri="{FF2B5EF4-FFF2-40B4-BE49-F238E27FC236}">
                    <a16:creationId xmlns:a16="http://schemas.microsoft.com/office/drawing/2014/main" id="{A220F855-6804-9AA4-3520-B2A3385C2EB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E43F22F-7028-E822-2210-C9307AC08B8C}"/>
              </a:ext>
            </a:extLst>
          </p:cNvPr>
          <p:cNvGrpSpPr/>
          <p:nvPr/>
        </p:nvGrpSpPr>
        <p:grpSpPr>
          <a:xfrm>
            <a:off x="0" y="6356350"/>
            <a:ext cx="12192000" cy="510659"/>
            <a:chOff x="0" y="6347341"/>
            <a:chExt cx="12192000" cy="51065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C78BA80-958A-95DC-B8D5-8F4314743421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A376A25-78B1-44B7-AB68-A45C7D7A6ECD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2" name="Picture 1" descr="A couple of bottles with brown liquid&#10;&#10;AI-generated content may be incorrect.">
            <a:extLst>
              <a:ext uri="{FF2B5EF4-FFF2-40B4-BE49-F238E27FC236}">
                <a16:creationId xmlns:a16="http://schemas.microsoft.com/office/drawing/2014/main" id="{054679AA-92CF-C840-9B39-2B3891FFB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7641" y="751702"/>
            <a:ext cx="3217317" cy="535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98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1E72A-CEF1-45C1-CEF6-B8E1EF19B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93" y="220143"/>
            <a:ext cx="10285563" cy="1095526"/>
          </a:xfrm>
        </p:spPr>
        <p:txBody>
          <a:bodyPr>
            <a:normAutofit/>
          </a:bodyPr>
          <a:lstStyle/>
          <a:p>
            <a:r>
              <a:rPr lang="en-IN" sz="3600" b="1">
                <a:latin typeface="Verdana"/>
                <a:ea typeface="Verdana"/>
              </a:rPr>
              <a:t>Result: Experiment-1</a:t>
            </a:r>
            <a:endParaRPr lang="en-IN" sz="36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0BB53-CC09-30F9-80C6-66486D4A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FF8D-38DE-44ED-8E8F-F4480F209472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9B239-0241-BA90-E15D-900D19C47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the Presenter &amp; Department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A302F-9BAF-4830-57B3-975C756E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14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679495E-1EBC-6E0F-5EF3-E200323B5543}"/>
              </a:ext>
            </a:extLst>
          </p:cNvPr>
          <p:cNvGrpSpPr/>
          <p:nvPr/>
        </p:nvGrpSpPr>
        <p:grpSpPr>
          <a:xfrm>
            <a:off x="557931" y="4040"/>
            <a:ext cx="11072284" cy="441809"/>
            <a:chOff x="450775" y="170727"/>
            <a:chExt cx="11072284" cy="44180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0AB32E7-6497-3D73-79F0-85BEBC9706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9" name="Footer Placeholder 9">
              <a:extLst>
                <a:ext uri="{FF2B5EF4-FFF2-40B4-BE49-F238E27FC236}">
                  <a16:creationId xmlns:a16="http://schemas.microsoft.com/office/drawing/2014/main" id="{68D68C2E-E43B-ACF0-7055-1547DAB32F0E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CITRAGROW</a:t>
              </a:r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27769DC-D7E2-2046-E665-046E57361DD7}"/>
                </a:ext>
              </a:extLst>
            </p:cNvPr>
            <p:cNvGrpSpPr/>
            <p:nvPr/>
          </p:nvGrpSpPr>
          <p:grpSpPr>
            <a:xfrm>
              <a:off x="11184544" y="285624"/>
              <a:ext cx="338515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1" name="Google Shape;59;p15">
                <a:extLst>
                  <a:ext uri="{FF2B5EF4-FFF2-40B4-BE49-F238E27FC236}">
                    <a16:creationId xmlns:a16="http://schemas.microsoft.com/office/drawing/2014/main" id="{50F029E0-B863-4338-92C0-3676802FE668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60;p15">
                <a:extLst>
                  <a:ext uri="{FF2B5EF4-FFF2-40B4-BE49-F238E27FC236}">
                    <a16:creationId xmlns:a16="http://schemas.microsoft.com/office/drawing/2014/main" id="{69FD05F4-48E3-FEAA-8EE7-2D4DEF1A4CB2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5C1CA67-C297-A81D-6397-E2EE6CCC02DF}"/>
              </a:ext>
            </a:extLst>
          </p:cNvPr>
          <p:cNvGrpSpPr/>
          <p:nvPr/>
        </p:nvGrpSpPr>
        <p:grpSpPr>
          <a:xfrm>
            <a:off x="0" y="6356350"/>
            <a:ext cx="12192000" cy="510659"/>
            <a:chOff x="0" y="6347341"/>
            <a:chExt cx="12192000" cy="51065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2805A18-8D2B-D326-40B4-B87CDF8A8A42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AF240B4-F90A-952B-D5D6-6C88BBEF81F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DFBF8F1-81C3-73AA-A1CF-8DDED44E9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578284"/>
              </p:ext>
            </p:extLst>
          </p:nvPr>
        </p:nvGraphicFramePr>
        <p:xfrm>
          <a:off x="0" y="1163827"/>
          <a:ext cx="12191998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117283775"/>
                    </a:ext>
                  </a:extLst>
                </a:gridCol>
                <a:gridCol w="2115403">
                  <a:extLst>
                    <a:ext uri="{9D8B030D-6E8A-4147-A177-3AD203B41FA5}">
                      <a16:colId xmlns:a16="http://schemas.microsoft.com/office/drawing/2014/main" val="558028855"/>
                    </a:ext>
                  </a:extLst>
                </a:gridCol>
                <a:gridCol w="2761395">
                  <a:extLst>
                    <a:ext uri="{9D8B030D-6E8A-4147-A177-3AD203B41FA5}">
                      <a16:colId xmlns:a16="http://schemas.microsoft.com/office/drawing/2014/main" val="321507421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84313536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869013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Parameter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Control (Water Only)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Treatment 1 (2g Mol + 1</a:t>
                      </a:r>
                      <a:r>
                        <a:rPr lang="en-US" b="1" dirty="0"/>
                        <a:t>g Orange)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Treatment 2 (1g Mol + 2g Orange)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554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Sowing Day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 April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Seeds sown, no germination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Seeds sown, no germination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Seeds sown, no germination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04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Germination Status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17 April (Day 5)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 sprouting, curved shoots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Almost no germination, bare soil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Very early, tiny radicles emerging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433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Germination Status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21 April (Day 9)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Dense, full germination across pot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Sparse sprouting, scattered seedlings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Very sparse, few seedlings visible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373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Germination Status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22 April (Day 10)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Dense, healthy full coverage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~10–12 scattered seedlings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~6–8 scattered seedlings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969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Seedling Color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22 April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 green, healthy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Light green, slightly yellowish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Light green, pale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887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Germination Status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27 April (Day 15 Final)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Very dense, tall, full coverage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~8–10 seedlings, moderate growth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~6–8 seedlings, sparse growth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356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Seedling Color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27 April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Dark green, very healthy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Light-medium green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Light green, pale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2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Stem Strength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27 April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Strong, upright stems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Weak, thin stems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939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5953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B96FF-4BA8-C98F-BC82-87DF9D86F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0048"/>
            <a:ext cx="10515600" cy="55369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/>
              <a:t> 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541B6-DFE2-42B2-C1CF-599DE8D1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FF8D-38DE-44ED-8E8F-F4480F209472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8D580-C5DD-952F-DE11-402B078AD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the Presenter &amp; Department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DA389-6EDB-CC2F-C882-523FDB9FB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15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74D8DF-C5E3-74ED-5DCE-C4630316C3AD}"/>
              </a:ext>
            </a:extLst>
          </p:cNvPr>
          <p:cNvGrpSpPr/>
          <p:nvPr/>
        </p:nvGrpSpPr>
        <p:grpSpPr>
          <a:xfrm>
            <a:off x="450775" y="170727"/>
            <a:ext cx="11072284" cy="441809"/>
            <a:chOff x="450775" y="170727"/>
            <a:chExt cx="11072284" cy="44180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8187447-626D-410D-E33C-2DCFAE47F9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9" name="Footer Placeholder 9">
              <a:extLst>
                <a:ext uri="{FF2B5EF4-FFF2-40B4-BE49-F238E27FC236}">
                  <a16:creationId xmlns:a16="http://schemas.microsoft.com/office/drawing/2014/main" id="{791D216C-8643-8032-2CBB-4705BA4F30A3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CITRAGROW</a:t>
              </a:r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F969DB3-C235-D3CA-0E0E-2B156FC81CB6}"/>
                </a:ext>
              </a:extLst>
            </p:cNvPr>
            <p:cNvGrpSpPr/>
            <p:nvPr/>
          </p:nvGrpSpPr>
          <p:grpSpPr>
            <a:xfrm>
              <a:off x="11184544" y="285624"/>
              <a:ext cx="338515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1" name="Google Shape;59;p15">
                <a:extLst>
                  <a:ext uri="{FF2B5EF4-FFF2-40B4-BE49-F238E27FC236}">
                    <a16:creationId xmlns:a16="http://schemas.microsoft.com/office/drawing/2014/main" id="{9D72FDB6-C3C1-A193-011F-4E27A891593C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60;p15">
                <a:extLst>
                  <a:ext uri="{FF2B5EF4-FFF2-40B4-BE49-F238E27FC236}">
                    <a16:creationId xmlns:a16="http://schemas.microsoft.com/office/drawing/2014/main" id="{7C8BB326-5721-010B-F39B-97894D175569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750FC7A-A68A-763D-7D19-18FFC162CE45}"/>
              </a:ext>
            </a:extLst>
          </p:cNvPr>
          <p:cNvGrpSpPr/>
          <p:nvPr/>
        </p:nvGrpSpPr>
        <p:grpSpPr>
          <a:xfrm>
            <a:off x="0" y="6356350"/>
            <a:ext cx="12192000" cy="510659"/>
            <a:chOff x="0" y="6347341"/>
            <a:chExt cx="12192000" cy="51065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3745575-2937-A97A-C9CB-DB67B9817C2E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87AF7D8-936E-3D0A-6635-03D8D8A405A3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screenshot of a cell phone screen&#10;&#10;AI-generated content may be incorrect.">
            <a:extLst>
              <a:ext uri="{FF2B5EF4-FFF2-40B4-BE49-F238E27FC236}">
                <a16:creationId xmlns:a16="http://schemas.microsoft.com/office/drawing/2014/main" id="{1CE7B529-F9D9-392F-150A-284CB47ACB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79" r="-2006" b="221"/>
          <a:stretch>
            <a:fillRect/>
          </a:stretch>
        </p:blipFill>
        <p:spPr>
          <a:xfrm>
            <a:off x="4004509" y="872562"/>
            <a:ext cx="3947553" cy="5137941"/>
          </a:xfrm>
          <a:prstGeom prst="rect">
            <a:avLst/>
          </a:prstGeom>
        </p:spPr>
      </p:pic>
      <p:pic>
        <p:nvPicPr>
          <p:cNvPr id="19" name="Picture 18" descr="A screenshot of a cell phone screen&#10;&#10;AI-generated content may be incorrect.">
            <a:extLst>
              <a:ext uri="{FF2B5EF4-FFF2-40B4-BE49-F238E27FC236}">
                <a16:creationId xmlns:a16="http://schemas.microsoft.com/office/drawing/2014/main" id="{7A2A75AA-052E-6184-0323-DAB576684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086" y="852985"/>
            <a:ext cx="3744037" cy="5152030"/>
          </a:xfrm>
          <a:prstGeom prst="rect">
            <a:avLst/>
          </a:prstGeom>
        </p:spPr>
      </p:pic>
      <p:pic>
        <p:nvPicPr>
          <p:cNvPr id="20" name="Picture 19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1DB0B56D-A2C3-8566-DA3E-9F7C139400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2" y="839492"/>
            <a:ext cx="4001788" cy="514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397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391C7BA9-D029-B35E-9BAD-6AADEC0DD0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5491545"/>
              </p:ext>
            </p:extLst>
          </p:nvPr>
        </p:nvGraphicFramePr>
        <p:xfrm>
          <a:off x="71886" y="1293961"/>
          <a:ext cx="12055240" cy="518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1048">
                  <a:extLst>
                    <a:ext uri="{9D8B030D-6E8A-4147-A177-3AD203B41FA5}">
                      <a16:colId xmlns:a16="http://schemas.microsoft.com/office/drawing/2014/main" val="3247908409"/>
                    </a:ext>
                  </a:extLst>
                </a:gridCol>
                <a:gridCol w="2411048">
                  <a:extLst>
                    <a:ext uri="{9D8B030D-6E8A-4147-A177-3AD203B41FA5}">
                      <a16:colId xmlns:a16="http://schemas.microsoft.com/office/drawing/2014/main" val="1983528976"/>
                    </a:ext>
                  </a:extLst>
                </a:gridCol>
                <a:gridCol w="2363755">
                  <a:extLst>
                    <a:ext uri="{9D8B030D-6E8A-4147-A177-3AD203B41FA5}">
                      <a16:colId xmlns:a16="http://schemas.microsoft.com/office/drawing/2014/main" val="149977674"/>
                    </a:ext>
                  </a:extLst>
                </a:gridCol>
                <a:gridCol w="2458341">
                  <a:extLst>
                    <a:ext uri="{9D8B030D-6E8A-4147-A177-3AD203B41FA5}">
                      <a16:colId xmlns:a16="http://schemas.microsoft.com/office/drawing/2014/main" val="586855388"/>
                    </a:ext>
                  </a:extLst>
                </a:gridCol>
                <a:gridCol w="2411048">
                  <a:extLst>
                    <a:ext uri="{9D8B030D-6E8A-4147-A177-3AD203B41FA5}">
                      <a16:colId xmlns:a16="http://schemas.microsoft.com/office/drawing/2014/main" val="1500533129"/>
                    </a:ext>
                  </a:extLst>
                </a:gridCol>
              </a:tblGrid>
              <a:tr h="743921">
                <a:tc>
                  <a:txBody>
                    <a:bodyPr/>
                    <a:lstStyle/>
                    <a:p>
                      <a:r>
                        <a:rPr lang="en-US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Control (water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Treatment 1 (10ml sol + 10ml water)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Treatment 2 (5ml sol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+15ml water)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6832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r>
                        <a:rPr lang="en-US" b="1"/>
                        <a:t>Sowing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 April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Seeds sown, no germination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Seeds sown, no germination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Seeds sown, no germination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212264"/>
                  </a:ext>
                </a:extLst>
              </a:tr>
              <a:tr h="743921">
                <a:tc>
                  <a:txBody>
                    <a:bodyPr/>
                    <a:lstStyle/>
                    <a:p>
                      <a:r>
                        <a:rPr lang="en-US" b="1"/>
                        <a:t>Germination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 April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Pale green </a:t>
                      </a:r>
                      <a:r>
                        <a:rPr lang="en-US"/>
                        <a:t>germination.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Delayed germination, very little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Delayed germination, almost no sprouts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837715"/>
                  </a:ext>
                </a:extLst>
              </a:tr>
              <a:tr h="746448">
                <a:tc>
                  <a:txBody>
                    <a:bodyPr/>
                    <a:lstStyle/>
                    <a:p>
                      <a:r>
                        <a:rPr lang="en-US" b="1"/>
                        <a:t>Germination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 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Healthy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Germination begins, </a:t>
                      </a:r>
                      <a:r>
                        <a:rPr lang="en-US"/>
                        <a:t>few sprouts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Germination begins, </a:t>
                      </a:r>
                      <a:r>
                        <a:rPr lang="en-US"/>
                        <a:t> very few sprouts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787305"/>
                  </a:ext>
                </a:extLst>
              </a:tr>
              <a:tr h="708496">
                <a:tc>
                  <a:txBody>
                    <a:bodyPr/>
                    <a:lstStyle/>
                    <a:p>
                      <a:r>
                        <a:rPr lang="en-US" b="1"/>
                        <a:t>Germination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 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Moderate coverage, steady </a:t>
                      </a:r>
                      <a:r>
                        <a:rPr lang="en-US"/>
                        <a:t>growth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Dense germination, </a:t>
                      </a:r>
                      <a:r>
                        <a:rPr lang="en-US"/>
                        <a:t>healthy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Few sprouts but fast </a:t>
                      </a:r>
                      <a:r>
                        <a:rPr lang="en-US"/>
                        <a:t>germination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17617"/>
                  </a:ext>
                </a:extLst>
              </a:tr>
              <a:tr h="708496">
                <a:tc>
                  <a:txBody>
                    <a:bodyPr/>
                    <a:lstStyle/>
                    <a:p>
                      <a:r>
                        <a:rPr lang="en-US" b="1"/>
                        <a:t>Seedling 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Overall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Green and healthy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Dark green and very healthy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 green and healthy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55904"/>
                  </a:ext>
                </a:extLst>
              </a:tr>
              <a:tr h="708496">
                <a:tc>
                  <a:txBody>
                    <a:bodyPr/>
                    <a:lstStyle/>
                    <a:p>
                      <a:r>
                        <a:rPr lang="en-US" b="1"/>
                        <a:t>Stem 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overall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Weak, thin 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Strong thick 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Moderately strong 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797474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A861D-F35D-AF6F-9C7F-96E53F61D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16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F3AD093-3A46-11EC-6FDF-665BE6EF5308}"/>
              </a:ext>
            </a:extLst>
          </p:cNvPr>
          <p:cNvGrpSpPr/>
          <p:nvPr/>
        </p:nvGrpSpPr>
        <p:grpSpPr>
          <a:xfrm>
            <a:off x="450775" y="170727"/>
            <a:ext cx="11072284" cy="484941"/>
            <a:chOff x="450775" y="170727"/>
            <a:chExt cx="11072284" cy="44180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F0C0B6F-3E4B-3155-DB14-8E68615D70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9" name="Footer Placeholder 9">
              <a:extLst>
                <a:ext uri="{FF2B5EF4-FFF2-40B4-BE49-F238E27FC236}">
                  <a16:creationId xmlns:a16="http://schemas.microsoft.com/office/drawing/2014/main" id="{AD28A41D-E3B9-C7A7-7B71-5B95D97A406A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CITRAGROW</a:t>
              </a:r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DA0E19A-9254-1F4A-7DF9-21B63982D3D4}"/>
                </a:ext>
              </a:extLst>
            </p:cNvPr>
            <p:cNvGrpSpPr/>
            <p:nvPr/>
          </p:nvGrpSpPr>
          <p:grpSpPr>
            <a:xfrm>
              <a:off x="11184544" y="285624"/>
              <a:ext cx="338515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1" name="Google Shape;59;p15">
                <a:extLst>
                  <a:ext uri="{FF2B5EF4-FFF2-40B4-BE49-F238E27FC236}">
                    <a16:creationId xmlns:a16="http://schemas.microsoft.com/office/drawing/2014/main" id="{FCB0AAF6-D416-D83B-51FA-6991179BC583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60;p15">
                <a:extLst>
                  <a:ext uri="{FF2B5EF4-FFF2-40B4-BE49-F238E27FC236}">
                    <a16:creationId xmlns:a16="http://schemas.microsoft.com/office/drawing/2014/main" id="{02728C5D-8828-BC8E-BDA9-535F8E4AF573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4AF207C-7AA5-83FF-98CD-EFBD80D654BD}"/>
              </a:ext>
            </a:extLst>
          </p:cNvPr>
          <p:cNvGrpSpPr/>
          <p:nvPr/>
        </p:nvGrpSpPr>
        <p:grpSpPr>
          <a:xfrm>
            <a:off x="71886" y="6351126"/>
            <a:ext cx="12192000" cy="381263"/>
            <a:chOff x="0" y="6347341"/>
            <a:chExt cx="12192000" cy="51065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F7F535E-B5D3-BEBD-6C62-D00A26137FD5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723EA82-2A80-0D7B-49D8-D9894DF9497E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AE0707DF-FFF0-F6BF-9291-DF86AA4F3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93" y="665841"/>
            <a:ext cx="10817525" cy="621073"/>
          </a:xfrm>
        </p:spPr>
        <p:txBody>
          <a:bodyPr>
            <a:normAutofit/>
          </a:bodyPr>
          <a:lstStyle/>
          <a:p>
            <a:r>
              <a:rPr lang="en-IN" sz="3600" b="1">
                <a:latin typeface="Verdana"/>
                <a:ea typeface="Verdana"/>
              </a:rPr>
              <a:t>Result: Experiment-2</a:t>
            </a:r>
            <a:endParaRPr lang="en-IN" sz="36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78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F8E4C-1B81-FDFC-F8A9-659842B13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3CE3A-2404-7534-9D77-E55658C80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229" y="1815705"/>
            <a:ext cx="10515600" cy="41435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/>
              <a:t> 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6C53A-9278-F3C9-35C4-E2B4C691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FF8D-38DE-44ED-8E8F-F4480F209472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E0B77-C106-DA7A-E00F-683078E76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the Presenter &amp; Department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7E999-1236-9991-1E53-F02DA0D08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17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530F10E-27AB-B8F9-BC68-3CFD1932A6E1}"/>
              </a:ext>
            </a:extLst>
          </p:cNvPr>
          <p:cNvGrpSpPr/>
          <p:nvPr/>
        </p:nvGrpSpPr>
        <p:grpSpPr>
          <a:xfrm>
            <a:off x="450775" y="170727"/>
            <a:ext cx="11072284" cy="441809"/>
            <a:chOff x="450775" y="170727"/>
            <a:chExt cx="11072284" cy="44180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868DE87-D9C9-A210-5933-D069561C46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9" name="Footer Placeholder 9">
              <a:extLst>
                <a:ext uri="{FF2B5EF4-FFF2-40B4-BE49-F238E27FC236}">
                  <a16:creationId xmlns:a16="http://schemas.microsoft.com/office/drawing/2014/main" id="{C1A76AE1-AD47-ADF1-EE91-C9F182DFC07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CITRAGROW</a:t>
              </a:r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225CE8F-3224-EC6E-586F-BAFDB48DA2BE}"/>
                </a:ext>
              </a:extLst>
            </p:cNvPr>
            <p:cNvGrpSpPr/>
            <p:nvPr/>
          </p:nvGrpSpPr>
          <p:grpSpPr>
            <a:xfrm>
              <a:off x="11184544" y="285624"/>
              <a:ext cx="338515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1" name="Google Shape;59;p15">
                <a:extLst>
                  <a:ext uri="{FF2B5EF4-FFF2-40B4-BE49-F238E27FC236}">
                    <a16:creationId xmlns:a16="http://schemas.microsoft.com/office/drawing/2014/main" id="{E2AADFF3-E057-6BDB-5B5F-4FA6697CF913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60;p15">
                <a:extLst>
                  <a:ext uri="{FF2B5EF4-FFF2-40B4-BE49-F238E27FC236}">
                    <a16:creationId xmlns:a16="http://schemas.microsoft.com/office/drawing/2014/main" id="{B4F2AA17-248F-3CBE-4A01-4E8ADBC525EB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392D83-3FE0-DF82-742A-3D700DF4E8E4}"/>
              </a:ext>
            </a:extLst>
          </p:cNvPr>
          <p:cNvGrpSpPr/>
          <p:nvPr/>
        </p:nvGrpSpPr>
        <p:grpSpPr>
          <a:xfrm>
            <a:off x="0" y="6345618"/>
            <a:ext cx="12192000" cy="510659"/>
            <a:chOff x="0" y="6347341"/>
            <a:chExt cx="12192000" cy="51065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41E8FEA-2D28-CF42-1439-0DB2195D6AB4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840B520-883F-717B-AC50-BE943C561699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2" name="Picture 1" descr="A collage of photos of plants in containers&#10;&#10;AI-generated content may be incorrect.">
            <a:extLst>
              <a:ext uri="{FF2B5EF4-FFF2-40B4-BE49-F238E27FC236}">
                <a16:creationId xmlns:a16="http://schemas.microsoft.com/office/drawing/2014/main" id="{3C5BD797-A102-3770-C837-AF6409BE4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424"/>
            <a:ext cx="12192000" cy="563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645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68E9A-7BDC-F386-62CA-CED0A60BF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438B3-5F09-38F4-786F-236EE127F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842" y="1685606"/>
            <a:ext cx="6667500" cy="4351338"/>
          </a:xfrm>
        </p:spPr>
        <p:txBody>
          <a:bodyPr>
            <a:normAutofit fontScale="92500"/>
          </a:bodyPr>
          <a:lstStyle/>
          <a:p>
            <a:r>
              <a:rPr lang="en-IN" sz="1800">
                <a:latin typeface="Verdana" panose="020B0604030504040204" pitchFamily="34" charset="0"/>
                <a:ea typeface="Verdana" panose="020B0604030504040204" pitchFamily="34" charset="0"/>
              </a:rPr>
              <a:t>🧪 </a:t>
            </a:r>
            <a:r>
              <a:rPr lang="en-IN" sz="1800" err="1">
                <a:latin typeface="Verdana" panose="020B0604030504040204" pitchFamily="34" charset="0"/>
                <a:ea typeface="Verdana" panose="020B0604030504040204" pitchFamily="34" charset="0"/>
              </a:rPr>
              <a:t>CitraGrow</a:t>
            </a:r>
            <a:r>
              <a:rPr lang="en-IN" sz="1800">
                <a:latin typeface="Verdana" panose="020B0604030504040204" pitchFamily="34" charset="0"/>
                <a:ea typeface="Verdana" panose="020B0604030504040204" pitchFamily="34" charset="0"/>
              </a:rPr>
              <a:t> in Progress: Bio-enzyme under preparation using orange peels, molasses, and water.</a:t>
            </a:r>
          </a:p>
          <a:p>
            <a:r>
              <a:rPr lang="en-IN" sz="1800">
                <a:latin typeface="Verdana" panose="020B0604030504040204" pitchFamily="34" charset="0"/>
                <a:ea typeface="Verdana" panose="020B0604030504040204" pitchFamily="34" charset="0"/>
              </a:rPr>
              <a:t>🌱 Ongoing Testing: Currently evaluating its effect on fenugreek seed germination and plant growth.</a:t>
            </a:r>
          </a:p>
          <a:p>
            <a:r>
              <a:rPr lang="en-IN" sz="1800">
                <a:latin typeface="Verdana" panose="020B0604030504040204" pitchFamily="34" charset="0"/>
                <a:ea typeface="Verdana" panose="020B0604030504040204" pitchFamily="34" charset="0"/>
              </a:rPr>
              <a:t>♻️ Sustainable Approach: Converting kitchen waste into a potential eco-friendly liquid fertilizer.</a:t>
            </a:r>
          </a:p>
          <a:p>
            <a:r>
              <a:rPr lang="en-IN" sz="1800">
                <a:latin typeface="Verdana" panose="020B0604030504040204" pitchFamily="34" charset="0"/>
                <a:ea typeface="Verdana" panose="020B0604030504040204" pitchFamily="34" charset="0"/>
              </a:rPr>
              <a:t>🌍 Environmentally Friendly: Promotes circular economy by reusing citrus waste and reducing chemical usage.</a:t>
            </a:r>
          </a:p>
          <a:p>
            <a:r>
              <a:rPr lang="en-IN" sz="1800">
                <a:latin typeface="Verdana" panose="020B0604030504040204" pitchFamily="34" charset="0"/>
                <a:ea typeface="Verdana" panose="020B0604030504040204" pitchFamily="34" charset="0"/>
              </a:rPr>
              <a:t>🏡 Simple &amp; Accessible: Easy homemade method suitable for households and small farmers.</a:t>
            </a:r>
          </a:p>
          <a:p>
            <a:r>
              <a:rPr lang="en-IN" sz="1800">
                <a:latin typeface="Verdana" panose="020B0604030504040204" pitchFamily="34" charset="0"/>
                <a:ea typeface="Verdana" panose="020B0604030504040204" pitchFamily="34" charset="0"/>
              </a:rPr>
              <a:t>📊 Promising Initiative: Working towards a greener alternative to synthetic fertilizers.</a:t>
            </a:r>
          </a:p>
          <a:p>
            <a:r>
              <a:rPr lang="en-IN" sz="1800">
                <a:latin typeface="Verdana" panose="020B0604030504040204" pitchFamily="34" charset="0"/>
                <a:ea typeface="Verdana" panose="020B0604030504040204" pitchFamily="34" charset="0"/>
              </a:rPr>
              <a:t>✨ Overall: </a:t>
            </a:r>
            <a:r>
              <a:rPr lang="en-IN" sz="1800" err="1">
                <a:latin typeface="Verdana" panose="020B0604030504040204" pitchFamily="34" charset="0"/>
                <a:ea typeface="Verdana" panose="020B0604030504040204" pitchFamily="34" charset="0"/>
              </a:rPr>
              <a:t>CitraGrow</a:t>
            </a:r>
            <a:r>
              <a:rPr lang="en-IN" sz="1800">
                <a:latin typeface="Verdana" panose="020B0604030504040204" pitchFamily="34" charset="0"/>
                <a:ea typeface="Verdana" panose="020B0604030504040204" pitchFamily="34" charset="0"/>
              </a:rPr>
              <a:t> aims to transform kitchen waste into a natural plant growth promoter through sustainable innovation.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CFBE2-F895-409D-EA72-37BC86EB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FF8D-38DE-44ED-8E8F-F4480F209472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BDBE9-ADAE-2092-52F0-B0F7464EB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the Presenter &amp; Department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686B4-54AF-72A9-47BA-EAA1D7704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18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D4774DE-556B-E95B-7E4E-47E3195966B4}"/>
              </a:ext>
            </a:extLst>
          </p:cNvPr>
          <p:cNvGrpSpPr/>
          <p:nvPr/>
        </p:nvGrpSpPr>
        <p:grpSpPr>
          <a:xfrm>
            <a:off x="450775" y="170727"/>
            <a:ext cx="11072284" cy="441809"/>
            <a:chOff x="450775" y="170727"/>
            <a:chExt cx="11072284" cy="44180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E482AF5-0520-14B2-134F-5B94B02216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9" name="Footer Placeholder 9">
              <a:extLst>
                <a:ext uri="{FF2B5EF4-FFF2-40B4-BE49-F238E27FC236}">
                  <a16:creationId xmlns:a16="http://schemas.microsoft.com/office/drawing/2014/main" id="{5CDC8E82-6529-B417-2BFB-F24357B4272E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CITRAGROW</a:t>
              </a:r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5FD037A-C001-A651-8AB3-ABE4AAD90385}"/>
                </a:ext>
              </a:extLst>
            </p:cNvPr>
            <p:cNvGrpSpPr/>
            <p:nvPr/>
          </p:nvGrpSpPr>
          <p:grpSpPr>
            <a:xfrm>
              <a:off x="11184544" y="285624"/>
              <a:ext cx="338515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1" name="Google Shape;59;p15">
                <a:extLst>
                  <a:ext uri="{FF2B5EF4-FFF2-40B4-BE49-F238E27FC236}">
                    <a16:creationId xmlns:a16="http://schemas.microsoft.com/office/drawing/2014/main" id="{4C5112F2-D89C-C9FA-9380-9C80EA9E04FC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60;p15">
                <a:extLst>
                  <a:ext uri="{FF2B5EF4-FFF2-40B4-BE49-F238E27FC236}">
                    <a16:creationId xmlns:a16="http://schemas.microsoft.com/office/drawing/2014/main" id="{DD102DF3-C9FF-9203-81E6-0E196E612E0F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2F1742-F5F8-AA2A-9967-CEE9748CDBDA}"/>
              </a:ext>
            </a:extLst>
          </p:cNvPr>
          <p:cNvGrpSpPr/>
          <p:nvPr/>
        </p:nvGrpSpPr>
        <p:grpSpPr>
          <a:xfrm>
            <a:off x="0" y="6356350"/>
            <a:ext cx="12192000" cy="510659"/>
            <a:chOff x="0" y="6347341"/>
            <a:chExt cx="12192000" cy="51065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B16D9BC-5E69-8B9B-F6A7-7AF9B3570264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1F265C9-49BD-AC48-7E1B-AB9E9070A902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9D48E3FF-4722-510D-1783-2CD080BB8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054" y="1631508"/>
            <a:ext cx="4397143" cy="440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419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BEAD5-EB17-FE0D-3803-873149F89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096082"/>
            <a:ext cx="7493000" cy="5221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latin typeface="Verdana" panose="020B0604030504040204" pitchFamily="34" charset="0"/>
                <a:ea typeface="Verdana" panose="020B0604030504040204" pitchFamily="34" charset="0"/>
              </a:rPr>
              <a:t>Future Scope &amp; Recommendations</a:t>
            </a:r>
          </a:p>
          <a:p>
            <a:pPr marL="0" indent="0">
              <a:buNone/>
            </a:pPr>
            <a:endParaRPr lang="en-US" b="1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800">
                <a:latin typeface="Verdana" panose="020B0604030504040204" pitchFamily="34" charset="0"/>
                <a:ea typeface="Verdana" panose="020B0604030504040204" pitchFamily="34" charset="0"/>
              </a:rPr>
              <a:t>Testing Citra Grow bio-enzyme on different plant varieties and crops for wider applicability.</a:t>
            </a:r>
          </a:p>
          <a:p>
            <a:r>
              <a:rPr lang="en-US" sz="1800">
                <a:latin typeface="Verdana" panose="020B0604030504040204" pitchFamily="34" charset="0"/>
                <a:ea typeface="Verdana" panose="020B0604030504040204" pitchFamily="34" charset="0"/>
              </a:rPr>
              <a:t>Scaling up production at community and household levels to reduce dependence on chemical fertilizers.</a:t>
            </a:r>
          </a:p>
          <a:p>
            <a:r>
              <a:rPr lang="en-US" sz="1800">
                <a:latin typeface="Verdana" panose="020B0604030504040204" pitchFamily="34" charset="0"/>
                <a:ea typeface="Verdana" panose="020B0604030504040204" pitchFamily="34" charset="0"/>
              </a:rPr>
              <a:t>Exploring the use of other citrus peels like lemon and lime for enhanced bio-enzyme production.</a:t>
            </a:r>
          </a:p>
          <a:p>
            <a:r>
              <a:rPr lang="en-US" sz="1800">
                <a:latin typeface="Verdana" panose="020B0604030504040204" pitchFamily="34" charset="0"/>
                <a:ea typeface="Verdana" panose="020B0604030504040204" pitchFamily="34" charset="0"/>
              </a:rPr>
              <a:t>Testing Citra Grow as a household cleaner and deodorizer to explore its multipurpose applications.</a:t>
            </a:r>
          </a:p>
          <a:p>
            <a:r>
              <a:rPr lang="en-US" sz="1800">
                <a:latin typeface="Verdana" panose="020B0604030504040204" pitchFamily="34" charset="0"/>
                <a:ea typeface="Verdana" panose="020B0604030504040204" pitchFamily="34" charset="0"/>
              </a:rPr>
              <a:t>Conducting soil health analysis before and after bio-enzyme application to measure improvement in soil quality</a:t>
            </a:r>
            <a:r>
              <a:rPr lang="en-US"/>
              <a:t>.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DE53F-053F-425D-BC2A-9380D84B5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FF8D-38DE-44ED-8E8F-F4480F209472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FFE79-A336-E4EE-7323-3A8B01838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the Presenter &amp; Department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12EBD-772D-8230-DE0B-EDCD3ED7A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19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19586D-FF37-B14A-15E2-C62C15C18045}"/>
              </a:ext>
            </a:extLst>
          </p:cNvPr>
          <p:cNvGrpSpPr/>
          <p:nvPr/>
        </p:nvGrpSpPr>
        <p:grpSpPr>
          <a:xfrm>
            <a:off x="450775" y="170727"/>
            <a:ext cx="11072284" cy="441809"/>
            <a:chOff x="450775" y="170727"/>
            <a:chExt cx="11072284" cy="44180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42BF4FC-CEB3-4F41-16DD-ECA842DCCE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9" name="Footer Placeholder 9">
              <a:extLst>
                <a:ext uri="{FF2B5EF4-FFF2-40B4-BE49-F238E27FC236}">
                  <a16:creationId xmlns:a16="http://schemas.microsoft.com/office/drawing/2014/main" id="{531B2A6D-E881-B187-AE87-F7A4858C4AFE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CITRAGROW</a:t>
              </a:r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4186861-ED4A-5648-860E-5A68CF488D1D}"/>
                </a:ext>
              </a:extLst>
            </p:cNvPr>
            <p:cNvGrpSpPr/>
            <p:nvPr/>
          </p:nvGrpSpPr>
          <p:grpSpPr>
            <a:xfrm>
              <a:off x="11184544" y="285624"/>
              <a:ext cx="338515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1" name="Google Shape;59;p15">
                <a:extLst>
                  <a:ext uri="{FF2B5EF4-FFF2-40B4-BE49-F238E27FC236}">
                    <a16:creationId xmlns:a16="http://schemas.microsoft.com/office/drawing/2014/main" id="{9653CE25-0933-CE5F-264F-BF8E23A0D02F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60;p15">
                <a:extLst>
                  <a:ext uri="{FF2B5EF4-FFF2-40B4-BE49-F238E27FC236}">
                    <a16:creationId xmlns:a16="http://schemas.microsoft.com/office/drawing/2014/main" id="{7339C3DA-2DA3-6A63-630F-8CF966A576B8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34F8FC7-7088-7B9C-7CF4-640AEECC8886}"/>
              </a:ext>
            </a:extLst>
          </p:cNvPr>
          <p:cNvGrpSpPr/>
          <p:nvPr/>
        </p:nvGrpSpPr>
        <p:grpSpPr>
          <a:xfrm>
            <a:off x="0" y="6356350"/>
            <a:ext cx="12192000" cy="510659"/>
            <a:chOff x="0" y="6347341"/>
            <a:chExt cx="12192000" cy="51065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CA0A7AE-A37F-6ACA-B9DB-0930A0B8490B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8DE32A-674D-7169-4CB3-217C87947064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2A71486C-A7AA-CDBF-3DAA-D7E4F455D9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1905000"/>
            <a:ext cx="3581400" cy="177411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C9267F7-15A4-804C-93BE-874B1DDDD7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3679116"/>
            <a:ext cx="3581400" cy="197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149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39587-70B5-73CA-7EF2-02F98FF5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FF8D-38DE-44ED-8E8F-F4480F209472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AE4D3-9144-0971-735B-02D13F63B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the Presenter &amp; Department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60D3F-2E41-34D7-5311-FCB14B10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20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B48F7C4-82F3-6386-7321-0D18D682ADF1}"/>
              </a:ext>
            </a:extLst>
          </p:cNvPr>
          <p:cNvGrpSpPr/>
          <p:nvPr/>
        </p:nvGrpSpPr>
        <p:grpSpPr>
          <a:xfrm>
            <a:off x="0" y="6356350"/>
            <a:ext cx="12192000" cy="510659"/>
            <a:chOff x="0" y="6347341"/>
            <a:chExt cx="12192000" cy="51065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9905F0-38A0-076F-8D87-E75EF30FAB0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84B46EF-EBFB-6459-D406-A841D74AB350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EC82A47-C419-D10C-1F9B-53CD5F9B89AA}"/>
              </a:ext>
            </a:extLst>
          </p:cNvPr>
          <p:cNvGrpSpPr/>
          <p:nvPr/>
        </p:nvGrpSpPr>
        <p:grpSpPr>
          <a:xfrm>
            <a:off x="450775" y="170727"/>
            <a:ext cx="11072284" cy="441809"/>
            <a:chOff x="450775" y="170727"/>
            <a:chExt cx="11072284" cy="44180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621E2BA-1054-B87C-5240-7CE25BAD99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2" name="Footer Placeholder 9">
              <a:extLst>
                <a:ext uri="{FF2B5EF4-FFF2-40B4-BE49-F238E27FC236}">
                  <a16:creationId xmlns:a16="http://schemas.microsoft.com/office/drawing/2014/main" id="{F57797E4-A9DB-7087-C59E-D7B570C55E0E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CITRAGROW</a:t>
              </a:r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CDD28C9-7AA1-946A-2B1F-A57F979E2B56}"/>
                </a:ext>
              </a:extLst>
            </p:cNvPr>
            <p:cNvGrpSpPr/>
            <p:nvPr/>
          </p:nvGrpSpPr>
          <p:grpSpPr>
            <a:xfrm>
              <a:off x="11184544" y="285624"/>
              <a:ext cx="338515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4" name="Google Shape;59;p15">
                <a:extLst>
                  <a:ext uri="{FF2B5EF4-FFF2-40B4-BE49-F238E27FC236}">
                    <a16:creationId xmlns:a16="http://schemas.microsoft.com/office/drawing/2014/main" id="{50B9477D-054D-8FA3-3C43-A43E9B978ECC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60;p15">
                <a:extLst>
                  <a:ext uri="{FF2B5EF4-FFF2-40B4-BE49-F238E27FC236}">
                    <a16:creationId xmlns:a16="http://schemas.microsoft.com/office/drawing/2014/main" id="{7308C8C3-628D-0BEF-1AE0-B53D16FD83A2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6" name="Picture 15" descr="A hand pouring liquid onto a plant&#10;&#10;AI-generated content may be incorrect.">
            <a:extLst>
              <a:ext uri="{FF2B5EF4-FFF2-40B4-BE49-F238E27FC236}">
                <a16:creationId xmlns:a16="http://schemas.microsoft.com/office/drawing/2014/main" id="{A675AB2E-DEFB-397E-A241-45329CFE5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897" y="195344"/>
            <a:ext cx="6155023" cy="60154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851B7D7F-4B77-7400-82BE-544E44A15A6A}"/>
              </a:ext>
            </a:extLst>
          </p:cNvPr>
          <p:cNvGrpSpPr/>
          <p:nvPr/>
        </p:nvGrpSpPr>
        <p:grpSpPr>
          <a:xfrm>
            <a:off x="450775" y="170727"/>
            <a:ext cx="3551249" cy="5467038"/>
            <a:chOff x="450775" y="170727"/>
            <a:chExt cx="3551249" cy="546703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CFA0468-E741-CCD6-F913-89591AA1614F}"/>
                </a:ext>
              </a:extLst>
            </p:cNvPr>
            <p:cNvSpPr txBox="1"/>
            <p:nvPr/>
          </p:nvSpPr>
          <p:spPr>
            <a:xfrm>
              <a:off x="838200" y="5146027"/>
              <a:ext cx="3163824" cy="491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b="1">
                  <a:latin typeface="Verdana" panose="020B0604030504040204" pitchFamily="34" charset="0"/>
                  <a:ea typeface="Verdana" panose="020B0604030504040204" pitchFamily="34" charset="0"/>
                </a:rPr>
                <a:t>Thank You..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426A413B-0A1C-C7FB-D4B6-1D7D8F260C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28F5020-F733-470E-5170-0E1CA9597456}"/>
                </a:ext>
              </a:extLst>
            </p:cNvPr>
            <p:cNvGrpSpPr/>
            <p:nvPr/>
          </p:nvGrpSpPr>
          <p:grpSpPr>
            <a:xfrm>
              <a:off x="450775" y="5338110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21" name="Google Shape;59;p15">
                <a:extLst>
                  <a:ext uri="{FF2B5EF4-FFF2-40B4-BE49-F238E27FC236}">
                    <a16:creationId xmlns:a16="http://schemas.microsoft.com/office/drawing/2014/main" id="{F4394F47-794D-766D-8137-99D7BF34187C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60;p15">
                <a:extLst>
                  <a:ext uri="{FF2B5EF4-FFF2-40B4-BE49-F238E27FC236}">
                    <a16:creationId xmlns:a16="http://schemas.microsoft.com/office/drawing/2014/main" id="{E94B943B-EADA-A3E4-4140-A768D4ED580D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60499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</vt:lpstr>
      <vt:lpstr>PowerPoint Presentation</vt:lpstr>
      <vt:lpstr>PowerPoint Presentation</vt:lpstr>
      <vt:lpstr>Materials</vt:lpstr>
      <vt:lpstr>PowerPoint Presentation</vt:lpstr>
      <vt:lpstr>Result: Experiment-1</vt:lpstr>
      <vt:lpstr>PowerPoint Presentation</vt:lpstr>
      <vt:lpstr>Result: Experiment-2</vt:lpstr>
      <vt:lpstr>PowerPoint Presentation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Koppula Santhosh Kumar</dc:creator>
  <cp:lastModifiedBy>Dhyani Patel</cp:lastModifiedBy>
  <cp:revision>334</cp:revision>
  <dcterms:created xsi:type="dcterms:W3CDTF">2021-10-26T04:13:36Z</dcterms:created>
  <dcterms:modified xsi:type="dcterms:W3CDTF">2026-05-05T04:40:36Z</dcterms:modified>
</cp:coreProperties>
</file>
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60" r:id="rId1"/>
  </p:sldMasterIdLst>
  <p:notesMasterIdLst>
    <p:notesMasterId r:id="rId2"/>
  </p:notesMasterIdLst>
  <p:sldIdLst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300" r:id="rId13"/>
    <p:sldId id="301" r:id="rId14"/>
    <p:sldId id="302" r:id="rId15"/>
    <p:sldId id="303" r:id="rId16"/>
    <p:sldId id="304" r:id="rId17"/>
    <p:sldId id="320" r:id="rId18"/>
    <p:sldId id="305" r:id="rId19"/>
  </p:sldIdLst>
  <p:sldSz cy="10287000" cx="18288000"/>
  <p:notesSz cx="6858000" cy="9144000"/>
  <p:embeddedFontLst>
    <p:embeddedFont>
      <p:font typeface="Calibri (MS)" panose="020F0502020204030204" charset="1"/>
      <p:regular r:id="rId20"/>
    </p:embeddedFont>
    <p:embeddedFont>
      <p:font typeface="Verdana" panose="020B0604030504040204" charset="1"/>
      <p:regular r:id="rId21"/>
    </p:embeddedFont>
    <p:embeddedFont>
      <p:font typeface="Verdana Bold" panose="020B0804030504040204" charset="1"/>
      <p:regular r:id="rId22"/>
    </p:embeddedFont>
    <p:embeddedFont>
      <p:font typeface="Calibri (MS) Bold" panose="020F0702030404030204" charset="1"/>
      <p:regular r:id="rId23"/>
    </p:embeddedFont>
    <p:embeddedFont>
      <p:font typeface="Verdana Italics" panose="020B06040305040B0204" charset="1"/>
      <p:regular r:id="rId24"/>
    </p:embeddedFont>
    <p:embeddedFont>
      <p:font typeface="Arimo" panose="020B0604020202020204" charset="1"/>
      <p:regular r:id="rId25"/>
    </p:embeddedFont>
    <p:embeddedFont>
      <p:font typeface="Arial" panose="020B0604020202020204" charset="1"/>
      <p:regular r:id="rId26"/>
    </p:embeddedFont>
    <p:embeddedFont>
      <p:font typeface="Arial Bold" panose="020B0704020202020204" charset="1"/>
      <p:regular r:id="rId27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tableStyles" Target="tableStyle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99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104900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900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104900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900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59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59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59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59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0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2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62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2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62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2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4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64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4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64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4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6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67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7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67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7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0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02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2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2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2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72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2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5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52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5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75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5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7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77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7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77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8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0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0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8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2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8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4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5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5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85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5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7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87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87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87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7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89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90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90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90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90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92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92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92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92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92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94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104894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94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endParaRPr lang="en-US"/>
          </a:p>
        </p:txBody>
      </p:sp>
      <p:sp>
        <p:nvSpPr>
          <p:cNvPr id="104894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94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5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5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96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3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74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7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97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7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7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8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8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98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8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8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5833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86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8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5833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88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8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99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9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4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95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5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9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9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9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99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6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96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6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96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6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6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97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5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9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9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0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1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1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1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584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27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585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8" name="Group 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586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29" name="Group 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587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588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id="1048589" name="TextBox 11"/>
          <p:cNvSpPr txBox="1"/>
          <p:nvPr/>
        </p:nvSpPr>
        <p:spPr>
          <a:xfrm rot="0">
            <a:off x="1348740" y="6391542"/>
            <a:ext cx="7999952" cy="219456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Date (28/04/2026)</a:t>
            </a:r>
          </a:p>
          <a:p>
            <a:pPr algn="l">
              <a:lnSpc>
                <a:spcPts val="4320"/>
              </a:lnSpc>
            </a:pPr>
            <a:r>
              <a:rPr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 of the Presenter: Payal Y Saindane</a:t>
            </a:r>
          </a:p>
          <a:p>
            <a:pPr algn="l">
              <a:lnSpc>
                <a:spcPts val="4320"/>
              </a:lnSpc>
            </a:pPr>
            <a:r>
              <a:rPr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Email Id: 25sc02071@gsfcuniversity.ac.in</a:t>
            </a:r>
            <a:r>
              <a:rPr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</a:p>
          <a:p>
            <a:pPr algn="l">
              <a:lnSpc>
                <a:spcPts val="4320"/>
              </a:lnSpc>
            </a:pPr>
            <a:r>
              <a:rPr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Faculty Mentor Name: 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 </a:t>
            </a:r>
            <a:endParaRPr altLang="en-US" lang="zh-CN"/>
          </a:p>
        </p:txBody>
      </p:sp>
      <p:grpSp>
        <p:nvGrpSpPr>
          <p:cNvPr id="30" name="Group 12"/>
          <p:cNvGrpSpPr/>
          <p:nvPr/>
        </p:nvGrpSpPr>
        <p:grpSpPr>
          <a:xfrm rot="0">
            <a:off x="794004" y="1344949"/>
            <a:ext cx="2848356" cy="1336548"/>
            <a:chOff x="0" y="0"/>
            <a:chExt cx="3797808" cy="1782064"/>
          </a:xfrm>
        </p:grpSpPr>
        <p:sp>
          <p:nvSpPr>
            <p:cNvPr id="1048590" name="Freeform 13"/>
            <p:cNvSpPr/>
            <p:nvPr/>
          </p:nvSpPr>
          <p:spPr>
            <a:xfrm rot="0" flipH="0" flipV="0">
              <a:off x="0" y="0"/>
              <a:ext cx="3797808" cy="1782064"/>
            </a:xfrm>
            <a:custGeom>
              <a:avLst/>
              <a:ahLst/>
              <a:rect l="l" t="t" r="r" b="b"/>
              <a:pathLst>
                <a:path w="3797808" h="1782064">
                  <a:moveTo>
                    <a:pt x="0" y="0"/>
                  </a:moveTo>
                  <a:lnTo>
                    <a:pt x="3797808" y="0"/>
                  </a:lnTo>
                  <a:lnTo>
                    <a:pt x="3797808" y="1782064"/>
                  </a:lnTo>
                  <a:lnTo>
                    <a:pt x="0" y="178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6" r="0" b="-56556"/>
              </a:stretch>
            </a:blipFill>
          </p:spPr>
        </p:sp>
      </p:grpSp>
      <p:sp>
        <p:nvSpPr>
          <p:cNvPr id="1048591" name="Freeform 14"/>
          <p:cNvSpPr/>
          <p:nvPr/>
        </p:nvSpPr>
        <p:spPr>
          <a:xfrm rot="0" flipH="0" flipV="0">
            <a:off x="16522932" y="1854203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592" name="TextBox 15"/>
          <p:cNvSpPr txBox="1"/>
          <p:nvPr/>
        </p:nvSpPr>
        <p:spPr>
          <a:xfrm rot="0">
            <a:off x="4071042" y="386220"/>
            <a:ext cx="10452725" cy="64008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0"/>
              </a:lnSpc>
            </a:pPr>
            <a:r>
              <a:rPr b="1" sz="4200" lang="en-US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Tinkering &amp; Mentoring - VACC 201</a:t>
            </a:r>
          </a:p>
        </p:txBody>
      </p:sp>
      <p:sp>
        <p:nvSpPr>
          <p:cNvPr id="1048593" name="TextBox 16"/>
          <p:cNvSpPr txBox="1"/>
          <p:nvPr/>
        </p:nvSpPr>
        <p:spPr>
          <a:xfrm rot="0">
            <a:off x="4104646" y="1258033"/>
            <a:ext cx="10419121" cy="1920240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5040"/>
              </a:lnSpc>
            </a:pPr>
            <a:r>
              <a:rPr b="1" sz="42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 :</a:t>
            </a:r>
          </a:p>
          <a:p>
            <a:pPr algn="ctr">
              <a:lnSpc>
                <a:spcPts val="5040"/>
              </a:lnSpc>
            </a:pPr>
            <a:r>
              <a:rPr b="1" sz="42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Preparation of Organic Mosquito Repellent  (Room / Cloth Spray)</a:t>
            </a:r>
          </a:p>
        </p:txBody>
      </p:sp>
      <p:sp>
        <p:nvSpPr>
          <p:cNvPr id="1048594" name="TextBox 17"/>
          <p:cNvSpPr txBox="1"/>
          <p:nvPr/>
        </p:nvSpPr>
        <p:spPr>
          <a:xfrm rot="0">
            <a:off x="9860128" y="6460122"/>
            <a:ext cx="7079132" cy="21945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Team No.: </a:t>
            </a:r>
          </a:p>
          <a:p>
            <a:pPr algn="l">
              <a:lnSpc>
                <a:spcPts val="4320"/>
              </a:lnSpc>
            </a:pPr>
            <a:r>
              <a:rPr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Semester: 2nd</a:t>
            </a:r>
          </a:p>
          <a:p>
            <a:pPr algn="l">
              <a:lnSpc>
                <a:spcPts val="4320"/>
              </a:lnSpc>
            </a:pPr>
            <a:r>
              <a:rPr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Program:   B sc - Biotechnology</a:t>
            </a:r>
          </a:p>
          <a:p>
            <a:pPr algn="l">
              <a:lnSpc>
                <a:spcPts val="4320"/>
              </a:lnSpc>
            </a:pPr>
            <a:r>
              <a:rPr sz="2400" lang="en-US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School: School of 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601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41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602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42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603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43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604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605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44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606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45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607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608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</a:t>
              </a:r>
            </a:p>
          </p:txBody>
        </p:sp>
      </p:grpSp>
      <p:grpSp>
        <p:nvGrpSpPr>
          <p:cNvPr id="46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609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47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610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611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48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612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49" name="Group 23"/>
          <p:cNvGrpSpPr/>
          <p:nvPr/>
        </p:nvGrpSpPr>
        <p:grpSpPr>
          <a:xfrm rot="0">
            <a:off x="6057900" y="313601"/>
            <a:ext cx="6566716" cy="547688"/>
            <a:chOff x="0" y="0"/>
            <a:chExt cx="8755621" cy="730250"/>
          </a:xfrm>
        </p:grpSpPr>
        <p:sp>
          <p:nvSpPr>
            <p:cNvPr id="1048613" name="Freeform 24"/>
            <p:cNvSpPr/>
            <p:nvPr/>
          </p:nvSpPr>
          <p:spPr>
            <a:xfrm rot="0" flipH="0" flipV="0">
              <a:off x="0" y="0"/>
              <a:ext cx="8755634" cy="730250"/>
            </a:xfrm>
            <a:custGeom>
              <a:avLst/>
              <a:ahLst/>
              <a:rect l="l" t="t" r="r" b="b"/>
              <a:pathLst>
                <a:path w="8755634" h="730250">
                  <a:moveTo>
                    <a:pt x="0" y="0"/>
                  </a:moveTo>
                  <a:lnTo>
                    <a:pt x="8755634" y="0"/>
                  </a:lnTo>
                  <a:lnTo>
                    <a:pt x="875563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3460" r="0" b="-183460"/>
              </a:stretch>
            </a:blipFill>
          </p:spPr>
        </p:sp>
      </p:grpSp>
      <p:grpSp>
        <p:nvGrpSpPr>
          <p:cNvPr id="50" name="Group 25"/>
          <p:cNvGrpSpPr/>
          <p:nvPr/>
        </p:nvGrpSpPr>
        <p:grpSpPr>
          <a:xfrm rot="0">
            <a:off x="6057900" y="285026"/>
            <a:ext cx="6566716" cy="576262"/>
            <a:chOff x="0" y="0"/>
            <a:chExt cx="8755621" cy="768350"/>
          </a:xfrm>
        </p:grpSpPr>
        <p:sp>
          <p:nvSpPr>
            <p:cNvPr id="1048614" name="Freeform 26"/>
            <p:cNvSpPr/>
            <p:nvPr/>
          </p:nvSpPr>
          <p:spPr>
            <a:xfrm rot="0" flipH="0" flipV="0">
              <a:off x="0" y="0"/>
              <a:ext cx="8755621" cy="768351"/>
            </a:xfrm>
            <a:custGeom>
              <a:avLst/>
              <a:ahLst/>
              <a:rect l="l" t="t" r="r" b="b"/>
              <a:pathLst>
                <a:path w="8755621" h="768351">
                  <a:moveTo>
                    <a:pt x="0" y="0"/>
                  </a:moveTo>
                  <a:lnTo>
                    <a:pt x="8755621" y="0"/>
                  </a:lnTo>
                  <a:lnTo>
                    <a:pt x="8755621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2038" r="0" b="-172038"/>
              </a:stretch>
            </a:blipFill>
          </p:spPr>
        </p:sp>
        <p:sp>
          <p:nvSpPr>
            <p:cNvPr id="1048615" name="TextBox 27"/>
            <p:cNvSpPr txBox="1"/>
            <p:nvPr/>
          </p:nvSpPr>
          <p:spPr>
            <a:xfrm>
              <a:off x="0" y="-38100"/>
              <a:ext cx="8755621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616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617" name="TextBox 29"/>
          <p:cNvSpPr txBox="1"/>
          <p:nvPr/>
        </p:nvSpPr>
        <p:spPr>
          <a:xfrm rot="0">
            <a:off x="767601" y="1396203"/>
            <a:ext cx="7187679" cy="54864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b="1" sz="3600" lang="en-US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Student Team</a:t>
            </a:r>
          </a:p>
        </p:txBody>
      </p:sp>
      <p:sp>
        <p:nvSpPr>
          <p:cNvPr id="1048618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  <p:graphicFrame>
        <p:nvGraphicFramePr>
          <p:cNvPr id="4194304" name="Table 31"/>
          <p:cNvGraphicFramePr>
            <a:graphicFrameLocks noGrp="1"/>
          </p:cNvGraphicFramePr>
          <p:nvPr/>
        </p:nvGraphicFramePr>
        <p:xfrm>
          <a:off x="2088499" y="3617036"/>
          <a:ext cx="11849100" cy="2717800"/>
        </p:xfrm>
        <a:graphic>
          <a:graphicData uri="http://schemas.openxmlformats.org/drawingml/2006/table">
            <a:tbl>
              <a:tblPr/>
              <a:tblGrid>
                <a:gridCol w="4972417"/>
                <a:gridCol w="2687677"/>
                <a:gridCol w="4189005"/>
              </a:tblGrid>
              <a:tr h="523729">
                <a:tc>
                  <a:txBody>
                    <a:bodyPr anchor="t" rtlCol="0"/>
                    <a:p>
                      <a:pPr algn="l">
                        <a:lnSpc>
                          <a:spcPts val="2379"/>
                        </a:lnSpc>
                      </a:pPr>
                      <a:r>
                        <a:rPr b="1" sz="1983" lang="en-US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Name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2379"/>
                        </a:lnSpc>
                      </a:pPr>
                      <a:r>
                        <a:rPr b="1" sz="1983" lang="en-US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Enrollment No.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2379"/>
                        </a:lnSpc>
                      </a:pPr>
                      <a:r>
                        <a:rPr b="1" sz="1983" lang="en-US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Key Responsibility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98975"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RAJVI PATEL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25SC02069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679"/>
                        </a:lnSpc>
                      </a:pPr>
                      <a:r>
                        <a:rPr altLang="en-IN" sz="1100" lang="en-US"/>
                        <a:t>N</a:t>
                      </a:r>
                      <a:r>
                        <a:rPr altLang="en-IN" sz="1100" lang="en-US"/>
                        <a:t>e</a:t>
                      </a:r>
                      <a:r>
                        <a:rPr altLang="en-IN" sz="1100" lang="en-US"/>
                        <a:t>e</a:t>
                      </a:r>
                      <a:r>
                        <a:rPr altLang="en-IN" sz="1100" lang="en-US"/>
                        <a:t>m</a:t>
                      </a:r>
                      <a:r>
                        <a:rPr altLang="en-IN" sz="1100" lang="en-US"/>
                        <a:t> </a:t>
                      </a:r>
                      <a:r>
                        <a:rPr altLang="en-IN" sz="1100" lang="en-US"/>
                        <a:t>abstract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20638"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SAMARTH RAVAL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25SC02070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679"/>
                        </a:lnSpc>
                      </a:pPr>
                      <a:r>
                        <a:rPr altLang="en-IN" sz="1100" lang="en-US"/>
                        <a:t>L</a:t>
                      </a:r>
                      <a:r>
                        <a:rPr altLang="en-IN" sz="1100" lang="en-US"/>
                        <a:t>a</a:t>
                      </a:r>
                      <a:r>
                        <a:rPr altLang="en-IN" sz="1100" lang="en-US"/>
                        <a:t>v</a:t>
                      </a:r>
                      <a:r>
                        <a:rPr altLang="en-IN" sz="1100" lang="en-US"/>
                        <a:t>ender </a:t>
                      </a:r>
                      <a:r>
                        <a:rPr altLang="en-IN" sz="1100" lang="en-US"/>
                        <a:t>oil </a:t>
                      </a:r>
                      <a:r>
                        <a:rPr altLang="en-IN" sz="1100" lang="en-US"/>
                        <a:t>a</a:t>
                      </a:r>
                      <a:r>
                        <a:rPr altLang="en-IN" sz="1100" lang="en-US"/>
                        <a:t>n</a:t>
                      </a:r>
                      <a:r>
                        <a:rPr altLang="en-IN" sz="1100" lang="en-US"/>
                        <a:t>d</a:t>
                      </a:r>
                      <a:r>
                        <a:rPr altLang="en-IN" sz="1100" lang="en-US"/>
                        <a:t> </a:t>
                      </a:r>
                      <a:r>
                        <a:rPr altLang="en-IN" sz="1100" lang="en-US"/>
                        <a:t>prototype </a:t>
                      </a:r>
                      <a:r>
                        <a:rPr altLang="en-IN" sz="1100" lang="en-US"/>
                        <a:t>preparation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29006"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PAYAL SAINDANE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25SC02071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679"/>
                        </a:lnSpc>
                      </a:pPr>
                      <a:r>
                        <a:rPr altLang="en-IN" sz="1100" lang="en-US"/>
                        <a:t>C</a:t>
                      </a:r>
                      <a:r>
                        <a:rPr altLang="en-IN" sz="1100" lang="en-US"/>
                        <a:t>l</a:t>
                      </a:r>
                      <a:r>
                        <a:rPr altLang="en-IN" sz="1100" lang="en-US"/>
                        <a:t>o</a:t>
                      </a:r>
                      <a:r>
                        <a:rPr altLang="en-IN" sz="1100" lang="en-US"/>
                        <a:t>v</a:t>
                      </a:r>
                      <a:r>
                        <a:rPr altLang="en-IN" sz="1100" lang="en-US"/>
                        <a:t>e</a:t>
                      </a:r>
                      <a:r>
                        <a:rPr altLang="en-IN" sz="1100" lang="en-US"/>
                        <a:t> </a:t>
                      </a:r>
                      <a:r>
                        <a:rPr altLang="en-IN" sz="1100" lang="en-US"/>
                        <a:t>a</a:t>
                      </a:r>
                      <a:r>
                        <a:rPr altLang="en-IN" sz="1100" lang="en-US"/>
                        <a:t>b</a:t>
                      </a:r>
                      <a:r>
                        <a:rPr altLang="en-IN" sz="1100" lang="en-US"/>
                        <a:t>s</a:t>
                      </a:r>
                      <a:r>
                        <a:rPr altLang="en-IN" sz="1100" lang="en-US"/>
                        <a:t>tract</a:t>
                      </a:r>
                      <a:r>
                        <a:rPr altLang="en-IN" sz="1100" lang="en-US"/>
                        <a:t>,</a:t>
                      </a:r>
                      <a:r>
                        <a:rPr altLang="en-IN" sz="1100" lang="en-US"/>
                        <a:t> </a:t>
                      </a:r>
                      <a:r>
                        <a:rPr altLang="en-IN" sz="1100" lang="en-US"/>
                        <a:t>p</a:t>
                      </a:r>
                      <a:r>
                        <a:rPr altLang="en-IN" sz="1100" lang="en-US"/>
                        <a:t>p</a:t>
                      </a:r>
                      <a:r>
                        <a:rPr altLang="en-IN" sz="1100" lang="en-US"/>
                        <a:t>t</a:t>
                      </a:r>
                      <a:r>
                        <a:rPr altLang="en-IN" sz="1100" lang="en-US"/>
                        <a:t> </a:t>
                      </a:r>
                      <a:r>
                        <a:rPr altLang="en-IN" sz="1100" lang="en-US"/>
                        <a:t>a</a:t>
                      </a:r>
                      <a:r>
                        <a:rPr altLang="en-IN" sz="1100" lang="en-US"/>
                        <a:t>n</a:t>
                      </a:r>
                      <a:r>
                        <a:rPr altLang="en-IN" sz="1100" lang="en-US"/>
                        <a:t>d</a:t>
                      </a:r>
                      <a:r>
                        <a:rPr altLang="en-IN" sz="1100" lang="en-US"/>
                        <a:t> </a:t>
                      </a:r>
                      <a:r>
                        <a:rPr altLang="en-IN" sz="1100" lang="en-US"/>
                        <a:t>prototype </a:t>
                      </a:r>
                      <a:r>
                        <a:rPr altLang="en-IN" sz="1100" lang="en-US"/>
                        <a:t>preparation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20638"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SANIYA SIDDHKI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25SC02072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679"/>
                        </a:lnSpc>
                      </a:pPr>
                      <a:r>
                        <a:rPr altLang="en-IN" sz="1100" lang="en-US"/>
                        <a:t>I</a:t>
                      </a:r>
                      <a:r>
                        <a:rPr altLang="en-IN" sz="1100" lang="en-US"/>
                        <a:t>d</a:t>
                      </a:r>
                      <a:r>
                        <a:rPr altLang="en-IN" sz="1100" lang="en-US"/>
                        <a:t>e</a:t>
                      </a:r>
                      <a:r>
                        <a:rPr altLang="en-IN" sz="1100" lang="en-US"/>
                        <a:t>a</a:t>
                      </a:r>
                      <a:r>
                        <a:rPr altLang="en-IN" sz="1100" lang="en-US"/>
                        <a:t>tion </a:t>
                      </a:r>
                      <a:r>
                        <a:rPr altLang="en-IN" sz="1100" lang="en-US"/>
                        <a:t>and </a:t>
                      </a:r>
                      <a:r>
                        <a:rPr altLang="en-IN" sz="1100" lang="en-US"/>
                        <a:t>prototype </a:t>
                      </a:r>
                      <a:r>
                        <a:rPr altLang="en-IN" sz="1100" lang="en-US"/>
                        <a:t>preparation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74271"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BUSHRA SELOT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25SC02073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679"/>
                        </a:lnSpc>
                      </a:pPr>
                      <a:r>
                        <a:rPr altLang="en-IN" sz="1100" lang="en-US"/>
                        <a:t>R</a:t>
                      </a:r>
                      <a:r>
                        <a:rPr altLang="en-IN" sz="1100" lang="en-US"/>
                        <a:t>e</a:t>
                      </a:r>
                      <a:r>
                        <a:rPr altLang="en-IN" sz="1100" lang="en-US"/>
                        <a:t>v</a:t>
                      </a:r>
                      <a:r>
                        <a:rPr altLang="en-IN" sz="1100" lang="en-US"/>
                        <a:t>i</a:t>
                      </a:r>
                      <a:r>
                        <a:rPr altLang="en-IN" sz="1100" lang="en-US"/>
                        <a:t>ew </a:t>
                      </a:r>
                      <a:r>
                        <a:rPr altLang="en-IN" sz="1100" lang="en-US"/>
                        <a:t>report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50542"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SIDDHI SHAH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232"/>
                        </a:lnSpc>
                      </a:pPr>
                      <a:r>
                        <a:rPr sz="88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25SC02074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679"/>
                        </a:lnSpc>
                      </a:pPr>
                      <a:r>
                        <a:rPr altLang="en-IN" sz="1100" lang="en-US"/>
                        <a:t>P</a:t>
                      </a:r>
                      <a:r>
                        <a:rPr altLang="en-IN" sz="1100" lang="en-US"/>
                        <a:t>r</a:t>
                      </a:r>
                      <a:r>
                        <a:rPr altLang="en-IN" sz="1100" lang="en-US"/>
                        <a:t>e</a:t>
                      </a:r>
                      <a:r>
                        <a:rPr altLang="en-IN" sz="1100" lang="en-US"/>
                        <a:t>s</a:t>
                      </a:r>
                      <a:r>
                        <a:rPr altLang="en-IN" sz="1100" lang="en-US"/>
                        <a:t>e</a:t>
                      </a:r>
                      <a:r>
                        <a:rPr altLang="en-IN" sz="1100" lang="en-US"/>
                        <a:t>ntation </a:t>
                      </a:r>
                      <a:endParaRPr sz="1100" lang="en-US"/>
                    </a:p>
                  </a:txBody>
                  <a:tcPr marL="67165" marR="67165" marT="67165" marB="67165" anchor="ctr">
                    <a:lnL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9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625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55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626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56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627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57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628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629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58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630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59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631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632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</a:t>
              </a:r>
            </a:p>
          </p:txBody>
        </p:sp>
      </p:grpSp>
      <p:grpSp>
        <p:nvGrpSpPr>
          <p:cNvPr id="60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633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61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634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635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62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636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63" name="Group 23"/>
          <p:cNvGrpSpPr/>
          <p:nvPr/>
        </p:nvGrpSpPr>
        <p:grpSpPr>
          <a:xfrm rot="0">
            <a:off x="6057900" y="313601"/>
            <a:ext cx="6551971" cy="547688"/>
            <a:chOff x="0" y="0"/>
            <a:chExt cx="8735962" cy="730250"/>
          </a:xfrm>
        </p:grpSpPr>
        <p:sp>
          <p:nvSpPr>
            <p:cNvPr id="1048637" name="Freeform 24"/>
            <p:cNvSpPr/>
            <p:nvPr/>
          </p:nvSpPr>
          <p:spPr>
            <a:xfrm rot="0" flipH="0" flipV="0">
              <a:off x="0" y="0"/>
              <a:ext cx="8735949" cy="730250"/>
            </a:xfrm>
            <a:custGeom>
              <a:avLst/>
              <a:ahLst/>
              <a:rect l="l" t="t" r="r" b="b"/>
              <a:pathLst>
                <a:path w="8735949" h="730250">
                  <a:moveTo>
                    <a:pt x="0" y="0"/>
                  </a:moveTo>
                  <a:lnTo>
                    <a:pt x="8735949" y="0"/>
                  </a:lnTo>
                  <a:lnTo>
                    <a:pt x="873594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2937" r="0" b="-182935"/>
              </a:stretch>
            </a:blipFill>
          </p:spPr>
        </p:sp>
      </p:grpSp>
      <p:grpSp>
        <p:nvGrpSpPr>
          <p:cNvPr id="64" name="Group 25"/>
          <p:cNvGrpSpPr/>
          <p:nvPr/>
        </p:nvGrpSpPr>
        <p:grpSpPr>
          <a:xfrm rot="0">
            <a:off x="6057900" y="285026"/>
            <a:ext cx="6551971" cy="576262"/>
            <a:chOff x="0" y="0"/>
            <a:chExt cx="8735962" cy="768350"/>
          </a:xfrm>
        </p:grpSpPr>
        <p:sp>
          <p:nvSpPr>
            <p:cNvPr id="1048638" name="Freeform 26"/>
            <p:cNvSpPr/>
            <p:nvPr/>
          </p:nvSpPr>
          <p:spPr>
            <a:xfrm rot="0" flipH="0" flipV="0">
              <a:off x="0" y="0"/>
              <a:ext cx="8735961" cy="768351"/>
            </a:xfrm>
            <a:custGeom>
              <a:avLst/>
              <a:ahLst/>
              <a:rect l="l" t="t" r="r" b="b"/>
              <a:pathLst>
                <a:path w="8735961" h="768351">
                  <a:moveTo>
                    <a:pt x="0" y="0"/>
                  </a:moveTo>
                  <a:lnTo>
                    <a:pt x="8735961" y="0"/>
                  </a:lnTo>
                  <a:lnTo>
                    <a:pt x="8735961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1540" r="0" b="-171540"/>
              </a:stretch>
            </a:blipFill>
          </p:spPr>
        </p:sp>
        <p:sp>
          <p:nvSpPr>
            <p:cNvPr id="1048639" name="TextBox 27"/>
            <p:cNvSpPr txBox="1"/>
            <p:nvPr/>
          </p:nvSpPr>
          <p:spPr>
            <a:xfrm>
              <a:off x="0" y="-38100"/>
              <a:ext cx="8735962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48640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641" name="TextBox 29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  <p:sp>
        <p:nvSpPr>
          <p:cNvPr id="1048642" name="TextBox 30"/>
          <p:cNvSpPr txBox="1"/>
          <p:nvPr/>
        </p:nvSpPr>
        <p:spPr>
          <a:xfrm rot="0">
            <a:off x="998772" y="1902209"/>
            <a:ext cx="7187679" cy="54864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b="1" sz="3600" lang="en-US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Faculty Mentor</a:t>
            </a:r>
          </a:p>
        </p:txBody>
      </p:sp>
      <p:graphicFrame>
        <p:nvGraphicFramePr>
          <p:cNvPr id="4194305" name="Table 31"/>
          <p:cNvGraphicFramePr>
            <a:graphicFrameLocks noGrp="1"/>
          </p:cNvGraphicFramePr>
          <p:nvPr/>
        </p:nvGraphicFramePr>
        <p:xfrm>
          <a:off x="907331" y="3004504"/>
          <a:ext cx="16154400" cy="546100"/>
        </p:xfrm>
        <a:graphic>
          <a:graphicData uri="http://schemas.openxmlformats.org/drawingml/2006/table">
            <a:tbl>
              <a:tblPr/>
              <a:tblGrid>
                <a:gridCol w="6294769"/>
                <a:gridCol w="4148575"/>
                <a:gridCol w="5711055"/>
              </a:tblGrid>
              <a:tr h="26581">
                <a:tc>
                  <a:txBody>
                    <a:bodyPr anchor="t" rtlCol="0"/>
                    <a:p>
                      <a:pPr algn="l">
                        <a:lnSpc>
                          <a:spcPts val="3240"/>
                        </a:lnSpc>
                      </a:pPr>
                      <a:r>
                        <a:rPr b="1" sz="2700" lang="en-US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Name</a:t>
                      </a:r>
                      <a:endParaRPr sz="1100" lang="en-US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3240"/>
                        </a:lnSpc>
                      </a:pPr>
                      <a:r>
                        <a:rPr b="1" sz="2700" lang="en-US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Designation</a:t>
                      </a:r>
                      <a:endParaRPr sz="1100" lang="en-US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3240"/>
                        </a:lnSpc>
                      </a:pPr>
                      <a:r>
                        <a:rPr b="1" sz="2700" lang="en-US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Department, School</a:t>
                      </a:r>
                      <a:endParaRPr sz="1100" lang="en-US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519519">
                <a:tc>
                  <a:txBody>
                    <a:bodyPr anchor="t" rtlCol="0"/>
                    <a:p>
                      <a:pPr algn="l">
                        <a:lnSpc>
                          <a:spcPts val="1679"/>
                        </a:lnSpc>
                      </a:pPr>
                      <a:r>
                        <a:rPr sz="1200" lang="en-US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DR. SHANKARA NARAYAN </a:t>
                      </a:r>
                      <a:endParaRPr sz="1100" lang="en-US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679"/>
                        </a:lnSpc>
                      </a:pPr>
                      <a:r>
                        <a:rPr altLang="en-IN" sz="1100" lang="en-US"/>
                        <a:t>A</a:t>
                      </a:r>
                      <a:r>
                        <a:rPr altLang="en-IN" sz="1100" lang="en-US"/>
                        <a:t>s</a:t>
                      </a:r>
                      <a:r>
                        <a:rPr altLang="en-IN" sz="1100" lang="en-US"/>
                        <a:t>s</a:t>
                      </a:r>
                      <a:r>
                        <a:rPr altLang="en-IN" sz="1100" lang="en-US"/>
                        <a:t>ociate </a:t>
                      </a:r>
                      <a:r>
                        <a:rPr altLang="en-IN" sz="1100" lang="en-US"/>
                        <a:t>professor </a:t>
                      </a:r>
                      <a:endParaRPr sz="1100" lang="en-US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0"/>
                    <a:p>
                      <a:pPr algn="l">
                        <a:lnSpc>
                          <a:spcPts val="1679"/>
                        </a:lnSpc>
                      </a:pPr>
                      <a:r>
                        <a:rPr altLang="en-IN" sz="1100" lang="en-US"/>
                        <a:t>L</a:t>
                      </a:r>
                      <a:r>
                        <a:rPr altLang="en-IN" sz="1100" lang="en-US"/>
                        <a:t>i</a:t>
                      </a:r>
                      <a:r>
                        <a:rPr altLang="en-IN" sz="1100" lang="en-US"/>
                        <a:t>f</a:t>
                      </a:r>
                      <a:r>
                        <a:rPr altLang="en-IN" sz="1100" lang="en-US"/>
                        <a:t>e</a:t>
                      </a:r>
                      <a:r>
                        <a:rPr altLang="en-IN" sz="1100" lang="en-US"/>
                        <a:t> </a:t>
                      </a:r>
                      <a:r>
                        <a:rPr altLang="en-IN" sz="1100" lang="en-US"/>
                        <a:t>sciences </a:t>
                      </a:r>
                      <a:endParaRPr sz="1100" lang="en-US"/>
                    </a:p>
                  </a:txBody>
                  <a:tcPr marL="91440" marR="91440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649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69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650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70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651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71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652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653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72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654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73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655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656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74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657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75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658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659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id="76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660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77" name="Group 23"/>
          <p:cNvGrpSpPr/>
          <p:nvPr/>
        </p:nvGrpSpPr>
        <p:grpSpPr>
          <a:xfrm rot="0">
            <a:off x="6057900" y="313601"/>
            <a:ext cx="6655213" cy="547688"/>
            <a:chOff x="0" y="0"/>
            <a:chExt cx="8873617" cy="730250"/>
          </a:xfrm>
        </p:grpSpPr>
        <p:sp>
          <p:nvSpPr>
            <p:cNvPr id="1048661" name="Freeform 24"/>
            <p:cNvSpPr/>
            <p:nvPr/>
          </p:nvSpPr>
          <p:spPr>
            <a:xfrm rot="0" flipH="0" flipV="0">
              <a:off x="0" y="0"/>
              <a:ext cx="8873617" cy="730250"/>
            </a:xfrm>
            <a:custGeom>
              <a:avLst/>
              <a:ahLst/>
              <a:rect l="l" t="t" r="r" b="b"/>
              <a:pathLst>
                <a:path w="8873617" h="730250">
                  <a:moveTo>
                    <a:pt x="0" y="0"/>
                  </a:moveTo>
                  <a:lnTo>
                    <a:pt x="8873617" y="0"/>
                  </a:lnTo>
                  <a:lnTo>
                    <a:pt x="8873617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6606" r="0" b="-186606"/>
              </a:stretch>
            </a:blipFill>
          </p:spPr>
        </p:sp>
      </p:grpSp>
      <p:grpSp>
        <p:nvGrpSpPr>
          <p:cNvPr id="78" name="Group 25"/>
          <p:cNvGrpSpPr/>
          <p:nvPr/>
        </p:nvGrpSpPr>
        <p:grpSpPr>
          <a:xfrm rot="0">
            <a:off x="6057900" y="285026"/>
            <a:ext cx="6655213" cy="576262"/>
            <a:chOff x="0" y="0"/>
            <a:chExt cx="8873617" cy="768350"/>
          </a:xfrm>
        </p:grpSpPr>
        <p:sp>
          <p:nvSpPr>
            <p:cNvPr id="1048662" name="Freeform 26"/>
            <p:cNvSpPr/>
            <p:nvPr/>
          </p:nvSpPr>
          <p:spPr>
            <a:xfrm rot="0" flipH="0" flipV="0">
              <a:off x="0" y="0"/>
              <a:ext cx="8873617" cy="768351"/>
            </a:xfrm>
            <a:custGeom>
              <a:avLst/>
              <a:ahLst/>
              <a:rect l="l" t="t" r="r" b="b"/>
              <a:pathLst>
                <a:path w="8873617" h="768351">
                  <a:moveTo>
                    <a:pt x="0" y="0"/>
                  </a:moveTo>
                  <a:lnTo>
                    <a:pt x="8873617" y="0"/>
                  </a:lnTo>
                  <a:lnTo>
                    <a:pt x="8873617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5031" r="0" b="-175031"/>
              </a:stretch>
            </a:blipFill>
          </p:spPr>
        </p:sp>
        <p:sp>
          <p:nvSpPr>
            <p:cNvPr id="1048663" name="TextBox 27"/>
            <p:cNvSpPr txBox="1"/>
            <p:nvPr/>
          </p:nvSpPr>
          <p:spPr>
            <a:xfrm>
              <a:off x="0" y="-38100"/>
              <a:ext cx="8873617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664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665" name="TextBox 29"/>
          <p:cNvSpPr txBox="1"/>
          <p:nvPr/>
        </p:nvSpPr>
        <p:spPr>
          <a:xfrm rot="0">
            <a:off x="767601" y="1396203"/>
            <a:ext cx="9189082" cy="54864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  <a:r>
              <a:rPr b="1" sz="3600" lang="en-US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Brief of Tinkering Project</a:t>
            </a:r>
          </a:p>
        </p:txBody>
      </p:sp>
      <p:sp>
        <p:nvSpPr>
          <p:cNvPr id="1048666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  <p:sp>
        <p:nvSpPr>
          <p:cNvPr id="1048667" name=""/>
          <p:cNvSpPr txBox="1"/>
          <p:nvPr/>
        </p:nvSpPr>
        <p:spPr>
          <a:xfrm>
            <a:off x="767601" y="2479758"/>
            <a:ext cx="14500165" cy="47015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>Natural plant based mosquito repellent spray 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A safe eco friendly solution for everyday protection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endParaRPr sz="2800" lang="en-IN">
              <a:solidFill>
                <a:srgbClr val="000000"/>
              </a:solidFill>
            </a:endParaRPr>
          </a:p>
          <a:p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duction </a:t>
            </a:r>
            <a:endParaRPr sz="2800" lang="en-IN">
              <a:solidFill>
                <a:srgbClr val="000000"/>
              </a:solidFill>
            </a:endParaRPr>
          </a:p>
          <a:p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Mosquito-borne diseases like dengue, malaria, and chikungunya remain a serious public health concern. Most commercial repellents contain harmful chemicals such as DEET, which may cause skin irritation and environmental damage.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This project proposes a natural, plant-based mosquito repellent spray that is safe, effective, affordable, and eco-friendly.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679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-56553" r="0" b="-56553"/>
              </a:stretch>
            </a:blipFill>
          </p:spPr>
        </p:sp>
      </p:grpSp>
      <p:sp>
        <p:nvSpPr>
          <p:cNvPr id="1048680" name=""/>
          <p:cNvSpPr txBox="1"/>
          <p:nvPr/>
        </p:nvSpPr>
        <p:spPr>
          <a:xfrm>
            <a:off x="1382344" y="2742590"/>
            <a:ext cx="13519822" cy="510540"/>
          </a:xfrm>
          <a:prstGeom prst="rect"/>
        </p:spPr>
        <p:txBody>
          <a:bodyPr rtlCol="0" wrap="square">
            <a:spAutoFit/>
          </a:bodyPr>
          <a:p>
            <a:r>
              <a:rPr altLang="en-IN" sz="2800" lang="en-US">
                <a:solidFill>
                  <a:srgbClr val="000000"/>
                </a:solidFill>
              </a:rPr>
              <a:t> </a:t>
            </a:r>
            <a:endParaRPr sz="2800" lang="en-IN">
              <a:solidFill>
                <a:srgbClr val="000000"/>
              </a:solidFill>
            </a:endParaRPr>
          </a:p>
        </p:txBody>
      </p:sp>
      <p:sp>
        <p:nvSpPr>
          <p:cNvPr id="1048681" name=""/>
          <p:cNvSpPr txBox="1"/>
          <p:nvPr/>
        </p:nvSpPr>
        <p:spPr>
          <a:xfrm>
            <a:off x="944643" y="918839"/>
            <a:ext cx="12383827" cy="9311639"/>
          </a:xfrm>
          <a:prstGeom prst="rect"/>
        </p:spPr>
        <p:txBody>
          <a:bodyPr rtlCol="0" wrap="square">
            <a:spAutoFit/>
          </a:bodyPr>
          <a:p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g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nic </a:t>
            </a:r>
            <a:r>
              <a:rPr altLang="en-IN" sz="2800" lang="en-US">
                <a:solidFill>
                  <a:srgbClr val="000000"/>
                </a:solidFill>
              </a:rPr>
              <a:t>mosquito </a:t>
            </a:r>
            <a:r>
              <a:rPr altLang="en-IN" sz="2800" lang="en-US">
                <a:solidFill>
                  <a:srgbClr val="000000"/>
                </a:solidFill>
              </a:rPr>
              <a:t>repellent </a:t>
            </a:r>
            <a:r>
              <a:rPr altLang="en-IN" sz="2800" lang="en-US">
                <a:solidFill>
                  <a:srgbClr val="000000"/>
                </a:solidFill>
              </a:rPr>
              <a:t>spray 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V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. </a:t>
            </a:r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ical </a:t>
            </a:r>
            <a:r>
              <a:rPr altLang="en-IN" sz="2800" lang="en-US">
                <a:solidFill>
                  <a:srgbClr val="000000"/>
                </a:solidFill>
              </a:rPr>
              <a:t>mosquito </a:t>
            </a:r>
            <a:r>
              <a:rPr altLang="en-IN" sz="2800" lang="en-US">
                <a:solidFill>
                  <a:srgbClr val="000000"/>
                </a:solidFill>
              </a:rPr>
              <a:t>repellent </a:t>
            </a:r>
            <a:r>
              <a:rPr altLang="en-IN" sz="2800" lang="en-US">
                <a:solidFill>
                  <a:srgbClr val="000000"/>
                </a:solidFill>
              </a:rPr>
              <a:t>spray </a:t>
            </a:r>
            <a:endParaRPr sz="2800" lang="en-IN">
              <a:solidFill>
                <a:srgbClr val="000000"/>
              </a:solidFill>
            </a:endParaRPr>
          </a:p>
          <a:p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-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f</a:t>
            </a:r>
            <a:r>
              <a:rPr altLang="en-IN" sz="2800" lang="en-US">
                <a:solidFill>
                  <a:srgbClr val="000000"/>
                </a:solidFill>
              </a:rPr>
              <a:t>f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ctiveness 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g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nic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erate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(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2</a:t>
            </a:r>
            <a:r>
              <a:rPr altLang="en-IN" sz="2800" lang="en-US">
                <a:solidFill>
                  <a:srgbClr val="000000"/>
                </a:solidFill>
              </a:rPr>
              <a:t>-</a:t>
            </a:r>
            <a:r>
              <a:rPr altLang="en-IN" sz="2800" lang="en-US">
                <a:solidFill>
                  <a:srgbClr val="000000"/>
                </a:solidFill>
              </a:rPr>
              <a:t>3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)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ical </a:t>
            </a:r>
            <a:r>
              <a:rPr altLang="en-IN" sz="2800" lang="en-US">
                <a:solidFill>
                  <a:srgbClr val="000000"/>
                </a:solidFill>
              </a:rPr>
              <a:t>once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g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4</a:t>
            </a:r>
            <a:r>
              <a:rPr altLang="en-IN" sz="2800" lang="en-US">
                <a:solidFill>
                  <a:srgbClr val="000000"/>
                </a:solidFill>
              </a:rPr>
              <a:t>-</a:t>
            </a:r>
            <a:r>
              <a:rPr altLang="en-IN" sz="2800" lang="en-US">
                <a:solidFill>
                  <a:srgbClr val="000000"/>
                </a:solidFill>
              </a:rPr>
              <a:t>5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u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-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f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y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f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f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k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k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g</a:t>
            </a:r>
            <a:r>
              <a:rPr altLang="en-IN" sz="2800" lang="en-US">
                <a:solidFill>
                  <a:srgbClr val="000000"/>
                </a:solidFill>
              </a:rPr>
              <a:t>anic 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May cause irritation; avoid eyes/mouth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cal 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-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Smell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g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nic 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p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l</a:t>
            </a:r>
            <a:r>
              <a:rPr altLang="en-IN" sz="2800" lang="en-US">
                <a:solidFill>
                  <a:srgbClr val="000000"/>
                </a:solidFill>
              </a:rPr>
              <a:t>l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 Natural/herbal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ical 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sz="2800" lang="en-IN">
                <a:solidFill>
                  <a:srgbClr val="000000"/>
                </a:solidFill>
              </a:rPr>
              <a:t>trong chemical odor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-</a:t>
            </a:r>
            <a:r>
              <a:rPr altLang="en-IN" sz="2800" lang="en-US">
                <a:solidFill>
                  <a:srgbClr val="000000"/>
                </a:solidFill>
              </a:rPr>
              <a:t>Environmental Impact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g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ic </a:t>
            </a:r>
            <a:r>
              <a:rPr altLang="en-IN" sz="2800" lang="en-US">
                <a:solidFill>
                  <a:srgbClr val="000000"/>
                </a:solidFill>
              </a:rPr>
              <a:t>Biodegradable, eco-friendly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ical </a:t>
            </a:r>
            <a:r>
              <a:rPr altLang="en-IN" sz="2800" lang="en-US">
                <a:solidFill>
                  <a:srgbClr val="000000"/>
                </a:solidFill>
              </a:rPr>
              <a:t>Can harm aquatic life &amp; beneficial insects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-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Active Ingredients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ganic 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u</a:t>
            </a:r>
            <a:r>
              <a:rPr altLang="en-IN" sz="2800" lang="en-US">
                <a:solidFill>
                  <a:srgbClr val="000000"/>
                </a:solidFill>
              </a:rPr>
              <a:t>ral 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b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ract </a:t>
            </a:r>
            <a:r>
              <a:rPr altLang="en-IN" sz="2800" lang="en-US">
                <a:solidFill>
                  <a:srgbClr val="000000"/>
                </a:solidFill>
              </a:rPr>
              <a:t>,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l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v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abstract 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l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v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oil </a:t>
            </a:r>
            <a:r>
              <a:rPr altLang="en-IN" sz="2800" lang="en-US">
                <a:solidFill>
                  <a:srgbClr val="000000"/>
                </a:solidFill>
              </a:rPr>
              <a:t>(</a:t>
            </a:r>
            <a:r>
              <a:rPr altLang="en-IN" sz="2800" lang="en-US">
                <a:solidFill>
                  <a:srgbClr val="000000"/>
                </a:solidFill>
              </a:rPr>
              <a:t>citronella, eucalyptus</a:t>
            </a:r>
            <a:r>
              <a:rPr altLang="en-IN" sz="2800" lang="en-US">
                <a:solidFill>
                  <a:srgbClr val="000000"/>
                </a:solidFill>
              </a:rPr>
              <a:t>)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ical </a:t>
            </a:r>
            <a:r>
              <a:rPr altLang="en-IN" sz="2800" lang="en-US">
                <a:solidFill>
                  <a:srgbClr val="000000"/>
                </a:solidFill>
              </a:rPr>
              <a:t>DEET, Picaridin, Permethrin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u</a:t>
            </a:r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ical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u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682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86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683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87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684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88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685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686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89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687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90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688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689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91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690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92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691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692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id="93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693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94" name="Group 23"/>
          <p:cNvGrpSpPr/>
          <p:nvPr/>
        </p:nvGrpSpPr>
        <p:grpSpPr>
          <a:xfrm rot="0">
            <a:off x="6057900" y="313601"/>
            <a:ext cx="6566716" cy="547688"/>
            <a:chOff x="0" y="0"/>
            <a:chExt cx="8755621" cy="730250"/>
          </a:xfrm>
        </p:grpSpPr>
        <p:sp>
          <p:nvSpPr>
            <p:cNvPr id="1048694" name="Freeform 24"/>
            <p:cNvSpPr/>
            <p:nvPr/>
          </p:nvSpPr>
          <p:spPr>
            <a:xfrm rot="0" flipH="0" flipV="0">
              <a:off x="0" y="0"/>
              <a:ext cx="8755634" cy="730250"/>
            </a:xfrm>
            <a:custGeom>
              <a:avLst/>
              <a:ahLst/>
              <a:rect l="l" t="t" r="r" b="b"/>
              <a:pathLst>
                <a:path w="8755634" h="730250">
                  <a:moveTo>
                    <a:pt x="0" y="0"/>
                  </a:moveTo>
                  <a:lnTo>
                    <a:pt x="8755634" y="0"/>
                  </a:lnTo>
                  <a:lnTo>
                    <a:pt x="875563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3460" r="0" b="-183460"/>
              </a:stretch>
            </a:blipFill>
          </p:spPr>
        </p:sp>
      </p:grpSp>
      <p:grpSp>
        <p:nvGrpSpPr>
          <p:cNvPr id="95" name="Group 25"/>
          <p:cNvGrpSpPr/>
          <p:nvPr/>
        </p:nvGrpSpPr>
        <p:grpSpPr>
          <a:xfrm rot="0">
            <a:off x="6057900" y="285026"/>
            <a:ext cx="6566716" cy="576262"/>
            <a:chOff x="0" y="0"/>
            <a:chExt cx="8755621" cy="768350"/>
          </a:xfrm>
        </p:grpSpPr>
        <p:sp>
          <p:nvSpPr>
            <p:cNvPr id="1048695" name="Freeform 26"/>
            <p:cNvSpPr/>
            <p:nvPr/>
          </p:nvSpPr>
          <p:spPr>
            <a:xfrm rot="0" flipH="0" flipV="0">
              <a:off x="0" y="0"/>
              <a:ext cx="8755621" cy="768351"/>
            </a:xfrm>
            <a:custGeom>
              <a:avLst/>
              <a:ahLst/>
              <a:rect l="l" t="t" r="r" b="b"/>
              <a:pathLst>
                <a:path w="8755621" h="768351">
                  <a:moveTo>
                    <a:pt x="0" y="0"/>
                  </a:moveTo>
                  <a:lnTo>
                    <a:pt x="8755621" y="0"/>
                  </a:lnTo>
                  <a:lnTo>
                    <a:pt x="8755621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2038" r="0" b="-172038"/>
              </a:stretch>
            </a:blipFill>
          </p:spPr>
        </p:sp>
        <p:sp>
          <p:nvSpPr>
            <p:cNvPr id="1048696" name="TextBox 27"/>
            <p:cNvSpPr txBox="1"/>
            <p:nvPr/>
          </p:nvSpPr>
          <p:spPr>
            <a:xfrm>
              <a:off x="0" y="-38100"/>
              <a:ext cx="8755621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697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698" name="TextBox 29"/>
          <p:cNvSpPr txBox="1"/>
          <p:nvPr/>
        </p:nvSpPr>
        <p:spPr>
          <a:xfrm rot="0">
            <a:off x="767601" y="1262853"/>
            <a:ext cx="16191662" cy="347459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320"/>
              </a:lnSpc>
            </a:pPr>
          </a:p>
          <a:p>
            <a:pPr algn="l">
              <a:lnSpc>
                <a:spcPts val="5759"/>
              </a:lnSpc>
            </a:pPr>
            <a:r>
              <a:rPr b="1" sz="48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1.Aim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prepare an eco-friendly mosquito repellent spray using plant-based ingredients for use in rooms an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ain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altLang="en-IN" sz="3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  <a:endParaRPr altLang="en-US" lang="zh-CN"/>
          </a:p>
          <a:p>
            <a:pPr algn="l">
              <a:lnSpc>
                <a:spcPts val="4320"/>
              </a:lnSpc>
            </a:pPr>
          </a:p>
        </p:txBody>
      </p:sp>
      <p:sp>
        <p:nvSpPr>
          <p:cNvPr id="1048699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706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100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707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01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708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02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709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710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103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711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104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712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713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105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714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06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715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716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id="107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717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108" name="Group 23"/>
          <p:cNvGrpSpPr/>
          <p:nvPr/>
        </p:nvGrpSpPr>
        <p:grpSpPr>
          <a:xfrm rot="0">
            <a:off x="6057900" y="313601"/>
            <a:ext cx="6610969" cy="547688"/>
            <a:chOff x="0" y="0"/>
            <a:chExt cx="8814626" cy="730250"/>
          </a:xfrm>
        </p:grpSpPr>
        <p:sp>
          <p:nvSpPr>
            <p:cNvPr id="1048718" name="Freeform 24"/>
            <p:cNvSpPr/>
            <p:nvPr/>
          </p:nvSpPr>
          <p:spPr>
            <a:xfrm rot="0" flipH="0" flipV="0">
              <a:off x="0" y="0"/>
              <a:ext cx="8814562" cy="730250"/>
            </a:xfrm>
            <a:custGeom>
              <a:avLst/>
              <a:ahLst/>
              <a:rect l="l" t="t" r="r" b="b"/>
              <a:pathLst>
                <a:path w="8814562" h="730250">
                  <a:moveTo>
                    <a:pt x="0" y="0"/>
                  </a:moveTo>
                  <a:lnTo>
                    <a:pt x="8814562" y="0"/>
                  </a:lnTo>
                  <a:lnTo>
                    <a:pt x="8814562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5034" r="0" b="-185033"/>
              </a:stretch>
            </a:blipFill>
          </p:spPr>
        </p:sp>
      </p:grpSp>
      <p:grpSp>
        <p:nvGrpSpPr>
          <p:cNvPr id="109" name="Group 25"/>
          <p:cNvGrpSpPr/>
          <p:nvPr/>
        </p:nvGrpSpPr>
        <p:grpSpPr>
          <a:xfrm rot="0">
            <a:off x="6057900" y="285026"/>
            <a:ext cx="6610969" cy="576262"/>
            <a:chOff x="0" y="0"/>
            <a:chExt cx="8814626" cy="768350"/>
          </a:xfrm>
        </p:grpSpPr>
        <p:sp>
          <p:nvSpPr>
            <p:cNvPr id="1048719" name="Freeform 26"/>
            <p:cNvSpPr/>
            <p:nvPr/>
          </p:nvSpPr>
          <p:spPr>
            <a:xfrm rot="0" flipH="0" flipV="0">
              <a:off x="0" y="0"/>
              <a:ext cx="8814626" cy="768351"/>
            </a:xfrm>
            <a:custGeom>
              <a:avLst/>
              <a:ahLst/>
              <a:rect l="l" t="t" r="r" b="b"/>
              <a:pathLst>
                <a:path w="8814626" h="768351">
                  <a:moveTo>
                    <a:pt x="0" y="0"/>
                  </a:moveTo>
                  <a:lnTo>
                    <a:pt x="8814626" y="0"/>
                  </a:lnTo>
                  <a:lnTo>
                    <a:pt x="8814626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3535" r="0" b="-173535"/>
              </a:stretch>
            </a:blipFill>
          </p:spPr>
        </p:sp>
        <p:sp>
          <p:nvSpPr>
            <p:cNvPr id="1048720" name="TextBox 27"/>
            <p:cNvSpPr txBox="1"/>
            <p:nvPr/>
          </p:nvSpPr>
          <p:spPr>
            <a:xfrm>
              <a:off x="0" y="-38100"/>
              <a:ext cx="8814626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721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722" name="TextBox 29"/>
          <p:cNvSpPr txBox="1"/>
          <p:nvPr/>
        </p:nvSpPr>
        <p:spPr>
          <a:xfrm rot="0">
            <a:off x="1028700" y="1437923"/>
            <a:ext cx="12523803" cy="1025131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528"/>
              </a:lnSpc>
            </a:pPr>
            <a:r>
              <a:rPr b="1" sz="4606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Materials Required</a:t>
            </a:r>
          </a:p>
          <a:p>
            <a:pPr algn="l" indent="-259419" lvl="2" marL="778257">
              <a:lnSpc>
                <a:spcPts val="4423"/>
              </a:lnSpc>
              <a:buFont typeface="Arial"/>
              <a:buChar char="⚬"/>
            </a:pPr>
            <a:r>
              <a:rPr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Fresh neem leaves (25-30 leaves)</a:t>
            </a:r>
          </a:p>
          <a:p>
            <a:pPr algn="l" indent="-259419" lvl="2" marL="778257">
              <a:lnSpc>
                <a:spcPts val="4423"/>
              </a:lnSpc>
              <a:buFont typeface="Arial"/>
              <a:buChar char="⚬"/>
            </a:pPr>
            <a:r>
              <a:rPr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Cloves (10-12 pieces)</a:t>
            </a:r>
          </a:p>
          <a:p>
            <a:pPr algn="l" indent="-259419" lvl="2" marL="778257">
              <a:lnSpc>
                <a:spcPts val="4423"/>
              </a:lnSpc>
              <a:buFont typeface="Arial"/>
              <a:buChar char="⚬"/>
            </a:pPr>
            <a:r>
              <a:rPr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Lavander </a:t>
            </a: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endParaRPr altLang="en-US" lang="zh-CN"/>
          </a:p>
          <a:p>
            <a:pPr algn="l" indent="-259419" lvl="2" marL="778257">
              <a:lnSpc>
                <a:spcPts val="4423"/>
              </a:lnSpc>
              <a:buFont typeface="Arial"/>
              <a:buChar char="⚬"/>
            </a:pPr>
            <a:r>
              <a:rPr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Distilled Water (200 ml)</a:t>
            </a:r>
          </a:p>
          <a:p>
            <a:pPr algn="l" indent="-259419" lvl="2" marL="778257">
              <a:lnSpc>
                <a:spcPts val="4423"/>
              </a:lnSpc>
              <a:buFont typeface="Arial"/>
              <a:buChar char="⚬"/>
            </a:pP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altLang="en-IN"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ol </a:t>
            </a:r>
            <a:r>
              <a:rPr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(20-30 ml) (helps quick evaporation &amp; preservation)</a:t>
            </a:r>
            <a:endParaRPr altLang="en-US" lang="zh-CN"/>
          </a:p>
          <a:p>
            <a:pPr algn="l" indent="-259419" lvl="2" marL="778257">
              <a:lnSpc>
                <a:spcPts val="4423"/>
              </a:lnSpc>
              <a:buFont typeface="Arial"/>
              <a:buChar char="⚬"/>
            </a:pPr>
            <a:r>
              <a:rPr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Spray bottle (preferably dark –colored)</a:t>
            </a:r>
          </a:p>
          <a:p>
            <a:pPr algn="l" indent="-259419" lvl="2" marL="778257">
              <a:lnSpc>
                <a:spcPts val="4423"/>
              </a:lnSpc>
              <a:buFont typeface="Arial"/>
              <a:buChar char="⚬"/>
            </a:pPr>
            <a:r>
              <a:rPr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Saucepan / beaker</a:t>
            </a:r>
          </a:p>
          <a:p>
            <a:pPr algn="l" indent="-259419" lvl="2" marL="778257">
              <a:lnSpc>
                <a:spcPts val="4423"/>
              </a:lnSpc>
              <a:buFont typeface="Arial"/>
              <a:buChar char="⚬"/>
            </a:pPr>
            <a:r>
              <a:rPr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Filter cloth or filter paper</a:t>
            </a:r>
          </a:p>
          <a:p>
            <a:pPr algn="l" indent="-259419" lvl="2" marL="778257">
              <a:lnSpc>
                <a:spcPts val="4423"/>
              </a:lnSpc>
              <a:buFont typeface="Arial"/>
              <a:buChar char="⚬"/>
            </a:pPr>
            <a:r>
              <a:rPr sz="3686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Mortar &amp; pestle ( for crushing cloves)</a:t>
            </a:r>
          </a:p>
          <a:p>
            <a:pPr algn="l" indent="-259419" lvl="2" marL="778257">
              <a:lnSpc>
                <a:spcPts val="4423"/>
              </a:lnSpc>
            </a:pPr>
          </a:p>
          <a:p>
            <a:pPr algn="l" indent="-259419" lvl="2" marL="778257">
              <a:lnSpc>
                <a:spcPts val="4423"/>
              </a:lnSpc>
            </a:pPr>
          </a:p>
          <a:p>
            <a:pPr algn="l" indent="-259419" lvl="2" marL="778257">
              <a:lnSpc>
                <a:spcPts val="4423"/>
              </a:lnSpc>
            </a:pPr>
          </a:p>
          <a:p>
            <a:pPr algn="l" indent="-259419" lvl="2" marL="778257">
              <a:lnSpc>
                <a:spcPts val="4423"/>
              </a:lnSpc>
            </a:pPr>
          </a:p>
          <a:p>
            <a:pPr algn="l" indent="-259419" lvl="2" marL="778257">
              <a:lnSpc>
                <a:spcPts val="4423"/>
              </a:lnSpc>
            </a:pPr>
          </a:p>
          <a:p>
            <a:pPr algn="l" indent="-259419" lvl="2" marL="778257">
              <a:lnSpc>
                <a:spcPts val="4423"/>
              </a:lnSpc>
            </a:pPr>
          </a:p>
          <a:p>
            <a:pPr algn="l" indent="-259419" lvl="2" marL="778257">
              <a:lnSpc>
                <a:spcPts val="4423"/>
              </a:lnSpc>
            </a:pPr>
          </a:p>
        </p:txBody>
      </p:sp>
      <p:sp>
        <p:nvSpPr>
          <p:cNvPr id="1048723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730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114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731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15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732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16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733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734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117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735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118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736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737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119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738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20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739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740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id="121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741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122" name="Group 23"/>
          <p:cNvGrpSpPr/>
          <p:nvPr/>
        </p:nvGrpSpPr>
        <p:grpSpPr>
          <a:xfrm rot="0">
            <a:off x="6057900" y="313601"/>
            <a:ext cx="6566716" cy="547688"/>
            <a:chOff x="0" y="0"/>
            <a:chExt cx="8755621" cy="730250"/>
          </a:xfrm>
        </p:grpSpPr>
        <p:sp>
          <p:nvSpPr>
            <p:cNvPr id="1048742" name="Freeform 24"/>
            <p:cNvSpPr/>
            <p:nvPr/>
          </p:nvSpPr>
          <p:spPr>
            <a:xfrm rot="0" flipH="0" flipV="0">
              <a:off x="0" y="0"/>
              <a:ext cx="8755634" cy="730250"/>
            </a:xfrm>
            <a:custGeom>
              <a:avLst/>
              <a:ahLst/>
              <a:rect l="l" t="t" r="r" b="b"/>
              <a:pathLst>
                <a:path w="8755634" h="730250">
                  <a:moveTo>
                    <a:pt x="0" y="0"/>
                  </a:moveTo>
                  <a:lnTo>
                    <a:pt x="8755634" y="0"/>
                  </a:lnTo>
                  <a:lnTo>
                    <a:pt x="875563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3460" r="0" b="-183460"/>
              </a:stretch>
            </a:blipFill>
          </p:spPr>
        </p:sp>
      </p:grpSp>
      <p:grpSp>
        <p:nvGrpSpPr>
          <p:cNvPr id="123" name="Group 25"/>
          <p:cNvGrpSpPr/>
          <p:nvPr/>
        </p:nvGrpSpPr>
        <p:grpSpPr>
          <a:xfrm rot="0">
            <a:off x="6057900" y="285026"/>
            <a:ext cx="6566716" cy="576262"/>
            <a:chOff x="0" y="0"/>
            <a:chExt cx="8755621" cy="768350"/>
          </a:xfrm>
        </p:grpSpPr>
        <p:sp>
          <p:nvSpPr>
            <p:cNvPr id="1048743" name="Freeform 26"/>
            <p:cNvSpPr/>
            <p:nvPr/>
          </p:nvSpPr>
          <p:spPr>
            <a:xfrm rot="0" flipH="0" flipV="0">
              <a:off x="0" y="0"/>
              <a:ext cx="8755621" cy="768351"/>
            </a:xfrm>
            <a:custGeom>
              <a:avLst/>
              <a:ahLst/>
              <a:rect l="l" t="t" r="r" b="b"/>
              <a:pathLst>
                <a:path w="8755621" h="768351">
                  <a:moveTo>
                    <a:pt x="0" y="0"/>
                  </a:moveTo>
                  <a:lnTo>
                    <a:pt x="8755621" y="0"/>
                  </a:lnTo>
                  <a:lnTo>
                    <a:pt x="8755621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2038" r="0" b="-172038"/>
              </a:stretch>
            </a:blipFill>
          </p:spPr>
        </p:sp>
        <p:sp>
          <p:nvSpPr>
            <p:cNvPr id="1048744" name="TextBox 27"/>
            <p:cNvSpPr txBox="1"/>
            <p:nvPr/>
          </p:nvSpPr>
          <p:spPr>
            <a:xfrm>
              <a:off x="0" y="-38100"/>
              <a:ext cx="8755621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745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746" name="TextBox 29"/>
          <p:cNvSpPr txBox="1"/>
          <p:nvPr/>
        </p:nvSpPr>
        <p:spPr>
          <a:xfrm rot="21600000">
            <a:off x="361050" y="1764298"/>
            <a:ext cx="16308600" cy="1024128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7200"/>
              </a:lnSpc>
            </a:pPr>
            <a:r>
              <a:rPr b="1" sz="6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Preparation of Extracts	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 : Neem Extracts</a:t>
            </a:r>
          </a:p>
          <a:p>
            <a:pPr algn="l" indent="-253365" lvl="2" marL="760095">
              <a:lnSpc>
                <a:spcPts val="4320"/>
              </a:lnSpc>
              <a:buFont typeface="Arial"/>
              <a:buChar char="⚬"/>
            </a:pPr>
            <a:r>
              <a:rPr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Wash neem leaves thoroughly.</a:t>
            </a:r>
          </a:p>
          <a:p>
            <a:pPr algn="l" indent="-253365" lvl="2" marL="760095">
              <a:lnSpc>
                <a:spcPts val="4320"/>
              </a:lnSpc>
              <a:buFont typeface="Arial"/>
              <a:buChar char="⚬"/>
            </a:pPr>
            <a:r>
              <a:rPr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Boil in 100 ml distilled water for 15 minutes</a:t>
            </a:r>
          </a:p>
          <a:p>
            <a:pPr algn="l" indent="-253365" lvl="2" marL="760095">
              <a:lnSpc>
                <a:spcPts val="4320"/>
              </a:lnSpc>
              <a:buFont typeface="Arial"/>
              <a:buChar char="⚬"/>
            </a:pPr>
            <a:r>
              <a:rPr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 and filter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altLang="en-IN"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collect  clear neem extract</a:t>
            </a:r>
            <a:endParaRPr altLang="en-US" lang="zh-CN"/>
          </a:p>
          <a:p>
            <a:pPr algn="l" indent="-253365" lvl="2" marL="760095">
              <a:lnSpc>
                <a:spcPts val="4320"/>
              </a:lnSpc>
            </a:pPr>
          </a:p>
          <a:p>
            <a:pPr algn="l" indent="-253365" lvl="2" marL="760095">
              <a:lnSpc>
                <a:spcPts val="4320"/>
              </a:lnSpc>
            </a:pPr>
            <a:r>
              <a:rPr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 : Clove Extract</a:t>
            </a:r>
          </a:p>
          <a:p>
            <a:pPr algn="l" indent="-253365" lvl="2" marL="760095">
              <a:lnSpc>
                <a:spcPts val="4320"/>
              </a:lnSpc>
              <a:buFont typeface="Arial"/>
              <a:buChar char="⚬"/>
            </a:pPr>
            <a:r>
              <a:rPr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Crush cloves lightly to release oil (eugenol)</a:t>
            </a:r>
          </a:p>
          <a:p>
            <a:pPr algn="l" indent="-253365" lvl="2" marL="760095">
              <a:lnSpc>
                <a:spcPts val="4320"/>
              </a:lnSpc>
              <a:buFont typeface="Arial"/>
              <a:buChar char="⚬"/>
            </a:pPr>
            <a:r>
              <a:rPr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Boil in 50 ml water for </a:t>
            </a:r>
            <a:r>
              <a:rPr b="1" sz="3600" lang="en-US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10 minutes</a:t>
            </a:r>
          </a:p>
          <a:p>
            <a:pPr algn="l" indent="-253365" lvl="2" marL="760095">
              <a:lnSpc>
                <a:spcPts val="4320"/>
              </a:lnSpc>
              <a:buFont typeface="Arial"/>
              <a:buChar char="⚬"/>
            </a:pPr>
            <a:r>
              <a:rPr sz="360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 and filter 		  obtain clove extract.</a:t>
            </a:r>
          </a:p>
          <a:p>
            <a:pPr algn="l" indent="-253365" lvl="2" marL="760095">
              <a:lnSpc>
                <a:spcPts val="4320"/>
              </a:lnSpc>
            </a:pPr>
          </a:p>
          <a:p>
            <a:pPr algn="l" indent="-253365" lvl="2" marL="760095">
              <a:lnSpc>
                <a:spcPts val="4320"/>
              </a:lnSpc>
            </a:pPr>
          </a:p>
          <a:p>
            <a:pPr algn="l" indent="-253365" lvl="2" marL="760095">
              <a:lnSpc>
                <a:spcPts val="4320"/>
              </a:lnSpc>
            </a:pPr>
          </a:p>
          <a:p>
            <a:pPr algn="l" indent="-253365" lvl="2" marL="760095">
              <a:lnSpc>
                <a:spcPts val="4320"/>
              </a:lnSpc>
            </a:pPr>
          </a:p>
          <a:p>
            <a:pPr algn="l" indent="-253365" lvl="2" marL="760095">
              <a:lnSpc>
                <a:spcPts val="4320"/>
              </a:lnSpc>
            </a:pPr>
          </a:p>
          <a:p>
            <a:pPr algn="l" indent="-253365" lvl="2" marL="760095">
              <a:lnSpc>
                <a:spcPts val="4320"/>
              </a:lnSpc>
            </a:pPr>
          </a:p>
          <a:p>
            <a:pPr algn="l" indent="-253365" lvl="2" marL="760095">
              <a:lnSpc>
                <a:spcPts val="4320"/>
              </a:lnSpc>
            </a:pPr>
          </a:p>
        </p:txBody>
      </p:sp>
      <p:sp>
        <p:nvSpPr>
          <p:cNvPr id="1048747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  <p:sp>
        <p:nvSpPr>
          <p:cNvPr id="1048748" name="Freeform 31"/>
          <p:cNvSpPr/>
          <p:nvPr/>
        </p:nvSpPr>
        <p:spPr>
          <a:xfrm rot="0" flipH="0" flipV="1">
            <a:off x="4024678" y="4878982"/>
            <a:ext cx="964576" cy="264518"/>
          </a:xfrm>
          <a:custGeom>
            <a:avLst/>
            <a:ahLst/>
            <a:rect l="l" t="t" r="r" b="b"/>
            <a:pathLst>
              <a:path w="1239393" h="339881">
                <a:moveTo>
                  <a:pt x="0" y="0"/>
                </a:moveTo>
                <a:lnTo>
                  <a:pt x="1239393" y="0"/>
                </a:lnTo>
                <a:lnTo>
                  <a:pt x="1239393" y="339881"/>
                </a:lnTo>
                <a:lnTo>
                  <a:pt x="0" y="3398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749" name="Freeform 32"/>
          <p:cNvSpPr/>
          <p:nvPr/>
        </p:nvSpPr>
        <p:spPr>
          <a:xfrm rot="0" flipH="0" flipV="0">
            <a:off x="4506966" y="8023599"/>
            <a:ext cx="865134" cy="254981"/>
          </a:xfrm>
          <a:custGeom>
            <a:avLst/>
            <a:ahLst/>
            <a:rect l="l" t="t" r="r" b="b"/>
            <a:pathLst>
              <a:path w="1406947" h="414671">
                <a:moveTo>
                  <a:pt x="0" y="0"/>
                </a:moveTo>
                <a:lnTo>
                  <a:pt x="1406947" y="0"/>
                </a:lnTo>
                <a:lnTo>
                  <a:pt x="1406947" y="414670"/>
                </a:lnTo>
                <a:lnTo>
                  <a:pt x="0" y="41467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756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128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757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29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758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30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759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760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131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761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132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762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763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133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764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34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765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766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id="135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767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136" name="Group 23"/>
          <p:cNvGrpSpPr/>
          <p:nvPr/>
        </p:nvGrpSpPr>
        <p:grpSpPr>
          <a:xfrm rot="0">
            <a:off x="6057900" y="313601"/>
            <a:ext cx="6625714" cy="547688"/>
            <a:chOff x="0" y="0"/>
            <a:chExt cx="8834285" cy="730250"/>
          </a:xfrm>
        </p:grpSpPr>
        <p:sp>
          <p:nvSpPr>
            <p:cNvPr id="1048768" name="Freeform 24"/>
            <p:cNvSpPr/>
            <p:nvPr/>
          </p:nvSpPr>
          <p:spPr>
            <a:xfrm rot="0" flipH="0" flipV="0">
              <a:off x="0" y="0"/>
              <a:ext cx="8834247" cy="730250"/>
            </a:xfrm>
            <a:custGeom>
              <a:avLst/>
              <a:ahLst/>
              <a:rect l="l" t="t" r="r" b="b"/>
              <a:pathLst>
                <a:path w="8834247" h="730250">
                  <a:moveTo>
                    <a:pt x="0" y="0"/>
                  </a:moveTo>
                  <a:lnTo>
                    <a:pt x="8834247" y="0"/>
                  </a:lnTo>
                  <a:lnTo>
                    <a:pt x="8834247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5558" r="0" b="-185558"/>
              </a:stretch>
            </a:blipFill>
          </p:spPr>
        </p:sp>
      </p:grpSp>
      <p:grpSp>
        <p:nvGrpSpPr>
          <p:cNvPr id="137" name="Group 25"/>
          <p:cNvGrpSpPr/>
          <p:nvPr/>
        </p:nvGrpSpPr>
        <p:grpSpPr>
          <a:xfrm rot="0">
            <a:off x="6057900" y="285026"/>
            <a:ext cx="6625714" cy="576262"/>
            <a:chOff x="0" y="0"/>
            <a:chExt cx="8834285" cy="768350"/>
          </a:xfrm>
        </p:grpSpPr>
        <p:sp>
          <p:nvSpPr>
            <p:cNvPr id="1048769" name="Freeform 26"/>
            <p:cNvSpPr/>
            <p:nvPr/>
          </p:nvSpPr>
          <p:spPr>
            <a:xfrm rot="0" flipH="0" flipV="0">
              <a:off x="0" y="0"/>
              <a:ext cx="8834286" cy="768351"/>
            </a:xfrm>
            <a:custGeom>
              <a:avLst/>
              <a:ahLst/>
              <a:rect l="l" t="t" r="r" b="b"/>
              <a:pathLst>
                <a:path w="8834286" h="768351">
                  <a:moveTo>
                    <a:pt x="0" y="0"/>
                  </a:moveTo>
                  <a:lnTo>
                    <a:pt x="8834286" y="0"/>
                  </a:lnTo>
                  <a:lnTo>
                    <a:pt x="8834286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4033" r="0" b="-174033"/>
              </a:stretch>
            </a:blipFill>
          </p:spPr>
        </p:sp>
        <p:sp>
          <p:nvSpPr>
            <p:cNvPr id="1048770" name="TextBox 27"/>
            <p:cNvSpPr txBox="1"/>
            <p:nvPr/>
          </p:nvSpPr>
          <p:spPr>
            <a:xfrm>
              <a:off x="0" y="-38100"/>
              <a:ext cx="8834285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771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772" name="TextBox 29"/>
          <p:cNvSpPr txBox="1"/>
          <p:nvPr/>
        </p:nvSpPr>
        <p:spPr>
          <a:xfrm rot="0">
            <a:off x="767601" y="1224753"/>
            <a:ext cx="16912771" cy="804532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759"/>
              </a:lnSpc>
            </a:pPr>
            <a:r>
              <a:rPr b="1" sz="48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4 : Lavender </a:t>
            </a:r>
            <a:endParaRPr altLang="en-US" lang="zh-CN"/>
          </a:p>
          <a:p>
            <a:pPr algn="l">
              <a:lnSpc>
                <a:spcPts val="5759"/>
              </a:lnSpc>
            </a:pPr>
          </a:p>
          <a:p>
            <a:pPr algn="l" indent="-337820" lvl="2" marL="1013460">
              <a:lnSpc>
                <a:spcPts val="5759"/>
              </a:lnSpc>
              <a:buFont typeface="Arial"/>
              <a:buChar char="⚬"/>
            </a:pPr>
            <a:r>
              <a:rPr sz="48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lavender </a:t>
            </a:r>
          </a:p>
          <a:p>
            <a:pPr algn="l" indent="-337820" lvl="2" marL="1013460">
              <a:lnSpc>
                <a:spcPts val="5759"/>
              </a:lnSpc>
              <a:buFont typeface="Arial"/>
              <a:buChar char="⚬"/>
            </a:pPr>
            <a:r>
              <a:rPr sz="48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Cover and steep for </a:t>
            </a:r>
            <a:r>
              <a:rPr b="1" sz="48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10-15 minutes</a:t>
            </a:r>
          </a:p>
          <a:p>
            <a:pPr algn="l" indent="-337820" lvl="2" marL="1013460">
              <a:lnSpc>
                <a:spcPts val="5759"/>
              </a:lnSpc>
              <a:buFont typeface="Arial"/>
              <a:buChar char="⚬"/>
            </a:pPr>
            <a:r>
              <a:rPr sz="48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Filter   	      collect aromatic extract</a:t>
            </a:r>
          </a:p>
          <a:p>
            <a:pPr algn="l" indent="-337820" lvl="2" marL="1013460">
              <a:lnSpc>
                <a:spcPts val="5759"/>
              </a:lnSpc>
            </a:pPr>
          </a:p>
          <a:p>
            <a:pPr algn="l" indent="-337820" lvl="2" marL="1013460">
              <a:lnSpc>
                <a:spcPts val="5759"/>
              </a:lnSpc>
            </a:pPr>
          </a:p>
          <a:p>
            <a:pPr algn="l" indent="-337820" lvl="2" marL="1013460">
              <a:lnSpc>
                <a:spcPts val="5759"/>
              </a:lnSpc>
            </a:pPr>
          </a:p>
          <a:p>
            <a:pPr algn="l" indent="-337820" lvl="2" marL="1013460">
              <a:lnSpc>
                <a:spcPts val="5759"/>
              </a:lnSpc>
            </a:pPr>
          </a:p>
          <a:p>
            <a:pPr algn="l" indent="-337820" lvl="2" marL="1013460">
              <a:lnSpc>
                <a:spcPts val="5759"/>
              </a:lnSpc>
            </a:pPr>
          </a:p>
          <a:p>
            <a:pPr algn="l" indent="-337820" lvl="2" marL="1013460">
              <a:lnSpc>
                <a:spcPts val="5759"/>
              </a:lnSpc>
            </a:pPr>
          </a:p>
        </p:txBody>
      </p:sp>
      <p:sp>
        <p:nvSpPr>
          <p:cNvPr id="1048773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  <p:sp>
        <p:nvSpPr>
          <p:cNvPr id="1048774" name="Freeform 31"/>
          <p:cNvSpPr/>
          <p:nvPr/>
        </p:nvSpPr>
        <p:spPr>
          <a:xfrm rot="0" flipH="0" flipV="0">
            <a:off x="3729138" y="4395510"/>
            <a:ext cx="1125283" cy="365312"/>
          </a:xfrm>
          <a:custGeom>
            <a:avLst/>
            <a:ahLst/>
            <a:rect l="l" t="t" r="r" b="b"/>
            <a:pathLst>
              <a:path w="1125283" h="365312">
                <a:moveTo>
                  <a:pt x="0" y="0"/>
                </a:moveTo>
                <a:lnTo>
                  <a:pt x="1125284" y="0"/>
                </a:lnTo>
                <a:lnTo>
                  <a:pt x="1125284" y="365313"/>
                </a:lnTo>
                <a:lnTo>
                  <a:pt x="0" y="36531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781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142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782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43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783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44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784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785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145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786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146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787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788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147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789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48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790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791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id="149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792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150" name="Group 23"/>
          <p:cNvGrpSpPr/>
          <p:nvPr/>
        </p:nvGrpSpPr>
        <p:grpSpPr>
          <a:xfrm rot="0">
            <a:off x="6057900" y="313601"/>
            <a:ext cx="6699456" cy="547688"/>
            <a:chOff x="0" y="0"/>
            <a:chExt cx="8932608" cy="730250"/>
          </a:xfrm>
        </p:grpSpPr>
        <p:sp>
          <p:nvSpPr>
            <p:cNvPr id="1048793" name="Freeform 24"/>
            <p:cNvSpPr/>
            <p:nvPr/>
          </p:nvSpPr>
          <p:spPr>
            <a:xfrm rot="0" flipH="0" flipV="0">
              <a:off x="0" y="0"/>
              <a:ext cx="8932545" cy="730250"/>
            </a:xfrm>
            <a:custGeom>
              <a:avLst/>
              <a:ahLst/>
              <a:rect l="l" t="t" r="r" b="b"/>
              <a:pathLst>
                <a:path w="8932545" h="730250">
                  <a:moveTo>
                    <a:pt x="0" y="0"/>
                  </a:moveTo>
                  <a:lnTo>
                    <a:pt x="8932545" y="0"/>
                  </a:lnTo>
                  <a:lnTo>
                    <a:pt x="8932545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8180" r="0" b="-188179"/>
              </a:stretch>
            </a:blipFill>
          </p:spPr>
        </p:sp>
      </p:grpSp>
      <p:grpSp>
        <p:nvGrpSpPr>
          <p:cNvPr id="151" name="Group 25"/>
          <p:cNvGrpSpPr/>
          <p:nvPr/>
        </p:nvGrpSpPr>
        <p:grpSpPr>
          <a:xfrm rot="0">
            <a:off x="6057900" y="285026"/>
            <a:ext cx="6699456" cy="576262"/>
            <a:chOff x="0" y="0"/>
            <a:chExt cx="8932608" cy="768350"/>
          </a:xfrm>
        </p:grpSpPr>
        <p:sp>
          <p:nvSpPr>
            <p:cNvPr id="1048794" name="Freeform 26"/>
            <p:cNvSpPr/>
            <p:nvPr/>
          </p:nvSpPr>
          <p:spPr>
            <a:xfrm rot="0" flipH="0" flipV="0">
              <a:off x="0" y="0"/>
              <a:ext cx="8932608" cy="768351"/>
            </a:xfrm>
            <a:custGeom>
              <a:avLst/>
              <a:ahLst/>
              <a:rect l="l" t="t" r="r" b="b"/>
              <a:pathLst>
                <a:path w="8932608" h="768351">
                  <a:moveTo>
                    <a:pt x="0" y="0"/>
                  </a:moveTo>
                  <a:lnTo>
                    <a:pt x="8932608" y="0"/>
                  </a:lnTo>
                  <a:lnTo>
                    <a:pt x="8932608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6527" r="0" b="-176527"/>
              </a:stretch>
            </a:blipFill>
          </p:spPr>
        </p:sp>
        <p:sp>
          <p:nvSpPr>
            <p:cNvPr id="1048795" name="TextBox 27"/>
            <p:cNvSpPr txBox="1"/>
            <p:nvPr/>
          </p:nvSpPr>
          <p:spPr>
            <a:xfrm>
              <a:off x="0" y="-38100"/>
              <a:ext cx="8932608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796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797" name="TextBox 29"/>
          <p:cNvSpPr txBox="1"/>
          <p:nvPr/>
        </p:nvSpPr>
        <p:spPr>
          <a:xfrm rot="0">
            <a:off x="767601" y="1167603"/>
            <a:ext cx="16308600" cy="1042416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480"/>
              </a:lnSpc>
            </a:pPr>
            <a:r>
              <a:rPr b="1" sz="54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: Preparation of Spray Solution</a:t>
            </a:r>
          </a:p>
          <a:p>
            <a:pPr algn="l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  <a:buFont typeface="Arial"/>
              <a:buChar char="⚬"/>
            </a:pP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Take a clean beaker and mix :   </a:t>
            </a:r>
          </a:p>
          <a:p>
            <a:pPr algn="l" indent="-295592" lvl="2" marL="886777">
              <a:lnSpc>
                <a:spcPts val="5040"/>
              </a:lnSpc>
            </a:pP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* 80 ml neem extract</a:t>
            </a:r>
          </a:p>
          <a:p>
            <a:pPr algn="l" indent="-295592" lvl="2" marL="886777">
              <a:lnSpc>
                <a:spcPts val="5040"/>
              </a:lnSpc>
            </a:pP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* 40 ml clove extract</a:t>
            </a:r>
          </a:p>
          <a:p>
            <a:pPr algn="l" indent="-295592" lvl="2" marL="886777">
              <a:lnSpc>
                <a:spcPts val="5040"/>
              </a:lnSpc>
            </a:pP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* 40 ml lavender 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endParaRPr altLang="en-US" lang="zh-CN"/>
          </a:p>
          <a:p>
            <a:pPr algn="l" indent="-295592" lvl="2" marL="886777">
              <a:lnSpc>
                <a:spcPts val="5040"/>
              </a:lnSpc>
            </a:pP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Add :</a:t>
            </a:r>
          </a:p>
          <a:p>
            <a:pPr algn="l" indent="-295592" lvl="2" marL="886777">
              <a:lnSpc>
                <a:spcPts val="5040"/>
              </a:lnSpc>
            </a:pP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* 20  - 30 ml 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altLang="en-IN"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(acts a preservative &amp; helps spraying)</a:t>
            </a:r>
            <a:endParaRPr altLang="en-US" lang="zh-CN"/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</p:txBody>
      </p:sp>
      <p:sp>
        <p:nvSpPr>
          <p:cNvPr id="1048798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805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156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806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57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807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58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808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809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159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810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160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811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812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161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813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62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814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815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id="163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816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164" name="Group 23"/>
          <p:cNvGrpSpPr/>
          <p:nvPr/>
        </p:nvGrpSpPr>
        <p:grpSpPr>
          <a:xfrm rot="0">
            <a:off x="6057900" y="313601"/>
            <a:ext cx="6640459" cy="547688"/>
            <a:chOff x="0" y="0"/>
            <a:chExt cx="8853945" cy="730250"/>
          </a:xfrm>
        </p:grpSpPr>
        <p:sp>
          <p:nvSpPr>
            <p:cNvPr id="1048817" name="Freeform 24"/>
            <p:cNvSpPr/>
            <p:nvPr/>
          </p:nvSpPr>
          <p:spPr>
            <a:xfrm rot="0" flipH="0" flipV="0">
              <a:off x="0" y="0"/>
              <a:ext cx="8853932" cy="730250"/>
            </a:xfrm>
            <a:custGeom>
              <a:avLst/>
              <a:ahLst/>
              <a:rect l="l" t="t" r="r" b="b"/>
              <a:pathLst>
                <a:path w="8853932" h="730250">
                  <a:moveTo>
                    <a:pt x="0" y="0"/>
                  </a:moveTo>
                  <a:lnTo>
                    <a:pt x="8853932" y="0"/>
                  </a:lnTo>
                  <a:lnTo>
                    <a:pt x="8853932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6083" r="0" b="-186081"/>
              </a:stretch>
            </a:blipFill>
          </p:spPr>
        </p:sp>
      </p:grpSp>
      <p:grpSp>
        <p:nvGrpSpPr>
          <p:cNvPr id="165" name="Group 25"/>
          <p:cNvGrpSpPr/>
          <p:nvPr/>
        </p:nvGrpSpPr>
        <p:grpSpPr>
          <a:xfrm rot="0">
            <a:off x="6057900" y="285026"/>
            <a:ext cx="6640459" cy="576262"/>
            <a:chOff x="0" y="0"/>
            <a:chExt cx="8853945" cy="768350"/>
          </a:xfrm>
        </p:grpSpPr>
        <p:sp>
          <p:nvSpPr>
            <p:cNvPr id="1048818" name="Freeform 26"/>
            <p:cNvSpPr/>
            <p:nvPr/>
          </p:nvSpPr>
          <p:spPr>
            <a:xfrm rot="0" flipH="0" flipV="0">
              <a:off x="0" y="0"/>
              <a:ext cx="8853946" cy="768351"/>
            </a:xfrm>
            <a:custGeom>
              <a:avLst/>
              <a:ahLst/>
              <a:rect l="l" t="t" r="r" b="b"/>
              <a:pathLst>
                <a:path w="8853946" h="768351">
                  <a:moveTo>
                    <a:pt x="0" y="0"/>
                  </a:moveTo>
                  <a:lnTo>
                    <a:pt x="8853946" y="0"/>
                  </a:lnTo>
                  <a:lnTo>
                    <a:pt x="8853946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4532" r="0" b="-174532"/>
              </a:stretch>
            </a:blipFill>
          </p:spPr>
        </p:sp>
        <p:sp>
          <p:nvSpPr>
            <p:cNvPr id="1048819" name="TextBox 27"/>
            <p:cNvSpPr txBox="1"/>
            <p:nvPr/>
          </p:nvSpPr>
          <p:spPr>
            <a:xfrm>
              <a:off x="0" y="-38100"/>
              <a:ext cx="8853945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820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821" name="TextBox 29"/>
          <p:cNvSpPr txBox="1"/>
          <p:nvPr/>
        </p:nvSpPr>
        <p:spPr>
          <a:xfrm rot="0">
            <a:off x="767601" y="1167603"/>
            <a:ext cx="16308600" cy="905255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480"/>
              </a:lnSpc>
            </a:pPr>
            <a:r>
              <a:rPr b="1" sz="54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Application</a:t>
            </a:r>
          </a:p>
          <a:p>
            <a:pPr algn="l">
              <a:lnSpc>
                <a:spcPts val="6480"/>
              </a:lnSpc>
            </a:pPr>
          </a:p>
          <a:p>
            <a:pPr algn="l">
              <a:lnSpc>
                <a:spcPts val="6480"/>
              </a:lnSpc>
            </a:pPr>
            <a:r>
              <a:rPr sz="54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Room spray</a:t>
            </a:r>
          </a:p>
          <a:p>
            <a:pPr algn="l" indent="-380048" lvl="2" marL="1140143">
              <a:lnSpc>
                <a:spcPts val="6480"/>
              </a:lnSpc>
              <a:buFont typeface="Arial"/>
              <a:buChar char="⚬"/>
            </a:pPr>
            <a:r>
              <a:rPr sz="54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Spray in corners, under furniture, curtains, and near windows</a:t>
            </a:r>
          </a:p>
          <a:p>
            <a:pPr algn="l" indent="-380048" lvl="2" marL="1140143">
              <a:lnSpc>
                <a:spcPts val="6480"/>
              </a:lnSpc>
              <a:buFont typeface="Arial"/>
              <a:buChar char="⚬"/>
            </a:pPr>
            <a:r>
              <a:rPr sz="54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</a:t>
            </a:r>
            <a:r>
              <a:rPr b="1" sz="54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2-3 times daily,</a:t>
            </a:r>
            <a:r>
              <a:rPr sz="54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especially in evening </a:t>
            </a:r>
          </a:p>
          <a:p>
            <a:pPr algn="l" indent="-380048" lvl="2" marL="1140143">
              <a:lnSpc>
                <a:spcPts val="6480"/>
              </a:lnSpc>
            </a:pPr>
          </a:p>
          <a:p>
            <a:pPr algn="l" indent="-380048" lvl="2" marL="1140143">
              <a:lnSpc>
                <a:spcPts val="6480"/>
              </a:lnSpc>
            </a:pPr>
          </a:p>
          <a:p>
            <a:pPr algn="l" indent="-380048" lvl="2" marL="1140143">
              <a:lnSpc>
                <a:spcPts val="6480"/>
              </a:lnSpc>
            </a:pPr>
          </a:p>
          <a:p>
            <a:pPr algn="l" indent="-380048" lvl="2" marL="1140143">
              <a:lnSpc>
                <a:spcPts val="6480"/>
              </a:lnSpc>
            </a:pPr>
          </a:p>
          <a:p>
            <a:pPr algn="l" indent="-380048" lvl="2" marL="1140143">
              <a:lnSpc>
                <a:spcPts val="6480"/>
              </a:lnSpc>
            </a:pPr>
          </a:p>
        </p:txBody>
      </p:sp>
      <p:sp>
        <p:nvSpPr>
          <p:cNvPr id="1048822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829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170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830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71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831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72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832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833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173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834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174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835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836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175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837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76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838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839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id="177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840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178" name="Group 23"/>
          <p:cNvGrpSpPr/>
          <p:nvPr/>
        </p:nvGrpSpPr>
        <p:grpSpPr>
          <a:xfrm rot="0">
            <a:off x="6057900" y="313601"/>
            <a:ext cx="6596215" cy="547688"/>
            <a:chOff x="0" y="0"/>
            <a:chExt cx="8794953" cy="730250"/>
          </a:xfrm>
        </p:grpSpPr>
        <p:sp>
          <p:nvSpPr>
            <p:cNvPr id="1048841" name="Freeform 24"/>
            <p:cNvSpPr/>
            <p:nvPr/>
          </p:nvSpPr>
          <p:spPr>
            <a:xfrm rot="0" flipH="0" flipV="0">
              <a:off x="0" y="0"/>
              <a:ext cx="8795004" cy="730250"/>
            </a:xfrm>
            <a:custGeom>
              <a:avLst/>
              <a:ahLst/>
              <a:rect l="l" t="t" r="r" b="b"/>
              <a:pathLst>
                <a:path w="8795004" h="730250">
                  <a:moveTo>
                    <a:pt x="0" y="0"/>
                  </a:moveTo>
                  <a:lnTo>
                    <a:pt x="8795004" y="0"/>
                  </a:lnTo>
                  <a:lnTo>
                    <a:pt x="879500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4509" r="0" b="-184509"/>
              </a:stretch>
            </a:blipFill>
          </p:spPr>
        </p:sp>
      </p:grpSp>
      <p:grpSp>
        <p:nvGrpSpPr>
          <p:cNvPr id="179" name="Group 25"/>
          <p:cNvGrpSpPr/>
          <p:nvPr/>
        </p:nvGrpSpPr>
        <p:grpSpPr>
          <a:xfrm rot="0">
            <a:off x="6057900" y="285026"/>
            <a:ext cx="6596215" cy="576262"/>
            <a:chOff x="0" y="0"/>
            <a:chExt cx="8794953" cy="768350"/>
          </a:xfrm>
        </p:grpSpPr>
        <p:sp>
          <p:nvSpPr>
            <p:cNvPr id="1048842" name="Freeform 26"/>
            <p:cNvSpPr/>
            <p:nvPr/>
          </p:nvSpPr>
          <p:spPr>
            <a:xfrm rot="0" flipH="0" flipV="0">
              <a:off x="0" y="0"/>
              <a:ext cx="8794953" cy="768351"/>
            </a:xfrm>
            <a:custGeom>
              <a:avLst/>
              <a:ahLst/>
              <a:rect l="l" t="t" r="r" b="b"/>
              <a:pathLst>
                <a:path w="8794953" h="768351">
                  <a:moveTo>
                    <a:pt x="0" y="0"/>
                  </a:moveTo>
                  <a:lnTo>
                    <a:pt x="8794953" y="0"/>
                  </a:lnTo>
                  <a:lnTo>
                    <a:pt x="8794953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3036" r="0" b="-173036"/>
              </a:stretch>
            </a:blipFill>
          </p:spPr>
        </p:sp>
        <p:sp>
          <p:nvSpPr>
            <p:cNvPr id="1048843" name="TextBox 27"/>
            <p:cNvSpPr txBox="1"/>
            <p:nvPr/>
          </p:nvSpPr>
          <p:spPr>
            <a:xfrm>
              <a:off x="0" y="-38100"/>
              <a:ext cx="8794953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844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845" name="TextBox 29"/>
          <p:cNvSpPr txBox="1"/>
          <p:nvPr/>
        </p:nvSpPr>
        <p:spPr>
          <a:xfrm rot="0">
            <a:off x="767601" y="1148553"/>
            <a:ext cx="15128215" cy="923544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7200"/>
              </a:lnSpc>
            </a:pPr>
            <a:r>
              <a:rPr b="1" sz="6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Working Principle</a:t>
            </a:r>
          </a:p>
          <a:p>
            <a:pPr algn="l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  <a:buFont typeface="Arial"/>
              <a:buChar char="⚬"/>
            </a:pP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Neem (Azadirachtin) : disrupts mosquito feeding and growth</a:t>
            </a: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  <a:buFont typeface="Arial"/>
              <a:buChar char="⚬"/>
            </a:pP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Clove (Eugenol) : strong odor repels mosquitoes effectively</a:t>
            </a: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  <a:buFont typeface="Arial"/>
              <a:buChar char="⚬"/>
            </a:pPr>
            <a:r>
              <a:rPr sz="42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Levender  : masks human scent and repels insects</a:t>
            </a: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  <a:p>
            <a:pPr algn="l" indent="-295592" lvl="2" marL="886777">
              <a:lnSpc>
                <a:spcPts val="5040"/>
              </a:lnSpc>
            </a:pPr>
          </a:p>
        </p:txBody>
      </p:sp>
      <p:sp>
        <p:nvSpPr>
          <p:cNvPr id="1048846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  <p:grpSp>
        <p:nvGrpSpPr>
          <p:cNvPr id="180" name="Group 31"/>
          <p:cNvGrpSpPr/>
          <p:nvPr/>
        </p:nvGrpSpPr>
        <p:grpSpPr>
          <a:xfrm rot="0">
            <a:off x="2407596" y="313601"/>
            <a:ext cx="1704499" cy="539972"/>
            <a:chOff x="0" y="0"/>
            <a:chExt cx="2272665" cy="719963"/>
          </a:xfrm>
        </p:grpSpPr>
        <p:sp>
          <p:nvSpPr>
            <p:cNvPr id="1048847" name="Freeform 32"/>
            <p:cNvSpPr/>
            <p:nvPr/>
          </p:nvSpPr>
          <p:spPr>
            <a:xfrm rot="0" flipH="0" flipV="0">
              <a:off x="0" y="0"/>
              <a:ext cx="2272665" cy="719963"/>
            </a:xfrm>
            <a:custGeom>
              <a:avLst/>
              <a:ahLst/>
              <a:rect l="l" t="t" r="r" b="b"/>
              <a:pathLst>
                <a:path w="2272665" h="719963">
                  <a:moveTo>
                    <a:pt x="0" y="0"/>
                  </a:moveTo>
                  <a:lnTo>
                    <a:pt x="2272665" y="0"/>
                  </a:lnTo>
                  <a:lnTo>
                    <a:pt x="2272665" y="719963"/>
                  </a:lnTo>
                  <a:lnTo>
                    <a:pt x="0" y="719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5"/>
              <a:stretch>
                <a:fillRect l="0" t="-448" r="0" b="-44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854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185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855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186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856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87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857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858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188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859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189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860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861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190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862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191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863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864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id="192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865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193" name="Group 23"/>
          <p:cNvGrpSpPr/>
          <p:nvPr/>
        </p:nvGrpSpPr>
        <p:grpSpPr>
          <a:xfrm rot="0">
            <a:off x="6057900" y="313601"/>
            <a:ext cx="6581470" cy="547688"/>
            <a:chOff x="0" y="0"/>
            <a:chExt cx="8775294" cy="730250"/>
          </a:xfrm>
        </p:grpSpPr>
        <p:sp>
          <p:nvSpPr>
            <p:cNvPr id="1048866" name="Freeform 24"/>
            <p:cNvSpPr/>
            <p:nvPr/>
          </p:nvSpPr>
          <p:spPr>
            <a:xfrm rot="0" flipH="0" flipV="0">
              <a:off x="0" y="0"/>
              <a:ext cx="8775319" cy="730250"/>
            </a:xfrm>
            <a:custGeom>
              <a:avLst/>
              <a:ahLst/>
              <a:rect l="l" t="t" r="r" b="b"/>
              <a:pathLst>
                <a:path w="8775319" h="730250">
                  <a:moveTo>
                    <a:pt x="0" y="0"/>
                  </a:moveTo>
                  <a:lnTo>
                    <a:pt x="8775319" y="0"/>
                  </a:lnTo>
                  <a:lnTo>
                    <a:pt x="877531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3986" r="0" b="-183984"/>
              </a:stretch>
            </a:blipFill>
          </p:spPr>
        </p:sp>
      </p:grpSp>
      <p:grpSp>
        <p:nvGrpSpPr>
          <p:cNvPr id="194" name="Group 25"/>
          <p:cNvGrpSpPr/>
          <p:nvPr/>
        </p:nvGrpSpPr>
        <p:grpSpPr>
          <a:xfrm rot="0">
            <a:off x="6057900" y="285026"/>
            <a:ext cx="6581470" cy="576262"/>
            <a:chOff x="0" y="0"/>
            <a:chExt cx="8775294" cy="768350"/>
          </a:xfrm>
        </p:grpSpPr>
        <p:sp>
          <p:nvSpPr>
            <p:cNvPr id="1048867" name="Freeform 26"/>
            <p:cNvSpPr/>
            <p:nvPr/>
          </p:nvSpPr>
          <p:spPr>
            <a:xfrm rot="0" flipH="0" flipV="0">
              <a:off x="0" y="0"/>
              <a:ext cx="8775293" cy="768351"/>
            </a:xfrm>
            <a:custGeom>
              <a:avLst/>
              <a:ahLst/>
              <a:rect l="l" t="t" r="r" b="b"/>
              <a:pathLst>
                <a:path w="8775293" h="768351">
                  <a:moveTo>
                    <a:pt x="0" y="0"/>
                  </a:moveTo>
                  <a:lnTo>
                    <a:pt x="8775293" y="0"/>
                  </a:lnTo>
                  <a:lnTo>
                    <a:pt x="8775293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2537" r="0" b="-172537"/>
              </a:stretch>
            </a:blipFill>
          </p:spPr>
        </p:sp>
        <p:sp>
          <p:nvSpPr>
            <p:cNvPr id="1048868" name="TextBox 27"/>
            <p:cNvSpPr txBox="1"/>
            <p:nvPr/>
          </p:nvSpPr>
          <p:spPr>
            <a:xfrm>
              <a:off x="0" y="-38100"/>
              <a:ext cx="8775294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869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870" name="TextBox 29"/>
          <p:cNvSpPr txBox="1"/>
          <p:nvPr/>
        </p:nvSpPr>
        <p:spPr>
          <a:xfrm rot="0">
            <a:off x="767601" y="1208751"/>
            <a:ext cx="15917780" cy="1280160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7200"/>
              </a:lnSpc>
            </a:pPr>
            <a:r>
              <a:rPr b="1" sz="6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Precautions</a:t>
            </a:r>
          </a:p>
          <a:p>
            <a:pPr algn="l">
              <a:lnSpc>
                <a:spcPts val="7200"/>
              </a:lnSpc>
            </a:pPr>
          </a:p>
          <a:p>
            <a:pPr algn="l" indent="-422275" lvl="2" marL="1266825">
              <a:lnSpc>
                <a:spcPts val="7200"/>
              </a:lnSpc>
              <a:buFont typeface="Arial"/>
              <a:buChar char="⚬"/>
            </a:pPr>
            <a:r>
              <a:rPr sz="60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 not spray directly on face or eyes</a:t>
            </a:r>
          </a:p>
          <a:p>
            <a:pPr algn="l" indent="-422275" lvl="2" marL="1266825">
              <a:lnSpc>
                <a:spcPts val="7200"/>
              </a:lnSpc>
              <a:buFont typeface="Arial"/>
              <a:buChar char="⚬"/>
            </a:pPr>
            <a:r>
              <a:rPr sz="60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Test on fabric to avoid staining</a:t>
            </a:r>
          </a:p>
          <a:p>
            <a:pPr algn="l" indent="-422275" lvl="2" marL="1266825">
              <a:lnSpc>
                <a:spcPts val="7200"/>
              </a:lnSpc>
              <a:buFont typeface="Arial"/>
              <a:buChar char="⚬"/>
            </a:pPr>
            <a:r>
              <a:rPr sz="60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Store in a cool, dark place</a:t>
            </a:r>
          </a:p>
          <a:p>
            <a:pPr algn="l" indent="-422275" lvl="2" marL="1266825">
              <a:lnSpc>
                <a:spcPts val="7200"/>
              </a:lnSpc>
              <a:buFont typeface="Arial"/>
              <a:buChar char="⚬"/>
            </a:pPr>
            <a:r>
              <a:rPr sz="60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Use within </a:t>
            </a:r>
            <a:r>
              <a:rPr b="1" sz="6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5-7 days</a:t>
            </a:r>
            <a:r>
              <a:rPr sz="60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(natural products, no         strong preservatives)</a:t>
            </a:r>
          </a:p>
          <a:p>
            <a:pPr algn="l" indent="-422275" lvl="2" marL="1266825">
              <a:lnSpc>
                <a:spcPts val="7200"/>
              </a:lnSpc>
              <a:buFont typeface="Arial"/>
              <a:buChar char="⚬"/>
            </a:pPr>
            <a:r>
              <a:rPr sz="60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Shake well before use.</a:t>
            </a:r>
          </a:p>
          <a:p>
            <a:pPr algn="l" indent="-422275" lvl="2" marL="1266825">
              <a:lnSpc>
                <a:spcPts val="7200"/>
              </a:lnSpc>
            </a:pPr>
          </a:p>
          <a:p>
            <a:pPr algn="l" indent="-422275" lvl="2" marL="1266825">
              <a:lnSpc>
                <a:spcPts val="7200"/>
              </a:lnSpc>
            </a:pPr>
          </a:p>
          <a:p>
            <a:pPr algn="l" indent="-422275" lvl="2" marL="1266825">
              <a:lnSpc>
                <a:spcPts val="7200"/>
              </a:lnSpc>
            </a:pPr>
          </a:p>
          <a:p>
            <a:pPr algn="l" indent="-422275" lvl="2" marL="1266825">
              <a:lnSpc>
                <a:spcPts val="7200"/>
              </a:lnSpc>
            </a:pPr>
          </a:p>
          <a:p>
            <a:pPr algn="l" indent="-422275" lvl="2" marL="1266825">
              <a:lnSpc>
                <a:spcPts val="7200"/>
              </a:lnSpc>
            </a:pPr>
          </a:p>
          <a:p>
            <a:pPr algn="l" indent="-422275" lvl="2" marL="1266825">
              <a:lnSpc>
                <a:spcPts val="7200"/>
              </a:lnSpc>
            </a:pPr>
          </a:p>
        </p:txBody>
      </p:sp>
      <p:sp>
        <p:nvSpPr>
          <p:cNvPr id="1048871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  <p:grpSp>
        <p:nvGrpSpPr>
          <p:cNvPr id="195" name="Group 31"/>
          <p:cNvGrpSpPr/>
          <p:nvPr/>
        </p:nvGrpSpPr>
        <p:grpSpPr>
          <a:xfrm rot="0">
            <a:off x="2407596" y="313601"/>
            <a:ext cx="1704499" cy="539972"/>
            <a:chOff x="0" y="0"/>
            <a:chExt cx="2272665" cy="719963"/>
          </a:xfrm>
        </p:grpSpPr>
        <p:sp>
          <p:nvSpPr>
            <p:cNvPr id="1048872" name="Freeform 32"/>
            <p:cNvSpPr/>
            <p:nvPr/>
          </p:nvSpPr>
          <p:spPr>
            <a:xfrm rot="0" flipH="0" flipV="0">
              <a:off x="0" y="0"/>
              <a:ext cx="2272665" cy="719963"/>
            </a:xfrm>
            <a:custGeom>
              <a:avLst/>
              <a:ahLst/>
              <a:rect l="l" t="t" r="r" b="b"/>
              <a:pathLst>
                <a:path w="2272665" h="719963">
                  <a:moveTo>
                    <a:pt x="0" y="0"/>
                  </a:moveTo>
                  <a:lnTo>
                    <a:pt x="2272665" y="0"/>
                  </a:lnTo>
                  <a:lnTo>
                    <a:pt x="2272665" y="719963"/>
                  </a:lnTo>
                  <a:lnTo>
                    <a:pt x="0" y="719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5"/>
              <a:stretch>
                <a:fillRect l="0" t="-448" r="0" b="-449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879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200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880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01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881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202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882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883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203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884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204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885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886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205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887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206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888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889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id="207" name="Group 21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890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208" name="Group 23"/>
          <p:cNvGrpSpPr/>
          <p:nvPr/>
        </p:nvGrpSpPr>
        <p:grpSpPr>
          <a:xfrm rot="0">
            <a:off x="6057900" y="313601"/>
            <a:ext cx="6640459" cy="547688"/>
            <a:chOff x="0" y="0"/>
            <a:chExt cx="8853945" cy="730250"/>
          </a:xfrm>
        </p:grpSpPr>
        <p:sp>
          <p:nvSpPr>
            <p:cNvPr id="1048891" name="Freeform 24"/>
            <p:cNvSpPr/>
            <p:nvPr/>
          </p:nvSpPr>
          <p:spPr>
            <a:xfrm rot="0" flipH="0" flipV="0">
              <a:off x="0" y="0"/>
              <a:ext cx="8853932" cy="730250"/>
            </a:xfrm>
            <a:custGeom>
              <a:avLst/>
              <a:ahLst/>
              <a:rect l="l" t="t" r="r" b="b"/>
              <a:pathLst>
                <a:path w="8853932" h="730250">
                  <a:moveTo>
                    <a:pt x="0" y="0"/>
                  </a:moveTo>
                  <a:lnTo>
                    <a:pt x="8853932" y="0"/>
                  </a:lnTo>
                  <a:lnTo>
                    <a:pt x="8853932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6083" r="0" b="-186081"/>
              </a:stretch>
            </a:blipFill>
          </p:spPr>
        </p:sp>
      </p:grpSp>
      <p:grpSp>
        <p:nvGrpSpPr>
          <p:cNvPr id="209" name="Group 25"/>
          <p:cNvGrpSpPr/>
          <p:nvPr/>
        </p:nvGrpSpPr>
        <p:grpSpPr>
          <a:xfrm rot="0">
            <a:off x="6057900" y="285026"/>
            <a:ext cx="6640459" cy="576262"/>
            <a:chOff x="0" y="0"/>
            <a:chExt cx="8853945" cy="768350"/>
          </a:xfrm>
        </p:grpSpPr>
        <p:sp>
          <p:nvSpPr>
            <p:cNvPr id="1048892" name="Freeform 26"/>
            <p:cNvSpPr/>
            <p:nvPr/>
          </p:nvSpPr>
          <p:spPr>
            <a:xfrm rot="0" flipH="0" flipV="0">
              <a:off x="0" y="0"/>
              <a:ext cx="8853946" cy="768351"/>
            </a:xfrm>
            <a:custGeom>
              <a:avLst/>
              <a:ahLst/>
              <a:rect l="l" t="t" r="r" b="b"/>
              <a:pathLst>
                <a:path w="8853946" h="768351">
                  <a:moveTo>
                    <a:pt x="0" y="0"/>
                  </a:moveTo>
                  <a:lnTo>
                    <a:pt x="8853946" y="0"/>
                  </a:lnTo>
                  <a:lnTo>
                    <a:pt x="8853946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4532" r="0" b="-174532"/>
              </a:stretch>
            </a:blipFill>
          </p:spPr>
        </p:sp>
        <p:sp>
          <p:nvSpPr>
            <p:cNvPr id="1048893" name="TextBox 27"/>
            <p:cNvSpPr txBox="1"/>
            <p:nvPr/>
          </p:nvSpPr>
          <p:spPr>
            <a:xfrm>
              <a:off x="0" y="-38100"/>
              <a:ext cx="8853945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48894" name="Freeform 28"/>
          <p:cNvSpPr/>
          <p:nvPr/>
        </p:nvSpPr>
        <p:spPr>
          <a:xfrm rot="0" flipH="0" flipV="0">
            <a:off x="16776811" y="428434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895" name="TextBox 29"/>
          <p:cNvSpPr txBox="1"/>
          <p:nvPr/>
        </p:nvSpPr>
        <p:spPr>
          <a:xfrm rot="0">
            <a:off x="1001487" y="1089555"/>
            <a:ext cx="15917770" cy="1197864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7200"/>
              </a:lnSpc>
            </a:pPr>
            <a:r>
              <a:rPr b="1" sz="6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10. Expected Result</a:t>
            </a:r>
          </a:p>
          <a:p>
            <a:pPr algn="l">
              <a:lnSpc>
                <a:spcPts val="7920"/>
              </a:lnSpc>
            </a:pPr>
          </a:p>
          <a:p>
            <a:pPr algn="l" indent="-464503" lvl="2" marL="1393508">
              <a:lnSpc>
                <a:spcPts val="7920"/>
              </a:lnSpc>
              <a:buFont typeface="Arial"/>
              <a:buChar char="⚬"/>
            </a:pPr>
            <a:r>
              <a:rPr sz="6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Reduction in Mosquito Presence in room</a:t>
            </a:r>
          </a:p>
          <a:p>
            <a:pPr algn="l" indent="-464503" lvl="2" marL="1393508">
              <a:lnSpc>
                <a:spcPts val="7920"/>
              </a:lnSpc>
              <a:buFont typeface="Arial"/>
              <a:buChar char="⚬"/>
            </a:pPr>
            <a:r>
              <a:rPr sz="6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Pleasant herbal fragrance</a:t>
            </a:r>
          </a:p>
          <a:p>
            <a:pPr algn="l" indent="-464503" lvl="2" marL="1393508">
              <a:lnSpc>
                <a:spcPts val="7920"/>
              </a:lnSpc>
              <a:buFont typeface="Arial"/>
              <a:buChar char="⚬"/>
            </a:pPr>
            <a:r>
              <a:rPr sz="66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Safe for indoor  and fabric use</a:t>
            </a:r>
          </a:p>
          <a:p>
            <a:pPr algn="l" indent="-464503" lvl="2" marL="1393508">
              <a:lnSpc>
                <a:spcPts val="7920"/>
              </a:lnSpc>
            </a:pPr>
          </a:p>
          <a:p>
            <a:pPr algn="l" indent="-464503" lvl="2" marL="1393508">
              <a:lnSpc>
                <a:spcPts val="7920"/>
              </a:lnSpc>
            </a:pPr>
          </a:p>
          <a:p>
            <a:pPr algn="l" indent="-464503" lvl="2" marL="1393508">
              <a:lnSpc>
                <a:spcPts val="7920"/>
              </a:lnSpc>
            </a:pPr>
          </a:p>
          <a:p>
            <a:pPr algn="l" indent="-464503" lvl="2" marL="1393508">
              <a:lnSpc>
                <a:spcPts val="7920"/>
              </a:lnSpc>
            </a:pPr>
          </a:p>
          <a:p>
            <a:pPr algn="l" indent="-464503" lvl="2" marL="1393508">
              <a:lnSpc>
                <a:spcPts val="7920"/>
              </a:lnSpc>
            </a:pPr>
          </a:p>
          <a:p>
            <a:pPr algn="l" indent="-464503" lvl="2" marL="1393508">
              <a:lnSpc>
                <a:spcPts val="7920"/>
              </a:lnSpc>
            </a:pPr>
          </a:p>
        </p:txBody>
      </p:sp>
      <p:sp>
        <p:nvSpPr>
          <p:cNvPr id="1048896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  <p:grpSp>
        <p:nvGrpSpPr>
          <p:cNvPr id="210" name="Group 31"/>
          <p:cNvGrpSpPr/>
          <p:nvPr/>
        </p:nvGrpSpPr>
        <p:grpSpPr>
          <a:xfrm rot="0">
            <a:off x="2407596" y="313601"/>
            <a:ext cx="1704499" cy="539972"/>
            <a:chOff x="0" y="0"/>
            <a:chExt cx="2272665" cy="719963"/>
          </a:xfrm>
        </p:grpSpPr>
        <p:sp>
          <p:nvSpPr>
            <p:cNvPr id="1048897" name="Freeform 32"/>
            <p:cNvSpPr/>
            <p:nvPr/>
          </p:nvSpPr>
          <p:spPr>
            <a:xfrm rot="0" flipH="0" flipV="0">
              <a:off x="0" y="0"/>
              <a:ext cx="2272665" cy="719963"/>
            </a:xfrm>
            <a:custGeom>
              <a:avLst/>
              <a:ahLst/>
              <a:rect l="l" t="t" r="r" b="b"/>
              <a:pathLst>
                <a:path w="2272665" h="719963">
                  <a:moveTo>
                    <a:pt x="0" y="0"/>
                  </a:moveTo>
                  <a:lnTo>
                    <a:pt x="2272665" y="0"/>
                  </a:lnTo>
                  <a:lnTo>
                    <a:pt x="2272665" y="719963"/>
                  </a:lnTo>
                  <a:lnTo>
                    <a:pt x="0" y="719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5"/>
              <a:stretch>
                <a:fillRect l="0" t="-448" r="0" b="-449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904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215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905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16" name="Group 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906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217" name="Group 8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907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908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218" name="Group 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909" name="Freeform 12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219" name="Group 13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910" name="Freeform 14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911" name="TextBox 15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 &amp; Department</a:t>
              </a:r>
            </a:p>
          </p:txBody>
        </p:sp>
      </p:grpSp>
      <p:grpSp>
        <p:nvGrpSpPr>
          <p:cNvPr id="220" name="Group 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912" name="Freeform 1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221" name="Group 1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913" name="Freeform 1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914" name="TextBox 2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id="222" name="Group 21"/>
          <p:cNvGrpSpPr/>
          <p:nvPr/>
        </p:nvGrpSpPr>
        <p:grpSpPr>
          <a:xfrm rot="0">
            <a:off x="676161" y="204788"/>
            <a:ext cx="1412367" cy="662750"/>
            <a:chOff x="0" y="0"/>
            <a:chExt cx="1883156" cy="883666"/>
          </a:xfrm>
        </p:grpSpPr>
        <p:sp>
          <p:nvSpPr>
            <p:cNvPr id="1048915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grpSp>
        <p:nvGrpSpPr>
          <p:cNvPr id="223" name="Group 23"/>
          <p:cNvGrpSpPr/>
          <p:nvPr/>
        </p:nvGrpSpPr>
        <p:grpSpPr>
          <a:xfrm rot="0">
            <a:off x="6057900" y="262299"/>
            <a:ext cx="6699456" cy="547688"/>
            <a:chOff x="0" y="0"/>
            <a:chExt cx="8932608" cy="730250"/>
          </a:xfrm>
        </p:grpSpPr>
        <p:sp>
          <p:nvSpPr>
            <p:cNvPr id="1048916" name="Freeform 24"/>
            <p:cNvSpPr/>
            <p:nvPr/>
          </p:nvSpPr>
          <p:spPr>
            <a:xfrm rot="0" flipH="0" flipV="0">
              <a:off x="0" y="0"/>
              <a:ext cx="8932545" cy="730250"/>
            </a:xfrm>
            <a:custGeom>
              <a:avLst/>
              <a:ahLst/>
              <a:rect l="l" t="t" r="r" b="b"/>
              <a:pathLst>
                <a:path w="8932545" h="730250">
                  <a:moveTo>
                    <a:pt x="0" y="0"/>
                  </a:moveTo>
                  <a:lnTo>
                    <a:pt x="8932545" y="0"/>
                  </a:lnTo>
                  <a:lnTo>
                    <a:pt x="8932545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88180" r="0" b="-188179"/>
              </a:stretch>
            </a:blipFill>
          </p:spPr>
        </p:sp>
      </p:grpSp>
      <p:grpSp>
        <p:nvGrpSpPr>
          <p:cNvPr id="224" name="Group 25"/>
          <p:cNvGrpSpPr/>
          <p:nvPr/>
        </p:nvGrpSpPr>
        <p:grpSpPr>
          <a:xfrm rot="0">
            <a:off x="6057900" y="233724"/>
            <a:ext cx="6699456" cy="576262"/>
            <a:chOff x="0" y="0"/>
            <a:chExt cx="8932608" cy="768350"/>
          </a:xfrm>
        </p:grpSpPr>
        <p:sp>
          <p:nvSpPr>
            <p:cNvPr id="1048917" name="Freeform 26"/>
            <p:cNvSpPr/>
            <p:nvPr/>
          </p:nvSpPr>
          <p:spPr>
            <a:xfrm rot="0" flipH="0" flipV="0">
              <a:off x="0" y="0"/>
              <a:ext cx="8932608" cy="768351"/>
            </a:xfrm>
            <a:custGeom>
              <a:avLst/>
              <a:ahLst/>
              <a:rect l="l" t="t" r="r" b="b"/>
              <a:pathLst>
                <a:path w="8932608" h="768351">
                  <a:moveTo>
                    <a:pt x="0" y="0"/>
                  </a:moveTo>
                  <a:lnTo>
                    <a:pt x="8932608" y="0"/>
                  </a:lnTo>
                  <a:lnTo>
                    <a:pt x="8932608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76527" r="0" b="-176527"/>
              </a:stretch>
            </a:blipFill>
          </p:spPr>
        </p:sp>
        <p:sp>
          <p:nvSpPr>
            <p:cNvPr id="1048918" name="TextBox 27"/>
            <p:cNvSpPr txBox="1"/>
            <p:nvPr/>
          </p:nvSpPr>
          <p:spPr>
            <a:xfrm>
              <a:off x="0" y="-38100"/>
              <a:ext cx="8932608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:</a:t>
              </a:r>
            </a:p>
            <a:p>
              <a:pPr algn="ctr">
                <a:lnSpc>
                  <a:spcPts val="2160"/>
                </a:lnSpc>
              </a:pPr>
              <a:r>
                <a:rPr b="1" sz="1800" lang="en-US">
                  <a:solidFill>
                    <a:srgbClr val="8989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Preparation of Organic Mosquito Repellent  (Room / Cloth Spray)</a:t>
              </a:r>
            </a:p>
          </p:txBody>
        </p:sp>
      </p:grpSp>
      <p:sp>
        <p:nvSpPr>
          <p:cNvPr id="1048919" name="Freeform 28"/>
          <p:cNvSpPr/>
          <p:nvPr/>
        </p:nvSpPr>
        <p:spPr>
          <a:xfrm rot="0" flipH="0" flipV="0">
            <a:off x="16776811" y="377133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1"/>
                </a:lnTo>
                <a:lnTo>
                  <a:pt x="0" y="31802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  <p:sp>
        <p:nvSpPr>
          <p:cNvPr id="1048920" name="TextBox 29"/>
          <p:cNvSpPr txBox="1"/>
          <p:nvPr/>
        </p:nvSpPr>
        <p:spPr>
          <a:xfrm rot="0">
            <a:off x="767601" y="1148553"/>
            <a:ext cx="16308600" cy="109728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7200"/>
              </a:lnSpc>
            </a:pPr>
            <a:r>
              <a:rPr b="1" sz="6000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11. Conclusion</a:t>
            </a: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7200"/>
              </a:lnSpc>
            </a:pPr>
            <a:r>
              <a:rPr sz="6000" lang="en-US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prepared spray is an effective, natural and eco-friendly mosquito repellent suitable for both room and cloth application, through it required frequent reapplication due to volatility of natural compounds.</a:t>
            </a: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7200"/>
              </a:lnSpc>
            </a:pPr>
          </a:p>
          <a:p>
            <a:pPr algn="l">
              <a:lnSpc>
                <a:spcPts val="7200"/>
              </a:lnSpc>
            </a:pPr>
          </a:p>
        </p:txBody>
      </p:sp>
      <p:sp>
        <p:nvSpPr>
          <p:cNvPr id="1048921" name="TextBox 30"/>
          <p:cNvSpPr txBox="1"/>
          <p:nvPr/>
        </p:nvSpPr>
        <p:spPr>
          <a:xfrm rot="0">
            <a:off x="767601" y="9055056"/>
            <a:ext cx="12523803" cy="2057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620"/>
              </a:lnSpc>
            </a:pPr>
            <a:r>
              <a:rPr sz="1350" i="1" lang="en-US">
                <a:solidFill>
                  <a:srgbClr val="000000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Reference: </a:t>
            </a:r>
            <a:r>
              <a:rPr sz="1350" i="1" lang="en-US">
                <a:solidFill>
                  <a:srgbClr val="2B08BE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Please write / cite the references used (If any) for this slide (Font: Verdana, Size: 09, Color: Black)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21"/>
          <p:cNvGrpSpPr/>
          <p:nvPr/>
        </p:nvGrpSpPr>
        <p:grpSpPr>
          <a:xfrm rot="0">
            <a:off x="676161" y="204788"/>
            <a:ext cx="1412367" cy="662750"/>
            <a:chOff x="0" y="0"/>
            <a:chExt cx="1883156" cy="883666"/>
          </a:xfrm>
        </p:grpSpPr>
        <p:sp>
          <p:nvSpPr>
            <p:cNvPr id="1049008" name="Freeform 22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-56553" r="0" b="-56553"/>
              </a:stretch>
            </a:blipFill>
          </p:spPr>
        </p:sp>
      </p:grp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8198966" y="2315129"/>
            <a:ext cx="4111378" cy="5656740"/>
          </a:xfrm>
          <a:prstGeom prst="rect"/>
        </p:spPr>
      </p:pic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13081902" y="1921134"/>
            <a:ext cx="4517507" cy="6050734"/>
          </a:xfrm>
          <a:prstGeom prst="rect"/>
        </p:spPr>
      </p:pic>
      <p:sp>
        <p:nvSpPr>
          <p:cNvPr id="1049009" name=""/>
          <p:cNvSpPr txBox="1"/>
          <p:nvPr/>
        </p:nvSpPr>
        <p:spPr>
          <a:xfrm>
            <a:off x="524944" y="2544164"/>
            <a:ext cx="7674022" cy="1348740"/>
          </a:xfrm>
          <a:prstGeom prst="rect"/>
        </p:spPr>
        <p:txBody>
          <a:bodyPr rtlCol="0" wrap="square">
            <a:spAutoFit/>
          </a:bodyPr>
          <a:p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f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l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p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type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p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y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b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le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f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ing 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m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q</a:t>
            </a:r>
            <a:r>
              <a:rPr altLang="en-IN" sz="2800" lang="en-US">
                <a:solidFill>
                  <a:srgbClr val="000000"/>
                </a:solidFill>
              </a:rPr>
              <a:t>uito 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k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b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le </a:t>
            </a:r>
            <a:r>
              <a:rPr altLang="en-IN" sz="2800" lang="en-US">
                <a:solidFill>
                  <a:srgbClr val="000000"/>
                </a:solidFill>
              </a:rPr>
              <a:t>y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u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v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p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rve </a:t>
            </a:r>
            <a:r>
              <a:rPr altLang="en-IN" sz="2800" lang="en-US">
                <a:solidFill>
                  <a:srgbClr val="000000"/>
                </a:solidFill>
              </a:rPr>
              <a:t>i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.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roup 2"/>
          <p:cNvGrpSpPr/>
          <p:nvPr/>
        </p:nvGrpSpPr>
        <p:grpSpPr>
          <a:xfrm rot="0">
            <a:off x="0" y="9562281"/>
            <a:ext cx="18288000" cy="724757"/>
            <a:chOff x="0" y="0"/>
            <a:chExt cx="24384000" cy="966343"/>
          </a:xfrm>
        </p:grpSpPr>
        <p:sp>
          <p:nvSpPr>
            <p:cNvPr id="1048928" name="Freeform 3"/>
            <p:cNvSpPr/>
            <p:nvPr/>
          </p:nvSpPr>
          <p:spPr>
            <a:xfrm rot="0" flipH="0" flipV="0">
              <a:off x="0" y="0"/>
              <a:ext cx="24384000" cy="966343"/>
            </a:xfrm>
            <a:custGeom>
              <a:avLst/>
              <a:ahLst/>
              <a:rect l="l" t="t" r="r" b="b"/>
              <a:pathLst>
                <a:path w="24384000" h="966343">
                  <a:moveTo>
                    <a:pt x="0" y="0"/>
                  </a:moveTo>
                  <a:lnTo>
                    <a:pt x="24384000" y="0"/>
                  </a:lnTo>
                  <a:lnTo>
                    <a:pt x="24384000" y="966343"/>
                  </a:lnTo>
                  <a:lnTo>
                    <a:pt x="0" y="966343"/>
                  </a:lnTo>
                  <a:close/>
                </a:path>
              </a:pathLst>
            </a:custGeom>
            <a:solidFill>
              <a:srgbClr val="3AF4DE"/>
            </a:solidFill>
          </p:spPr>
        </p:sp>
      </p:grpSp>
      <p:grpSp>
        <p:nvGrpSpPr>
          <p:cNvPr id="229" name="Group 4"/>
          <p:cNvGrpSpPr/>
          <p:nvPr/>
        </p:nvGrpSpPr>
        <p:grpSpPr>
          <a:xfrm rot="0">
            <a:off x="0" y="9521009"/>
            <a:ext cx="18288000" cy="68580"/>
            <a:chOff x="0" y="0"/>
            <a:chExt cx="24384000" cy="91440"/>
          </a:xfrm>
        </p:grpSpPr>
        <p:sp>
          <p:nvSpPr>
            <p:cNvPr id="1048929" name="Freeform 5"/>
            <p:cNvSpPr/>
            <p:nvPr/>
          </p:nvSpPr>
          <p:spPr>
            <a:xfrm rot="0" flipH="0" flipV="0">
              <a:off x="0" y="0"/>
              <a:ext cx="24384000" cy="91440"/>
            </a:xfrm>
            <a:custGeom>
              <a:avLst/>
              <a:ahLst/>
              <a:rect l="l" t="t" r="r" b="b"/>
              <a:pathLst>
                <a:path w="24384000" h="91440">
                  <a:moveTo>
                    <a:pt x="0" y="91440"/>
                  </a:moveTo>
                  <a:lnTo>
                    <a:pt x="24384000" y="91440"/>
                  </a:lnTo>
                  <a:lnTo>
                    <a:pt x="24384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37740">
                  <a:srgbClr val="00B0F0">
                    <a:alpha val="100000"/>
                  </a:srgbClr>
                </a:gs>
                <a:gs pos="46000">
                  <a:srgbClr val="4472C4">
                    <a:alpha val="100000"/>
                  </a:srgbClr>
                </a:gs>
                <a:gs pos="57000">
                  <a:srgbClr val="00B0F0">
                    <a:alpha val="100000"/>
                  </a:srgbClr>
                </a:gs>
                <a:gs pos="74000">
                  <a:srgbClr val="FFC000">
                    <a:alpha val="100000"/>
                  </a:srgbClr>
                </a:gs>
                <a:gs pos="83000">
                  <a:srgbClr val="FFC0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230" name="Group 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048930" name="Freeform 7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231" name="Group 8"/>
          <p:cNvGrpSpPr/>
          <p:nvPr/>
        </p:nvGrpSpPr>
        <p:grpSpPr>
          <a:xfrm rot="0">
            <a:off x="12915900" y="9505950"/>
            <a:ext cx="4114800" cy="576262"/>
            <a:chOff x="0" y="0"/>
            <a:chExt cx="5486400" cy="768350"/>
          </a:xfrm>
        </p:grpSpPr>
        <p:sp>
          <p:nvSpPr>
            <p:cNvPr id="1048931" name="Freeform 9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932" name="TextBox 10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id="232" name="Group 11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id="1048933" name="Freeform 12"/>
            <p:cNvSpPr/>
            <p:nvPr/>
          </p:nvSpPr>
          <p:spPr>
            <a:xfrm rot="0" flipH="0" flipV="0">
              <a:off x="0" y="0"/>
              <a:ext cx="5486400" cy="730250"/>
            </a:xfrm>
            <a:custGeom>
              <a:avLst/>
              <a:ah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96290" r="0" b="-96290"/>
              </a:stretch>
            </a:blipFill>
          </p:spPr>
        </p:sp>
      </p:grpSp>
      <p:grpSp>
        <p:nvGrpSpPr>
          <p:cNvPr id="233" name="Group 13"/>
          <p:cNvGrpSpPr/>
          <p:nvPr/>
        </p:nvGrpSpPr>
        <p:grpSpPr>
          <a:xfrm rot="0">
            <a:off x="1257300" y="9505950"/>
            <a:ext cx="4114800" cy="576262"/>
            <a:chOff x="0" y="0"/>
            <a:chExt cx="5486400" cy="768350"/>
          </a:xfrm>
        </p:grpSpPr>
        <p:sp>
          <p:nvSpPr>
            <p:cNvPr id="1048934" name="Freeform 14"/>
            <p:cNvSpPr/>
            <p:nvPr/>
          </p:nvSpPr>
          <p:spPr>
            <a:xfrm rot="0" flipH="0" flipV="0">
              <a:off x="0" y="0"/>
              <a:ext cx="5486400" cy="768351"/>
            </a:xfrm>
            <a:custGeom>
              <a:avLst/>
              <a:ah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89132" r="0" b="-89132"/>
              </a:stretch>
            </a:blipFill>
          </p:spPr>
        </p:sp>
        <p:sp>
          <p:nvSpPr>
            <p:cNvPr id="1048935" name="TextBox 15"/>
            <p:cNvSpPr txBox="1"/>
            <p:nvPr/>
          </p:nvSpPr>
          <p:spPr>
            <a:xfrm>
              <a:off x="0" y="-38100"/>
              <a:ext cx="5486400" cy="806450"/>
            </a:xfrm>
            <a:prstGeom prst="rect"/>
          </p:spPr>
          <p:txBody>
            <a:bodyPr anchor="ctr" bIns="0" lIns="0" rIns="0" rtlCol="0" tIns="0"/>
            <a:p>
              <a:pPr algn="l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29-04-2026</a:t>
              </a:r>
            </a:p>
          </p:txBody>
        </p:sp>
      </p:grpSp>
      <p:grpSp>
        <p:nvGrpSpPr>
          <p:cNvPr id="234" name="Group 16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48936" name="Freeform 17"/>
            <p:cNvSpPr/>
            <p:nvPr/>
          </p:nvSpPr>
          <p:spPr>
            <a:xfrm rot="0" flipH="0" flipV="0">
              <a:off x="0" y="0"/>
              <a:ext cx="8229600" cy="730250"/>
            </a:xfrm>
            <a:custGeom>
              <a:avLst/>
              <a:ah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>
                <a:alphaModFix amt="0"/>
              </a:blip>
              <a:stretch>
                <a:fillRect l="0" t="-169434" r="0" b="-169434"/>
              </a:stretch>
            </a:blipFill>
          </p:spPr>
        </p:sp>
      </p:grpSp>
      <p:grpSp>
        <p:nvGrpSpPr>
          <p:cNvPr id="235" name="Group 18"/>
          <p:cNvGrpSpPr/>
          <p:nvPr/>
        </p:nvGrpSpPr>
        <p:grpSpPr>
          <a:xfrm rot="0">
            <a:off x="6057900" y="9505950"/>
            <a:ext cx="6172200" cy="576262"/>
            <a:chOff x="0" y="0"/>
            <a:chExt cx="8229600" cy="768350"/>
          </a:xfrm>
        </p:grpSpPr>
        <p:sp>
          <p:nvSpPr>
            <p:cNvPr id="1048937" name="Freeform 19"/>
            <p:cNvSpPr/>
            <p:nvPr/>
          </p:nvSpPr>
          <p:spPr>
            <a:xfrm rot="0" flipH="0" flipV="0">
              <a:off x="0" y="0"/>
              <a:ext cx="8229600" cy="768351"/>
            </a:xfrm>
            <a:custGeom>
              <a:avLst/>
              <a:ahLst/>
              <a:rect l="l" t="t" r="r" b="b"/>
              <a:pathLst>
                <a:path w="8229600" h="768351">
                  <a:moveTo>
                    <a:pt x="0" y="0"/>
                  </a:moveTo>
                  <a:lnTo>
                    <a:pt x="8229600" y="0"/>
                  </a:lnTo>
                  <a:lnTo>
                    <a:pt x="822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xmlns:r="http://schemas.openxmlformats.org/officeDocument/2006/relationships" r:embed="rId2">
                <a:alphaModFix amt="0"/>
              </a:blip>
              <a:stretch>
                <a:fillRect l="0" t="-158699" r="0" b="-158699"/>
              </a:stretch>
            </a:blipFill>
          </p:spPr>
        </p:sp>
        <p:sp>
          <p:nvSpPr>
            <p:cNvPr id="1048938" name="TextBox 20"/>
            <p:cNvSpPr txBox="1"/>
            <p:nvPr/>
          </p:nvSpPr>
          <p:spPr>
            <a:xfrm>
              <a:off x="0" y="-38100"/>
              <a:ext cx="8229600" cy="806450"/>
            </a:xfrm>
            <a:prstGeom prst="rect"/>
          </p:spPr>
          <p:txBody>
            <a:bodyPr anchor="ctr" bIns="0" lIns="0" rIns="0" rtlCol="0" tIns="0"/>
            <a:p>
              <a:pPr algn="ctr">
                <a:lnSpc>
                  <a:spcPts val="2160"/>
                </a:lnSpc>
              </a:pPr>
              <a:r>
                <a:rPr sz="1800" lang="en-US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 of the Presenter</a:t>
              </a:r>
            </a:p>
          </p:txBody>
        </p:sp>
      </p:grpSp>
      <p:sp>
        <p:nvSpPr>
          <p:cNvPr id="1048939" name="TextBox 21"/>
          <p:cNvSpPr txBox="1"/>
          <p:nvPr/>
        </p:nvSpPr>
        <p:spPr>
          <a:xfrm rot="0">
            <a:off x="1348740" y="7421861"/>
            <a:ext cx="4562856" cy="6858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400"/>
              </a:lnSpc>
            </a:pPr>
            <a:r>
              <a:rPr b="1" sz="3000" lang="en-US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Thank You..</a:t>
            </a:r>
          </a:p>
        </p:txBody>
      </p:sp>
      <p:grpSp>
        <p:nvGrpSpPr>
          <p:cNvPr id="236" name="Group 22"/>
          <p:cNvGrpSpPr/>
          <p:nvPr/>
        </p:nvGrpSpPr>
        <p:grpSpPr>
          <a:xfrm rot="0">
            <a:off x="676161" y="256089"/>
            <a:ext cx="1412367" cy="662750"/>
            <a:chOff x="0" y="0"/>
            <a:chExt cx="1883156" cy="883666"/>
          </a:xfrm>
        </p:grpSpPr>
        <p:sp>
          <p:nvSpPr>
            <p:cNvPr id="1048940" name="Freeform 23"/>
            <p:cNvSpPr/>
            <p:nvPr/>
          </p:nvSpPr>
          <p:spPr>
            <a:xfrm rot="0" flipH="0" flipV="0">
              <a:off x="0" y="0"/>
              <a:ext cx="1883156" cy="883666"/>
            </a:xfrm>
            <a:custGeom>
              <a:avLst/>
              <a:ahLst/>
              <a:rect l="l" t="t" r="r" b="b"/>
              <a:pathLst>
                <a:path w="1883156" h="883666">
                  <a:moveTo>
                    <a:pt x="0" y="0"/>
                  </a:moveTo>
                  <a:lnTo>
                    <a:pt x="1883156" y="0"/>
                  </a:lnTo>
                  <a:lnTo>
                    <a:pt x="1883156" y="883666"/>
                  </a:lnTo>
                  <a:lnTo>
                    <a:pt x="0" y="88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3"/>
              <a:stretch>
                <a:fillRect l="0" t="-56553" r="0" b="-56553"/>
              </a:stretch>
            </a:blipFill>
          </p:spPr>
        </p:sp>
      </p:grpSp>
      <p:sp>
        <p:nvSpPr>
          <p:cNvPr id="1048941" name="Freeform 24"/>
          <p:cNvSpPr/>
          <p:nvPr/>
        </p:nvSpPr>
        <p:spPr>
          <a:xfrm rot="0" flipH="0" flipV="0">
            <a:off x="676161" y="8007163"/>
            <a:ext cx="507768" cy="318021"/>
          </a:xfrm>
          <a:custGeom>
            <a:avLst/>
            <a:ahLst/>
            <a:rect l="l" t="t" r="r" b="b"/>
            <a:pathLst>
              <a:path w="507768" h="318021">
                <a:moveTo>
                  <a:pt x="0" y="0"/>
                </a:moveTo>
                <a:lnTo>
                  <a:pt x="507768" y="0"/>
                </a:lnTo>
                <a:lnTo>
                  <a:pt x="507768" y="318020"/>
                </a:lnTo>
                <a:lnTo>
                  <a:pt x="0" y="31802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-263" r="0" b="-26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Methology FINAL 29.4.pptx_20260430_105834_0000.pptx</dc:title>
  <dc:creator>CPH2767</dc:creator>
  <dcterms:created xsi:type="dcterms:W3CDTF">2006-08-14T15:00:00Z</dcterms:created>
  <dcterms:modified xsi:type="dcterms:W3CDTF">2026-05-04T17:12:53Z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cf478419d07b4cb0ab5f46a0d5c1ac54</vt:lpwstr>
  </property>
</Properties>
</file>
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85" r:id="rId2"/>
    <p:sldId id="391" r:id="rId3"/>
    <p:sldId id="399" r:id="rId4"/>
    <p:sldId id="386" r:id="rId5"/>
    <p:sldId id="395" r:id="rId6"/>
    <p:sldId id="398" r:id="rId7"/>
    <p:sldId id="387" r:id="rId8"/>
    <p:sldId id="402" r:id="rId9"/>
    <p:sldId id="400" r:id="rId10"/>
    <p:sldId id="403" r:id="rId11"/>
    <p:sldId id="404" r:id="rId12"/>
    <p:sldId id="3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08BE"/>
    <a:srgbClr val="3AF4DE"/>
    <a:srgbClr val="00579F"/>
    <a:srgbClr val="F38804"/>
    <a:srgbClr val="F08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1765" autoAdjust="0"/>
  </p:normalViewPr>
  <p:slideViewPr>
    <p:cSldViewPr snapToGrid="0">
      <p:cViewPr varScale="1">
        <p:scale>
          <a:sx n="75" d="100"/>
          <a:sy n="75" d="100"/>
        </p:scale>
        <p:origin x="120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47B6EB-0BB1-C32C-3B34-752451026B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dirty="0"/>
              <a:t>Title of the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48683-8521-6073-2C81-F8520864A5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FDA0E-5E6C-4306-8AB2-29F8FCF3C958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F20D1-16B4-9F7A-BB85-080E110D09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Name of the Faculty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AAA16-EDF6-9DF1-8EB7-35D30CF089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3E807-71D2-486E-AE16-CD1CC0E5495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57366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dirty="0"/>
              <a:t>Title of the Lecture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D3B07-1EF9-4F31-BBF9-B441EA500D2B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Name of the Faculty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69606-77D1-4BD4-A656-2B410C8A857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21829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4CB7-D9CB-D7BC-38C5-22835B6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202A9-CFBD-392A-C6FC-67244359A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F8034-DE1C-9354-4BA6-A58DEE95A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58762-1C39-7258-269A-53FB50055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6E8E4-77C3-303A-A331-63071D59DD9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DBC76F-BDC4-44EB-8BD4-FD1F3D45BCB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7C3AE-2686-EC32-20B5-0EA9F47649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6EAC641E-5B23-4E69-10A1-43521E504C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3119930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3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4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6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7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97756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8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2102932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9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1148031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C63-1647-4F16-B519-40265477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44E13-9E5B-640F-B4A9-F43104360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7ED04-970D-AF15-19F5-31F3EEC4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84AB-80CB-E382-757F-4E1BABA66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10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0A3E-999A-C181-FEAA-3FED66C17C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20FF5B3-6374-45C5-9057-01B8466348F7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17FC4-D082-9D5E-19B5-07DCD00842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7C8D8CC-D895-A004-55DB-57736D1726A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2565353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F88F-62E7-993B-CFCD-A8C93883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CDC8C-6ED8-1518-1EAE-6118A5049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A9FB8-A9E2-D872-BE7C-598738801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8BF31-DBA9-BF45-F5FB-597B7D697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9606-77D1-4BD4-A656-2B410C8A8572}" type="slidenum">
              <a:rPr lang="en-IN" smtClean="0"/>
              <a:t>12</a:t>
            </a:fld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A1DC6-60B9-69E4-B1F1-29CB6993AF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C133B7E-50E6-4784-A0B7-BF133C708F0B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289E0-996E-38BE-B832-B1C3B7DBE1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 dirty="0"/>
              <a:t>Name of the Faculty</a:t>
            </a:r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BE124C92-91A2-E6BB-48C2-116B8FD18B6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 dirty="0"/>
              <a:t>Title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881999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4DAE-F5C6-454D-AFDC-AAF396BA0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AA990-3EAF-4FF9-9555-29B5741C9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31E3E-4FE5-4F01-AAF8-CB614594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131B0-C9FB-4DD5-97EC-21EFEC10F4F4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3453-1038-4076-9DED-D2877394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E3F0-76B7-4C43-9D85-E2E06EFF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91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0E89-2983-4E1E-8AD3-4F82F0A4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E7C4-B740-401D-A25D-37F187F6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1E203-F203-4711-B7A2-8F797C16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6852F-1A31-4CB3-B952-13DAB07C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7B306-A7A3-4335-A04F-7541869D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99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A19F-7442-4B68-B955-56F6B084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0CD2C-A48F-4775-B189-079352227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68908-A714-4228-A602-E7A357FF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60553-21AA-46C9-AB52-F50F6EEE2E62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287E-6268-4689-BFC0-A3E44DAF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CC483-A732-4FFA-8636-9E5E0375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39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3186-7A7F-4819-B879-6631220F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BA3E-E296-4A2F-BD81-158C0CA6B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20B82-4066-4E7E-A47A-797F200D6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A081E-F28F-448A-9D06-E308DE0BB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09CD-D9E1-4E31-9980-5F3A894C2608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6A227-6F7B-4D0A-AC3F-0817DBE6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FDA79-7B9F-4F23-8932-9C89272C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A54A-6C69-4D14-8EE5-067692CE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2E6B3-A4FD-4B3B-ABFE-A0841309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66EDD-FB5D-431C-850B-8141C7368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5FADE-8590-49B1-AF6E-1522EF4F1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82C5F-682A-4819-9789-334512174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08900-84F2-442F-9178-183865D9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9F84-13A4-42C3-84B9-F21DB80BB174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30A47-A763-487C-8B06-98BAF442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D71BF-9A8B-41EA-A32A-76A5A05F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63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BD9F-1469-41A5-9202-A0BA0296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5A793-C7DE-407E-8328-496ADD26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D810A-866C-4043-9CBB-5ABA3F831B2D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00BE9-EEA0-4A26-9F1E-E7F9D179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3D293-0ADA-48A5-B648-30CFFAEA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441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89F29-E588-4C2A-8A95-62F572D1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E989-A332-410D-A8A6-532B1C75E2C4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A7526D-A567-4605-A7A9-135F95B0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1C8A3-0862-4EB5-AABC-A3085926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75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4CB5-FA1C-4FC0-AD9B-86A482EC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D36A-F712-4B95-A05A-26012390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D72EF-041F-42BF-9D8B-6654A538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05025-346C-4E8E-8D28-42B0844C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5F36-35FA-4268-A441-E6463EAA5FA4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BFF5B-58F9-427F-A2F5-A3D54513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9F69D-DD1A-402C-944E-14126761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78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2E9C-65CE-4BA4-85E8-BAEB5B10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281C8-208E-4C02-9EF2-F49A49B50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21BD1-5B7F-4CBB-B585-DA93A56F8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87DE2-AE53-4247-A661-AD19B892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1E1C-51D0-4C9B-85B0-695D92FD0D00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9459F-FB23-4534-A47C-E0AB046D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F753-176A-4D74-A4D1-51910F5D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5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DD4F-88D8-4F72-B540-C533966A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0F988-6313-4F2F-843A-B5A382650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43F66-5829-46CF-B0B8-7641FB22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E016-816A-462E-AFD6-EE852EADA12C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28BB-7E22-4B05-A645-7481DC16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CA330-8AB6-49E9-862A-112EE7C3C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61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47E5E0-A998-46A6-BCA4-83F3D1152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A3B42-B542-4BAA-92C4-925210EF2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9750-7E8E-4B6F-AFCF-BEAD1874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57D-D3AE-45A1-AF16-9951E4A1A6C0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2F66-CAB7-4CAC-8C40-BE6B877E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B8D6-A138-46E5-B006-AB4D1E3A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95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FB23A-58CF-456B-AB08-73729B66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0A73A-70C8-4162-B8EF-D65B849D0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B0888-81FA-465A-90E7-E59D17F1C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F3E9B-DCF6-460C-A298-894BB8D79EEF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B48A1-228A-48E5-955E-3CBA79661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395B7-BD3B-4473-B16F-5A7A3505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ED798-B2B7-453D-A02A-83F1CBF0164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85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CEAD-96D3-A032-A33C-97C7C638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EDCE6FD-5F7E-8664-8ED3-31E895D52E72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B962B7-0060-92BF-D80F-8CA6E48E339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589A71-20A6-497A-C266-A3AC590AC7BB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0AFB6-FDBE-77A2-D576-D59FFAF6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</a:t>
            </a:fld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78DED0-2A03-65AD-7E05-0CCEFCAE696C}"/>
              </a:ext>
            </a:extLst>
          </p:cNvPr>
          <p:cNvGrpSpPr/>
          <p:nvPr/>
        </p:nvGrpSpPr>
        <p:grpSpPr>
          <a:xfrm>
            <a:off x="750265" y="2827691"/>
            <a:ext cx="10351387" cy="3505899"/>
            <a:chOff x="447039" y="2656957"/>
            <a:chExt cx="6816790" cy="374893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DF62CC-1549-34C5-2BC7-8B32AAFDA013}"/>
                </a:ext>
              </a:extLst>
            </p:cNvPr>
            <p:cNvSpPr txBox="1"/>
            <p:nvPr/>
          </p:nvSpPr>
          <p:spPr>
            <a:xfrm>
              <a:off x="447039" y="2656957"/>
              <a:ext cx="6816790" cy="1086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6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Neem based pesticide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6FB617-A5E9-F51C-410F-70C063DC0BB1}"/>
                </a:ext>
              </a:extLst>
            </p:cNvPr>
            <p:cNvSpPr txBox="1"/>
            <p:nvPr/>
          </p:nvSpPr>
          <p:spPr>
            <a:xfrm>
              <a:off x="501235" y="4332484"/>
              <a:ext cx="3592475" cy="2073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Date (21/03/2026)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Name of the Presenter:Vatsal Kothari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Email Id:25sc02093@gsfcuniversity.ac.in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Mobile No.:8141343048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>
                  <a:latin typeface="Verdana" panose="020B0604030504040204" pitchFamily="34" charset="0"/>
                  <a:ea typeface="Verdana" panose="020B0604030504040204" pitchFamily="34" charset="0"/>
                </a:rPr>
                <a:t>Faculty Mentor Name:Dr. ANKIT SIR 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18D69F-ABE1-3E32-47BB-EE57D5B92537}"/>
              </a:ext>
            </a:extLst>
          </p:cNvPr>
          <p:cNvGrpSpPr/>
          <p:nvPr/>
        </p:nvGrpSpPr>
        <p:grpSpPr>
          <a:xfrm>
            <a:off x="529337" y="896634"/>
            <a:ext cx="10824463" cy="891025"/>
            <a:chOff x="529337" y="896634"/>
            <a:chExt cx="10824463" cy="8910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FFD4D94-F232-ACC0-A2EC-5563B02B32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529337" y="896634"/>
              <a:ext cx="1898904" cy="89102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FC04D3-2649-B0B2-7F38-D5F9325C1352}"/>
                </a:ext>
              </a:extLst>
            </p:cNvPr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F47F37F5-DC62-D5EC-D8A9-D6ECF2CE1ACF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DBEBAC3F-D050-3CB2-1635-06DD7FCB6AF4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" name="Rectangle 3"/>
          <p:cNvSpPr/>
          <p:nvPr/>
        </p:nvSpPr>
        <p:spPr>
          <a:xfrm>
            <a:off x="2653067" y="226999"/>
            <a:ext cx="70904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latin typeface="Verdana" pitchFamily="34" charset="0"/>
                <a:ea typeface="Verdana" pitchFamily="34" charset="0"/>
              </a:rPr>
              <a:t>Tinkering &amp; Mentoring - VACC 201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5472" y="922511"/>
            <a:ext cx="70679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Verdana" pitchFamily="34" charset="0"/>
                <a:ea typeface="Verdana" pitchFamily="34" charset="0"/>
              </a:rPr>
              <a:t>Problem Identification, Ideation &amp; Initial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6FB617-A5E9-F51C-410F-70C063DC0BB1}"/>
              </a:ext>
            </a:extLst>
          </p:cNvPr>
          <p:cNvSpPr txBox="1"/>
          <p:nvPr/>
        </p:nvSpPr>
        <p:spPr>
          <a:xfrm>
            <a:off x="6512458" y="4454068"/>
            <a:ext cx="48413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Team No.: 16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Semester: 2nd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Program:Bsc. Biotechnology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School: School of Science</a:t>
            </a:r>
          </a:p>
        </p:txBody>
      </p:sp>
    </p:spTree>
    <p:extLst>
      <p:ext uri="{BB962C8B-B14F-4D97-AF65-F5344CB8AC3E}">
        <p14:creationId xmlns:p14="http://schemas.microsoft.com/office/powerpoint/2010/main" val="412658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2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Student Team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9999270"/>
              </p:ext>
            </p:extLst>
          </p:nvPr>
        </p:nvGraphicFramePr>
        <p:xfrm>
          <a:off x="379239" y="1723489"/>
          <a:ext cx="10805304" cy="26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0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16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Enrollment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Key Responsibility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Vatsal Kothari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25sc0293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Presentation,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Vidhi Patel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25sc0294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Idea, research, prototype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Yashraj Chauhan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25sc0296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Nongshaba Hijam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25sc0297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Tithi Patel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25sc0298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Prototype, research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18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3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604887" y="1237657"/>
            <a:ext cx="491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Faculty Mentor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9032506"/>
              </p:ext>
            </p:extLst>
          </p:nvPr>
        </p:nvGraphicFramePr>
        <p:xfrm>
          <a:off x="604887" y="2003003"/>
          <a:ext cx="10805304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1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0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Designation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Department,</a:t>
                      </a:r>
                      <a:r>
                        <a:rPr lang="en-US" sz="1800" b="1" baseline="0" dirty="0"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+mn-lt"/>
                        </a:rPr>
                        <a:t> School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Dr. Ankit Sudhir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Sr. Assistant 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Verdana" pitchFamily="34" charset="0"/>
                          <a:ea typeface="Verdana" pitchFamily="34" charset="0"/>
                        </a:rPr>
                        <a:t>Life sciences, SOS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10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4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247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Brief of Tinkering Project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7E836-D8C8-EA61-E710-C1C20A7E887B}"/>
              </a:ext>
            </a:extLst>
          </p:cNvPr>
          <p:cNvSpPr txBox="1"/>
          <p:nvPr/>
        </p:nvSpPr>
        <p:spPr>
          <a:xfrm>
            <a:off x="450774" y="1698638"/>
            <a:ext cx="11072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buFont typeface="Arial" pitchFamily="34" charset="0"/>
              <a:buChar char="•"/>
            </a:pPr>
            <a:r>
              <a:rPr lang="en-IN" sz="2000" b="1" dirty="0">
                <a:latin typeface="Verdana" pitchFamily="34" charset="0"/>
                <a:ea typeface="Verdana" pitchFamily="34" charset="0"/>
              </a:rPr>
              <a:t>Title of Tinkering Project:</a:t>
            </a:r>
            <a:r>
              <a:rPr lang="en-IN" sz="2000" dirty="0">
                <a:latin typeface="Verdana" pitchFamily="34" charset="0"/>
                <a:ea typeface="Verdana" pitchFamily="34" charset="0"/>
              </a:rPr>
              <a:t>Neem based pesticide </a:t>
            </a:r>
          </a:p>
          <a:p>
            <a:pPr marL="342900" lvl="0" indent="-342900" fontAlgn="base">
              <a:buFont typeface="Arial" pitchFamily="34" charset="0"/>
              <a:buChar char="•"/>
            </a:pPr>
            <a:endParaRPr lang="en-IN" sz="2000" dirty="0">
              <a:latin typeface="Verdana" pitchFamily="34" charset="0"/>
              <a:ea typeface="Verdana" pitchFamily="34" charset="0"/>
            </a:endParaRPr>
          </a:p>
          <a:p>
            <a:pPr marL="342900" lvl="0" indent="-342900" fontAlgn="base">
              <a:buFont typeface="Arial" pitchFamily="34" charset="0"/>
              <a:buChar char="•"/>
            </a:pPr>
            <a:r>
              <a:rPr lang="en-IN" sz="2000" b="1" dirty="0">
                <a:latin typeface="Verdana" pitchFamily="34" charset="0"/>
                <a:ea typeface="Verdana" pitchFamily="34" charset="0"/>
              </a:rPr>
              <a:t>Sector:</a:t>
            </a:r>
            <a:r>
              <a:rPr lang="en-IN" sz="2000" dirty="0">
                <a:latin typeface="Verdana" pitchFamily="34" charset="0"/>
                <a:ea typeface="Verdana" pitchFamily="34" charset="0"/>
              </a:rPr>
              <a:t>Agriculture and Farming </a:t>
            </a:r>
            <a:endParaRPr lang="en-IN" sz="2000" b="1" dirty="0">
              <a:latin typeface="Verdana" pitchFamily="34" charset="0"/>
              <a:ea typeface="Verdana" pitchFamily="34" charset="0"/>
            </a:endParaRPr>
          </a:p>
          <a:p>
            <a:pPr marL="342900" lvl="0" indent="-342900" fontAlgn="base">
              <a:buFont typeface="Arial" pitchFamily="34" charset="0"/>
              <a:buChar char="•"/>
            </a:pPr>
            <a:endParaRPr lang="en-IN" sz="2000" dirty="0">
              <a:latin typeface="Verdana" pitchFamily="34" charset="0"/>
              <a:ea typeface="Verdana" pitchFamily="34" charset="0"/>
            </a:endParaRPr>
          </a:p>
          <a:p>
            <a:pPr marL="342900" lvl="0" indent="-342900" fontAlgn="base">
              <a:buFont typeface="Arial" pitchFamily="34" charset="0"/>
              <a:buChar char="•"/>
            </a:pPr>
            <a:r>
              <a:rPr lang="en-IN" sz="2000" b="1" dirty="0">
                <a:latin typeface="Verdana" pitchFamily="34" charset="0"/>
                <a:ea typeface="Verdana" pitchFamily="34" charset="0"/>
              </a:rPr>
              <a:t>Brief of Tinkering Project: </a:t>
            </a:r>
            <a:r>
              <a:rPr lang="en-IN" sz="2000" dirty="0">
                <a:latin typeface="Verdana" pitchFamily="34" charset="0"/>
                <a:ea typeface="Verdana" pitchFamily="34" charset="0"/>
              </a:rPr>
              <a:t>Background of the project, problem/opportunity identified, Importance/Relevance of the problem/opportunity</a:t>
            </a:r>
            <a:endParaRPr lang="en-IN" sz="2000" b="1" dirty="0">
              <a:latin typeface="Verdana" pitchFamily="34" charset="0"/>
              <a:ea typeface="Verdana" pitchFamily="34" charset="0"/>
            </a:endParaRPr>
          </a:p>
          <a:p>
            <a:pPr marL="342900" lvl="0" indent="-342900" fontAlgn="base">
              <a:buFont typeface="Arial" pitchFamily="34" charset="0"/>
              <a:buChar char="•"/>
            </a:pPr>
            <a:endParaRPr lang="en-IN" sz="20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5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587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Objective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74C5D-C69A-C6B8-D6E1-A49032540C03}"/>
              </a:ext>
            </a:extLst>
          </p:cNvPr>
          <p:cNvSpPr txBox="1"/>
          <p:nvPr/>
        </p:nvSpPr>
        <p:spPr>
          <a:xfrm>
            <a:off x="450774" y="1503450"/>
            <a:ext cx="107337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Make a pesticide with natural ingredients which works for almost all the types of plants and works on pests causing microbes.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To overcome buying different pesticides for the farmers and be a most cost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Easy to use and requires low </a:t>
            </a:r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maintainance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0195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6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10994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Verdana" panose="020B0604030504040204" pitchFamily="34" charset="0"/>
                <a:ea typeface="Verdana" panose="020B0604030504040204" pitchFamily="34" charset="0"/>
              </a:rPr>
              <a:t>USP/ Novelty/ Unique Points of Tinkering Project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0ED4B-1EB6-B377-3D7C-CBA0D118BDD8}"/>
              </a:ext>
            </a:extLst>
          </p:cNvPr>
          <p:cNvSpPr txBox="1"/>
          <p:nvPr/>
        </p:nvSpPr>
        <p:spPr>
          <a:xfrm>
            <a:off x="788819" y="1609039"/>
            <a:ext cx="98936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The main ingredient used is neem extract which helps in protection from the pests.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preparation:-100g neem seed powder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soak in 1L water(for ~12-24 Hrs)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filter 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It also has UV Protectants 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preparation:-lignin (0.5 – 1 %) (optional)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Kaolin Clay (1 – 2%)(optional)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Activated Charcoal (0.2 – 0.5%)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It uses attractants like Jaggery/Molasses/Sucrose) to attract pests.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(should be very little)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Main mechanism of the idea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:-Neem pesticide + pest = Attract and kill system. 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BDEA3A-AFF8-79AB-A842-80B72DE20B1F}"/>
              </a:ext>
            </a:extLst>
          </p:cNvPr>
          <p:cNvSpPr txBox="1"/>
          <p:nvPr/>
        </p:nvSpPr>
        <p:spPr>
          <a:xfrm>
            <a:off x="6704348" y="3339495"/>
            <a:ext cx="3426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[Microbes  survive longer on leaf surface.i.e,Fewer sprays]</a:t>
            </a:r>
          </a:p>
        </p:txBody>
      </p:sp>
    </p:spTree>
    <p:extLst>
      <p:ext uri="{BB962C8B-B14F-4D97-AF65-F5344CB8AC3E}">
        <p14:creationId xmlns:p14="http://schemas.microsoft.com/office/powerpoint/2010/main" val="356906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7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87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Procedure:-</a:t>
            </a:r>
            <a:endParaRPr lang="en-IN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66" y="209068"/>
            <a:ext cx="1136330" cy="3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6EFAD-529B-9AD1-D056-D6BC17EAD1C4}"/>
              </a:ext>
            </a:extLst>
          </p:cNvPr>
          <p:cNvSpPr txBox="1"/>
          <p:nvPr/>
        </p:nvSpPr>
        <p:spPr>
          <a:xfrm flipH="1">
            <a:off x="450774" y="1494780"/>
            <a:ext cx="1062362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of attractants(Jaggery/molasses/spreader)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 Neem exctract from neem seeds(soak in water for 1 day and filter 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 UV protectants (Activated charcoal)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Mix both and stir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Addition natural sticker/spreader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&gt;0.5 % Soap solution (potassium soap) as a natural sticker or spreader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&gt;Plant oil emulsifier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&gt;Liquid castile soap (natural{coconut and olive based oil})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 color indicators  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&gt;Turmeric extract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&gt;Red Cabbage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Self life enhancer 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neem degraded during storage so for that we have vitamin C ( ascorbic acid )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                                                citric acid ( very mild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Anti wash ( rain fast )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  aloe vera or starch 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5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8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335F3C-F428-ED87-64FD-52E602C87D5A}"/>
              </a:ext>
            </a:extLst>
          </p:cNvPr>
          <p:cNvSpPr txBox="1"/>
          <p:nvPr/>
        </p:nvSpPr>
        <p:spPr>
          <a:xfrm>
            <a:off x="450774" y="900322"/>
            <a:ext cx="687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Verdana" panose="020B0604030504040204" pitchFamily="34" charset="0"/>
                <a:ea typeface="Verdana" panose="020B0604030504040204" pitchFamily="34" charset="0"/>
              </a:rPr>
              <a:t>Packaging/Dosage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66" y="209068"/>
            <a:ext cx="1136330" cy="3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6F159-0570-57E3-3116-F048E6FF5EAA}"/>
              </a:ext>
            </a:extLst>
          </p:cNvPr>
          <p:cNvSpPr txBox="1"/>
          <p:nvPr/>
        </p:nvSpPr>
        <p:spPr>
          <a:xfrm>
            <a:off x="543783" y="1503450"/>
            <a:ext cx="6075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opaque / UV- resistant sachets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 in cool and dry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Self life :- 6 –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 sachet            15L water </a:t>
            </a:r>
          </a:p>
          <a:p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1A8AEE-6506-7E25-1AE4-ED4584E36123}"/>
              </a:ext>
            </a:extLst>
          </p:cNvPr>
          <p:cNvCxnSpPr>
            <a:cxnSpLocks/>
          </p:cNvCxnSpPr>
          <p:nvPr/>
        </p:nvCxnSpPr>
        <p:spPr>
          <a:xfrm>
            <a:off x="1776991" y="2524391"/>
            <a:ext cx="3962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E216BB1-A1F2-FD1E-CC24-4E0CA555AB18}"/>
              </a:ext>
            </a:extLst>
          </p:cNvPr>
          <p:cNvSpPr txBox="1"/>
          <p:nvPr/>
        </p:nvSpPr>
        <p:spPr>
          <a:xfrm>
            <a:off x="543783" y="2860144"/>
            <a:ext cx="3195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Spraying dosage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552FA8-A25E-7C31-CF49-BFF60BC48B3B}"/>
              </a:ext>
            </a:extLst>
          </p:cNvPr>
          <p:cNvSpPr txBox="1"/>
          <p:nvPr/>
        </p:nvSpPr>
        <p:spPr>
          <a:xfrm>
            <a:off x="543783" y="3540054"/>
            <a:ext cx="3765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Spray in morning/evening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Repeat the cycle every 7 – 10 days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63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9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66" y="209068"/>
            <a:ext cx="1136330" cy="36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910741-5A14-BD8D-CB07-51916555BA23}"/>
              </a:ext>
            </a:extLst>
          </p:cNvPr>
          <p:cNvSpPr txBox="1"/>
          <p:nvPr/>
        </p:nvSpPr>
        <p:spPr>
          <a:xfrm>
            <a:off x="713433" y="1014884"/>
            <a:ext cx="1018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BENEFITS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5BA4D-8777-962B-3DFF-B3D36CB79BD9}"/>
              </a:ext>
            </a:extLst>
          </p:cNvPr>
          <p:cNvSpPr txBox="1"/>
          <p:nvPr/>
        </p:nvSpPr>
        <p:spPr>
          <a:xfrm flipH="1">
            <a:off x="713431" y="1455576"/>
            <a:ext cx="104711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FSGEco-Friendly &amp; SafeMade from natural neem → biodegradableSafe for:HumansAnimalsPollinators (bees, butterflies)Leaves no toxic residue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Improved UV Stability UV protectants (kaolin, lignin, charcoal) prevent breakdown of azadirachtinWorks effectively for longer time under sunlight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Slow &amp; Controlled Release Hydrogel system releases neem graduallyProvides long-lasting protectionReduces need for frequent spraying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Attract-and-Kill Efficiency Jaggery/molasses attracts pestsIncreases contact with neemLeads to higher pest mortality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Reduced Spray Frequency Due </a:t>
            </a:r>
            <a:r>
              <a:rPr lang="en-US" sz="2000" dirty="0" err="1"/>
              <a:t>to:UV</a:t>
            </a:r>
            <a:r>
              <a:rPr lang="en-US" sz="2000"/>
              <a:t> protection slow </a:t>
            </a:r>
            <a:r>
              <a:rPr lang="en-US" sz="2000" dirty="0"/>
              <a:t>release Farmers need fewer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Better Leaf Coverage Soap/emulsifier improves:SpreadingAdhesionEnsures uniform coating on leaves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Rainfast</a:t>
            </a:r>
            <a:r>
              <a:rPr lang="en-US" sz="2000" dirty="0"/>
              <a:t> Property Additives like gum/aloe/starch help formulation stick to leaves Reduces loss due to rain or irrigation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65578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3D0-3DF0-7ECF-B919-3181A623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7DAFA-846F-22FD-7D37-86AC92D4D04A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0E7065-A2F3-114C-A506-2F7D3D58FB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24A685-8763-CC9F-B97B-7A643D292F4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953918-DE76-B31A-45C5-32F5E6F3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4142-13AA-4D01-9CC5-D9549F251D0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6F7641-A776-5907-92A0-8FF397A9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 &amp; Department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C42859-249F-6E68-DAC3-FE5450AF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10</a:t>
            </a:fld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F1DC1B-B7DA-E46B-0F15-68E8301CD37A}"/>
              </a:ext>
            </a:extLst>
          </p:cNvPr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506ACD-5F34-D2A0-84A4-24CF7A3B8D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sp>
          <p:nvSpPr>
            <p:cNvPr id="14" name="Footer Placeholder 9">
              <a:extLst>
                <a:ext uri="{FF2B5EF4-FFF2-40B4-BE49-F238E27FC236}">
                  <a16:creationId xmlns:a16="http://schemas.microsoft.com/office/drawing/2014/main" id="{5382B7E9-4536-C40E-A4E8-03320B8F4626}"/>
                </a:ext>
              </a:extLst>
            </p:cNvPr>
            <p:cNvSpPr txBox="1">
              <a:spLocks/>
            </p:cNvSpPr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</a:rPr>
                <a:t>Title of Idea</a:t>
              </a:r>
              <a:endParaRPr lang="en-IN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B601402-1B58-5112-4833-92A4EE5A097D}"/>
                </a:ext>
              </a:extLst>
            </p:cNvPr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6" name="Google Shape;59;p15">
                <a:extLst>
                  <a:ext uri="{FF2B5EF4-FFF2-40B4-BE49-F238E27FC236}">
                    <a16:creationId xmlns:a16="http://schemas.microsoft.com/office/drawing/2014/main" id="{39A0B30E-4AC5-482C-9FF3-AC3E24DD34F5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60;p15">
                <a:extLst>
                  <a:ext uri="{FF2B5EF4-FFF2-40B4-BE49-F238E27FC236}">
                    <a16:creationId xmlns:a16="http://schemas.microsoft.com/office/drawing/2014/main" id="{5D713B63-A845-C255-5FCE-FA410A6E5820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66" y="209068"/>
            <a:ext cx="1136330" cy="36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910741-5A14-BD8D-CB07-51916555BA23}"/>
              </a:ext>
            </a:extLst>
          </p:cNvPr>
          <p:cNvSpPr txBox="1"/>
          <p:nvPr/>
        </p:nvSpPr>
        <p:spPr>
          <a:xfrm>
            <a:off x="713433" y="1014884"/>
            <a:ext cx="1018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BENEFITS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5BA4D-8777-962B-3DFF-B3D36CB79BD9}"/>
              </a:ext>
            </a:extLst>
          </p:cNvPr>
          <p:cNvSpPr txBox="1"/>
          <p:nvPr/>
        </p:nvSpPr>
        <p:spPr>
          <a:xfrm flipH="1">
            <a:off x="713432" y="1455576"/>
            <a:ext cx="104711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Shelf-Life Enhancement Vitamin C (ascorbic acid) prevents oxidationImproves storage stability (6–12 months)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Farmer-Friendly Usage Pre-measured sachet:1 sachet = 15 L waterColor indicator ensures : Correct dilution less misuse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Cost-Effective in Long Run Slightly higher initial costBUT:Fewer </a:t>
            </a:r>
            <a:r>
              <a:rPr lang="en-US" sz="2400" dirty="0" err="1"/>
              <a:t>spraysBetter</a:t>
            </a:r>
            <a:r>
              <a:rPr lang="en-US" sz="2400" dirty="0"/>
              <a:t> efficiency Overall cost saving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Reduced Pest Resistance Neem works </a:t>
            </a:r>
            <a:r>
              <a:rPr lang="en-US" sz="2400" dirty="0" err="1"/>
              <a:t>by:Anti-feedantGrowth</a:t>
            </a:r>
            <a:r>
              <a:rPr lang="en-US" sz="2400" dirty="0"/>
              <a:t> regulator Pests cannot easily develop resistance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Multi-Functional Action Acts as:RepellentFeeding </a:t>
            </a:r>
            <a:r>
              <a:rPr lang="en-US" sz="2400" dirty="0" err="1"/>
              <a:t>inhibitorGrowth</a:t>
            </a:r>
            <a:r>
              <a:rPr lang="en-US" sz="2400" dirty="0"/>
              <a:t> disruptor Provides broad-spectrum pest control.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9905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DBD6-546A-3777-99F8-18843D6A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WhatsApp Video 2026-05-05 at 9.52.18 AM">
            <a:hlinkClick r:id="" action="ppaction://media"/>
            <a:extLst>
              <a:ext uri="{FF2B5EF4-FFF2-40B4-BE49-F238E27FC236}">
                <a16:creationId xmlns:a16="http://schemas.microsoft.com/office/drawing/2014/main" id="{E243AF58-8A2A-128F-E975-F99B13C7296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198"/>
            <a:ext cx="12192000" cy="685180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46BD9-81B3-446E-A2B8-A1515CFC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F8D-38DE-44ED-8E8F-F4480F209472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8BF7-27BB-625D-5FEB-B4D2A1A7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 of the Presenter &amp; Department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915B7-2104-DFDF-CFCB-396339F4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93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8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22A7-944B-E8BE-3E42-54DBD2B0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28F781D-E434-8188-39AD-C98FE71BF244}"/>
              </a:ext>
            </a:extLst>
          </p:cNvPr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F201AC-A431-FBAE-774F-B9E359CD954D}"/>
                </a:ext>
              </a:extLst>
            </p:cNvPr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2FFB2B-1001-4F05-9548-E8962570D21A}"/>
                </a:ext>
              </a:extLst>
            </p:cNvPr>
            <p:cNvSpPr/>
            <p:nvPr/>
          </p:nvSpPr>
          <p:spPr>
            <a:xfrm flipV="1">
              <a:off x="0" y="6347341"/>
              <a:ext cx="12192000" cy="45719"/>
            </a:xfrm>
            <a:prstGeom prst="rect">
              <a:avLst/>
            </a:prstGeom>
            <a:gradFill flip="none" rotWithShape="1">
              <a:gsLst>
                <a:gs pos="46000">
                  <a:srgbClr val="00B0F0"/>
                </a:gs>
                <a:gs pos="37740">
                  <a:srgbClr val="00B0F0"/>
                </a:gs>
                <a:gs pos="57000">
                  <a:srgbClr val="FFC000"/>
                </a:gs>
                <a:gs pos="0">
                  <a:schemeClr val="accent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342AA-8AD8-31F9-791F-B79FF9EC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ED798-B2B7-453D-A02A-83F1CBF01642}" type="slidenum">
              <a:rPr lang="en-IN" smtClean="0">
                <a:solidFill>
                  <a:schemeClr val="tx1"/>
                </a:solidFill>
              </a:rPr>
              <a:t>12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209BDFC-F87F-0AD3-0AD2-6D90EC65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1B5B-4067-417C-A62E-EE6EE02E9F51}" type="datetime1">
              <a:rPr lang="en-IN" smtClean="0">
                <a:solidFill>
                  <a:schemeClr val="tx1"/>
                </a:solidFill>
              </a:rPr>
              <a:t>05-05-2026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88F57B9-72F6-F8CD-7E20-C147544E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Name of the Presenter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56432F-B09D-FA20-7755-3F884FC63554}"/>
              </a:ext>
            </a:extLst>
          </p:cNvPr>
          <p:cNvGrpSpPr/>
          <p:nvPr/>
        </p:nvGrpSpPr>
        <p:grpSpPr>
          <a:xfrm>
            <a:off x="450775" y="170727"/>
            <a:ext cx="3551249" cy="5467038"/>
            <a:chOff x="450775" y="170727"/>
            <a:chExt cx="3551249" cy="54670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47A91F-8F23-8FAE-598F-91984EEEDECC}"/>
                </a:ext>
              </a:extLst>
            </p:cNvPr>
            <p:cNvSpPr txBox="1"/>
            <p:nvPr/>
          </p:nvSpPr>
          <p:spPr>
            <a:xfrm>
              <a:off x="838200" y="5146027"/>
              <a:ext cx="3163824" cy="491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</a:rPr>
                <a:t>Thank You..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B42C481-7049-2649-C990-123E9D6EE6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019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AF49D2F-1FD4-4CCE-B487-BBE0423B32FD}"/>
                </a:ext>
              </a:extLst>
            </p:cNvPr>
            <p:cNvGrpSpPr/>
            <p:nvPr/>
          </p:nvGrpSpPr>
          <p:grpSpPr>
            <a:xfrm>
              <a:off x="450775" y="5338110"/>
              <a:ext cx="338514" cy="212015"/>
              <a:chOff x="521095" y="429142"/>
              <a:chExt cx="463644" cy="290385"/>
            </a:xfrm>
            <a:solidFill>
              <a:srgbClr val="0DE5CB"/>
            </a:solidFill>
          </p:grpSpPr>
          <p:sp>
            <p:nvSpPr>
              <p:cNvPr id="14" name="Google Shape;59;p15">
                <a:extLst>
                  <a:ext uri="{FF2B5EF4-FFF2-40B4-BE49-F238E27FC236}">
                    <a16:creationId xmlns:a16="http://schemas.microsoft.com/office/drawing/2014/main" id="{4C7DBC1E-9F03-C501-03C4-40611332AF6C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60;p15">
                <a:extLst>
                  <a:ext uri="{FF2B5EF4-FFF2-40B4-BE49-F238E27FC236}">
                    <a16:creationId xmlns:a16="http://schemas.microsoft.com/office/drawing/2014/main" id="{43830E1C-48D8-36F4-42D1-F7CF813F028F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7494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6576</TotalTime>
  <Words>931</Words>
  <Application>Microsoft Office PowerPoint</Application>
  <PresentationFormat>Widescreen</PresentationFormat>
  <Paragraphs>189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Koppula Santhosh Kumar</dc:creator>
  <cp:lastModifiedBy>H P</cp:lastModifiedBy>
  <cp:revision>109</cp:revision>
  <dcterms:created xsi:type="dcterms:W3CDTF">2021-10-26T04:13:36Z</dcterms:created>
  <dcterms:modified xsi:type="dcterms:W3CDTF">2026-05-05T07:08:45Z</dcterms:modified>
</cp:coreProperties>
</file>